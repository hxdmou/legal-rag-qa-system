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7315200" y="0"/>
            <a:ext cx="9144000" cy="7315200"/>
          </a:xfrm>
          <a:prstGeom prst="ellipse">
            <a:avLst/>
          </a:prstGeom>
          <a:solidFill>
            <a:srgbClr val="0064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1887200" y="914400"/>
            <a:ext cx="1828800" cy="1828800"/>
          </a:xfrm>
          <a:prstGeom prst="hexagon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🤖 A2A协议企业级深度解析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00B4FF"/>
                </a:solidFill>
              </a:defRPr>
            </a:pPr>
            <a:r>
              <a:t>Agent-to-Agent通信标准与实战指南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029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FFC864"/>
                </a:solidFill>
              </a:defRPr>
            </a:pPr>
            <a:r>
              <a:t>【主讲人：何晓冬】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400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96A0B4"/>
                </a:solidFill>
              </a:defRPr>
            </a:pPr>
            <a:r>
              <a:t>版本: v2.0 | 日期: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0" y="3657600"/>
            <a:ext cx="7315200" cy="54864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0"/>
            <a:ext cx="14630400" cy="1371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2801600" y="914400"/>
            <a:ext cx="1371600" cy="1371600"/>
          </a:xfrm>
          <a:prstGeom prst="hexagon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0" y="2286000"/>
            <a:ext cx="731520" cy="7315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0096FF"/>
                </a:solidFill>
              </a:defRPr>
            </a:pPr>
            <a:r>
              <a:t>第一章：A2A协议架构与核心价值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188720"/>
          <a:ext cx="11887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3962400"/>
                <a:gridCol w="39624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业务收益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技术实现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**互操作性**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5050"/>
                          </a:solidFill>
                        </a:defRPr>
                      </a:pPr>
                      <a:r>
                        <a:t>降低集成成本60%+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标准化消息格式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**弹性扩展**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5050"/>
                          </a:solidFill>
                        </a:defRPr>
                      </a:pPr>
                      <a:r>
                        <a:t>支持百万级Agent并发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去中心化架构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**安全合规**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5050"/>
                          </a:solidFill>
                        </a:defRPr>
                      </a:pPr>
                      <a:r>
                        <a:t>通过SOC2/ISO27001认证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端到端加密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**可观测性**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全链路追踪与监控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标准化日志格式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**快速迭代**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新Agent接入时间从周级降到小时级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EBF0"/>
                          </a:solidFill>
                        </a:defRPr>
                      </a:pPr>
                      <a:r>
                        <a:t>Agent Cards机制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943600"/>
            <a:ext cx="11887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C8FF"/>
                </a:solidFill>
              </a:defRPr>
            </a:pPr>
            <a:r>
              <a:t>📚 拓展学习资源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官方文档: https://a2a-protocol.org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Linux Foundation: https://linuxfoundation.org/press-release/a2a-protocol/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0"/>
            <a:ext cx="7315200" cy="54864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0"/>
            <a:ext cx="14630400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84480" y="1371600"/>
            <a:ext cx="548640" cy="18288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533120" y="1645920"/>
            <a:ext cx="457200" cy="13716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00C896"/>
                </a:solidFill>
              </a:defRPr>
            </a:pPr>
            <a:r>
              <a:t>第二章：协议规范与技术细节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188720"/>
          <a:ext cx="11887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3962400"/>
                <a:gridCol w="3962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协议层级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主要技术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应用层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Agent Cards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技能注册与发现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消息层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JSON-RPC 2.0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异步消息传递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传输层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HTTP/2、gRPC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高效数据传输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安全层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OAuth2、mTLS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DC"/>
                          </a:solidFill>
                        </a:defRPr>
                      </a:pPr>
                      <a:r>
                        <a:t>身份认证与加密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943600"/>
            <a:ext cx="11887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C8FF"/>
                </a:solidFill>
              </a:defRPr>
            </a:pPr>
            <a:r>
              <a:t>📚 拓展学习资源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JSON-RPC 2.0规范: https://www.jsonrpc.org/specification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HTTP/2协议: https://http2.github.io/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0" y="3657600"/>
            <a:ext cx="7315200" cy="5486400"/>
          </a:xfrm>
          <a:prstGeom prst="ellipse">
            <a:avLst/>
          </a:prstGeom>
          <a:solidFill>
            <a:srgbClr val="C8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0"/>
            <a:ext cx="14630400" cy="137160"/>
          </a:xfrm>
          <a:prstGeom prst="rect">
            <a:avLst/>
          </a:prstGeom>
          <a:solidFill>
            <a:srgbClr val="C8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0" y="1371600"/>
            <a:ext cx="1097280" cy="1097280"/>
          </a:xfrm>
          <a:prstGeom prst="ellipse">
            <a:avLst/>
          </a:prstGeom>
          <a:solidFill>
            <a:srgbClr val="C8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75920" y="2560320"/>
            <a:ext cx="548640" cy="548640"/>
          </a:xfrm>
          <a:prstGeom prst="ellipse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C864C8"/>
                </a:solidFill>
              </a:defRPr>
            </a:pPr>
            <a:r>
              <a:t>第三章：安全与合规体系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188720"/>
          <a:ext cx="11887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3962400"/>
                <a:gridCol w="3962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C8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C8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C864C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Header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`{"alg":"RS256","typ":..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算法和类型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Payload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Agent ID、权限范围、过期时间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业务信息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Signature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RS256签名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DCEB"/>
                          </a:solidFill>
                        </a:defRPr>
                      </a:pPr>
                      <a:r>
                        <a:t>防止篡改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943600"/>
            <a:ext cx="11887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C8FF"/>
                </a:solidFill>
              </a:defRPr>
            </a:pPr>
            <a:r>
              <a:t>📚 拓展学习资源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OAuth 2.0规范: https://oauth.net/2/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mTLS指南: https://www.envoyproxy.io/docs/envoy/latest/security/mozilla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0"/>
            <a:ext cx="7315200" cy="5486400"/>
          </a:xfrm>
          <a:prstGeom prst="ellipse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0"/>
            <a:ext cx="14630400" cy="1371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01600" y="1097280"/>
            <a:ext cx="1371600" cy="3657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0" y="1645920"/>
            <a:ext cx="1371600" cy="3657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0" y="2194560"/>
            <a:ext cx="1371600" cy="3657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FFC832"/>
                </a:solidFill>
              </a:defRPr>
            </a:pPr>
            <a:r>
              <a:t>第四章：部署与运维实践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188720"/>
          <a:ext cx="11887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3962400"/>
                <a:gridCol w="3962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部署策略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实现方式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FFC8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多活部署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K8s StatefulSet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464"/>
                          </a:solidFill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自动扩缩容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HPA/VPA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弹性应对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健康检查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Liveness/Readiness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故障自愈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蓝绿发布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Istio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BEBDC"/>
                          </a:solidFill>
                        </a:defRPr>
                      </a:pPr>
                      <a:r>
                        <a:t>零停机升级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5943600"/>
            <a:ext cx="11887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C8FF"/>
                </a:solidFill>
              </a:defRPr>
            </a:pPr>
            <a:r>
              <a:t>📚 拓展学习资源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Kubernetes文档: https://kubernetes.io/zh-cn/docs/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Prometheus监控: https://prometheus.io/docs/introduction/overview/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0" y="3657600"/>
            <a:ext cx="7315200" cy="5486400"/>
          </a:xfrm>
          <a:prstGeom prst="ellipse">
            <a:avLst/>
          </a:prstGeom>
          <a:solidFill>
            <a:srgbClr val="96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0"/>
            <a:ext cx="14630400" cy="137160"/>
          </a:xfrm>
          <a:prstGeom prst="rect">
            <a:avLst/>
          </a:prstGeom>
          <a:solidFill>
            <a:srgbClr val="96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75920" y="1371600"/>
            <a:ext cx="731520" cy="1371600"/>
          </a:xfrm>
          <a:prstGeom prst="rect">
            <a:avLst/>
          </a:prstGeom>
          <a:solidFill>
            <a:srgbClr val="96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50240" y="1828800"/>
            <a:ext cx="457200" cy="914400"/>
          </a:xfrm>
          <a:prstGeom prst="rect">
            <a:avLst/>
          </a:prstGeom>
          <a:solidFill>
            <a:srgbClr val="96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9664FF"/>
                </a:solidFill>
              </a:defRPr>
            </a:pPr>
            <a:r>
              <a:t>第五章：性能优化策略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188720"/>
          <a:ext cx="11887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3962400"/>
                <a:gridCol w="39624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瓶颈类型</a:t>
                      </a:r>
                    </a:p>
                  </a:txBody>
                  <a:tcPr>
                    <a:solidFill>
                      <a:srgbClr val="966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表现症状</a:t>
                      </a:r>
                    </a:p>
                  </a:txBody>
                  <a:tcPr>
                    <a:solidFill>
                      <a:srgbClr val="966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根因分析</a:t>
                      </a:r>
                    </a:p>
                  </a:txBody>
                  <a:tcPr>
                    <a:solidFill>
                      <a:srgbClr val="9664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**网络延迟**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464"/>
                          </a:solidFill>
                        </a:defRPr>
                      </a:pPr>
                      <a:r>
                        <a:t>P99延迟高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跨区域通信、网络拥塞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**消息处理**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队列积压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消息处理速度慢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**资源争用**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CPU/内存飙升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并发请求过高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**数据库瓶颈**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查询慢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索引缺失、锁竞争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**序列化开销**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CPU占用高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BF0"/>
                          </a:solidFill>
                        </a:defRPr>
                      </a:pPr>
                      <a:r>
                        <a:t>JSON序列化耗时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943600"/>
            <a:ext cx="11887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C8FF"/>
                </a:solidFill>
              </a:defRPr>
            </a:pPr>
            <a:r>
              <a:t>📚 拓展学习资源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Redis缓存: https://redis.io/docs/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gRPC性能优化: https://grpc.io/docs/guides/performance/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0"/>
            <a:ext cx="7315200" cy="5486400"/>
          </a:xfrm>
          <a:prstGeom prst="ellipse">
            <a:avLst/>
          </a:prstGeom>
          <a:solidFill>
            <a:srgbClr val="FF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0"/>
            <a:ext cx="14630400" cy="137160"/>
          </a:xfrm>
          <a:prstGeom prst="rect">
            <a:avLst/>
          </a:prstGeom>
          <a:solidFill>
            <a:srgbClr val="FF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2801600" y="1188720"/>
            <a:ext cx="1188720" cy="1188720"/>
          </a:xfrm>
          <a:prstGeom prst="hexagon">
            <a:avLst/>
          </a:prstGeom>
          <a:solidFill>
            <a:srgbClr val="FF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75920" y="2560320"/>
            <a:ext cx="640080" cy="640080"/>
          </a:xfrm>
          <a:prstGeom prst="ellipse">
            <a:avLst/>
          </a:prstGeom>
          <a:solidFill>
            <a:srgbClr val="FF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FF6496"/>
                </a:solidFill>
              </a:defRPr>
            </a:pPr>
            <a:r>
              <a:t>第六章：实战案例与最佳实践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188720"/>
          <a:ext cx="11887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3962400"/>
                <a:gridCol w="3962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案例场景</a:t>
                      </a:r>
                    </a:p>
                  </a:txBody>
                  <a:tcPr>
                    <a:solidFill>
                      <a:srgbClr val="FF6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FF6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FF649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E6E1"/>
                          </a:solidFill>
                        </a:defRPr>
                      </a:pPr>
                      <a:r>
                        <a:t>供应链管理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464"/>
                          </a:solidFill>
                        </a:defRPr>
                      </a:pPr>
                      <a:r>
                        <a:t>效率提升40%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E6E1"/>
                          </a:solidFill>
                        </a:defRPr>
                      </a:pPr>
                      <a:r>
                        <a:t>多Agent协作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E6E1"/>
                          </a:solidFill>
                        </a:defRPr>
                      </a:pPr>
                      <a:r>
                        <a:t>金融风控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464"/>
                          </a:solidFill>
                        </a:defRPr>
                      </a:pPr>
                      <a:r>
                        <a:t>风险降低35%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E6E1"/>
                          </a:solidFill>
                        </a:defRPr>
                      </a:pPr>
                      <a:r>
                        <a:t>实时决策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E6E1"/>
                          </a:solidFill>
                        </a:defRPr>
                      </a:pPr>
                      <a:r>
                        <a:t>智能办公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464"/>
                          </a:solidFill>
                        </a:defRPr>
                      </a:pPr>
                      <a:r>
                        <a:t>生产力提升50%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E6E1"/>
                          </a:solidFill>
                        </a:defRPr>
                      </a:pPr>
                      <a:r>
                        <a:t>自动化流程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E6E1"/>
                          </a:solidFill>
                        </a:defRPr>
                      </a:pPr>
                      <a:r>
                        <a:t>医疗诊断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464"/>
                          </a:solidFill>
                        </a:defRPr>
                      </a:pPr>
                      <a:r>
                        <a:t>准确率提升25%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0E6E1"/>
                          </a:solidFill>
                        </a:defRPr>
                      </a:pPr>
                      <a:r>
                        <a:t>专业知识整合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943600"/>
            <a:ext cx="11887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C8FF"/>
                </a:solidFill>
              </a:defRPr>
            </a:pPr>
            <a:r>
              <a:t>📚 拓展学习资源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供应链案例: https://www.supplychaindive.com/</a:t>
            </a:r>
          </a:p>
          <a:p>
            <a:pPr>
              <a:defRPr sz="900">
                <a:solidFill>
                  <a:srgbClr val="B4BEC8"/>
                </a:solidFill>
              </a:defRPr>
            </a:pPr>
            <a:r>
              <a:t>金融风控案例: https://www.fintechnexus.com/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863840"/>
            <a:ext cx="14630400" cy="137160"/>
          </a:xfrm>
          <a:prstGeom prst="rect">
            <a:avLst/>
          </a:prstGeom>
          <a:solidFill>
            <a:srgbClr val="00B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0"/>
            <a:ext cx="8229600" cy="8229600"/>
          </a:xfrm>
          <a:prstGeom prst="ellipse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🎯 核心要点总结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12801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  <a:gridCol w="42672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核心内容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关键价值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第一章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去中心化Agent协作架构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高可用、弹性扩展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JSON-RPC 2.0协议规范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跨平台互操作性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第三章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OAuth2 + mTLS安全体系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企业级安全保障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K8s高可用部署实践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99.99%可用性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第五章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缓存+批量性能优化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性能提升3倍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供应链+金融风控案例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E1EB"/>
                          </a:solidFill>
                        </a:defRPr>
                      </a:pPr>
                      <a:r>
                        <a:t>业务价值验证</a:t>
                      </a:r>
                    </a:p>
                  </a:txBody>
                  <a:tcPr>
                    <a:solidFill>
                      <a:srgbClr val="1E23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4572000" y="914400"/>
            <a:ext cx="5486400" cy="5486400"/>
          </a:xfrm>
          <a:prstGeom prst="ellipse">
            <a:avLst/>
          </a:prstGeom>
          <a:solidFill>
            <a:srgbClr val="0064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6858000" y="2743200"/>
            <a:ext cx="1371600" cy="137160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3200">
                <a:solidFill>
                  <a:srgbClr val="00B4FF"/>
                </a:solidFill>
              </a:defRPr>
            </a:pPr>
            <a: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FFC864"/>
                </a:solidFill>
              </a:defRPr>
            </a:pPr>
            <a:r>
              <a:t>【主讲人：何晓冬】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