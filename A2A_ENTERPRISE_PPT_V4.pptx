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Oval 2"/>
          <p:cNvSpPr/>
          <p:nvPr/>
        </p:nvSpPr>
        <p:spPr>
          <a:xfrm>
            <a:off x="5486400" y="-2743200"/>
            <a:ext cx="12801600" cy="10972800"/>
          </a:xfrm>
          <a:prstGeom prst="ellipse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exagon 3"/>
          <p:cNvSpPr/>
          <p:nvPr/>
        </p:nvSpPr>
        <p:spPr>
          <a:xfrm>
            <a:off x="11887200" y="457200"/>
            <a:ext cx="2286000" cy="2286000"/>
          </a:xfrm>
          <a:prstGeom prst="hexagon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2801600" y="2286000"/>
            <a:ext cx="914400" cy="914400"/>
          </a:xfrm>
          <a:prstGeom prst="ellipse">
            <a:avLst/>
          </a:prstGeom>
          <a:solidFill>
            <a:srgbClr val="64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5029200"/>
            <a:ext cx="1371600" cy="1234440"/>
          </a:xfrm>
          <a:prstGeom prst="round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00100" y="5372100"/>
            <a:ext cx="205740" cy="2057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80160" y="5372100"/>
            <a:ext cx="205740" cy="2057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51535" y="5423535"/>
            <a:ext cx="102870" cy="10287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31595" y="5423535"/>
            <a:ext cx="102870" cy="10287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37260" y="5852160"/>
            <a:ext cx="411480" cy="109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1828800"/>
            <a:ext cx="10972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A2A协议与AI智能体：技术、趋势、人才与大模型生态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38404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000">
                <a:solidFill>
                  <a:srgbClr val="00C8FF"/>
                </a:solidFill>
              </a:defRPr>
            </a:pPr>
            <a:r>
              <a:t>协议架构 · 安全合规 · 部署运维 · 大模型趋势 · 蚌埠实践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50292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000" b="1">
                <a:solidFill>
                  <a:srgbClr val="FFC864"/>
                </a:solidFill>
              </a:defRPr>
            </a:pPr>
            <a:r>
              <a:t>【主讲人：何晓冬】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64008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400">
                <a:solidFill>
                  <a:srgbClr val="96AABE"/>
                </a:solidFill>
              </a:defRPr>
            </a:pPr>
            <a:r>
              <a:t>版本: v3.1 | 日期: 2026年5月 | © 2026 何晓冬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7680960"/>
            <a:ext cx="1371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900">
                <a:solidFill>
                  <a:srgbClr val="788CA0"/>
                </a:solidFill>
              </a:defRPr>
            </a:pPr>
            <a:r>
              <a:t>Copyright © 2026 何晓冬. All Rights Reserved.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Oval 2"/>
          <p:cNvSpPr/>
          <p:nvPr/>
        </p:nvSpPr>
        <p:spPr>
          <a:xfrm>
            <a:off x="9144000" y="-1828800"/>
            <a:ext cx="10972800" cy="9144000"/>
          </a:xfrm>
          <a:prstGeom prst="ellipse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 rot="20700000">
            <a:off x="1371600" y="16459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© 何晓冬 | A2A协议深度解析</a:t>
            </a:r>
          </a:p>
        </p:txBody>
      </p:sp>
      <p:sp>
        <p:nvSpPr>
          <p:cNvPr id="6" name="TextBox 5"/>
          <p:cNvSpPr txBox="1"/>
          <p:nvPr/>
        </p:nvSpPr>
        <p:spPr>
          <a:xfrm rot="20700000">
            <a:off x="1371600" y="34747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© 何晓冬 | A2A协议深度解析</a:t>
            </a:r>
          </a:p>
        </p:txBody>
      </p:sp>
      <p:sp>
        <p:nvSpPr>
          <p:cNvPr id="7" name="TextBox 6"/>
          <p:cNvSpPr txBox="1"/>
          <p:nvPr/>
        </p:nvSpPr>
        <p:spPr>
          <a:xfrm rot="20700000">
            <a:off x="1371600" y="53035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© 何晓冬 | A2A协议深度解析</a:t>
            </a:r>
          </a:p>
        </p:txBody>
      </p:sp>
      <p:sp>
        <p:nvSpPr>
          <p:cNvPr id="8" name="TextBox 7"/>
          <p:cNvSpPr txBox="1"/>
          <p:nvPr/>
        </p:nvSpPr>
        <p:spPr>
          <a:xfrm rot="20700000">
            <a:off x="1371600" y="71323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© 何晓冬 | A2A协议深度解析</a:t>
            </a:r>
          </a:p>
        </p:txBody>
      </p:sp>
      <p:sp>
        <p:nvSpPr>
          <p:cNvPr id="9" name="TextBox 8"/>
          <p:cNvSpPr txBox="1"/>
          <p:nvPr/>
        </p:nvSpPr>
        <p:spPr>
          <a:xfrm rot="20700000">
            <a:off x="5943600" y="16459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© 何晓冬 | A2A协议深度解析</a:t>
            </a:r>
          </a:p>
        </p:txBody>
      </p:sp>
      <p:sp>
        <p:nvSpPr>
          <p:cNvPr id="10" name="TextBox 9"/>
          <p:cNvSpPr txBox="1"/>
          <p:nvPr/>
        </p:nvSpPr>
        <p:spPr>
          <a:xfrm rot="20700000">
            <a:off x="5943600" y="34747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© 何晓冬 | A2A协议深度解析</a:t>
            </a:r>
          </a:p>
        </p:txBody>
      </p:sp>
      <p:sp>
        <p:nvSpPr>
          <p:cNvPr id="11" name="TextBox 10"/>
          <p:cNvSpPr txBox="1"/>
          <p:nvPr/>
        </p:nvSpPr>
        <p:spPr>
          <a:xfrm rot="20700000">
            <a:off x="5943600" y="53035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© 何晓冬 | A2A协议深度解析</a:t>
            </a:r>
          </a:p>
        </p:txBody>
      </p:sp>
      <p:sp>
        <p:nvSpPr>
          <p:cNvPr id="12" name="TextBox 11"/>
          <p:cNvSpPr txBox="1"/>
          <p:nvPr/>
        </p:nvSpPr>
        <p:spPr>
          <a:xfrm rot="20700000">
            <a:off x="5943600" y="71323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© 何晓冬 | A2A协议深度解析</a:t>
            </a:r>
          </a:p>
        </p:txBody>
      </p:sp>
      <p:sp>
        <p:nvSpPr>
          <p:cNvPr id="13" name="TextBox 12"/>
          <p:cNvSpPr txBox="1"/>
          <p:nvPr/>
        </p:nvSpPr>
        <p:spPr>
          <a:xfrm rot="20700000">
            <a:off x="10515600" y="16459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© 何晓冬 | A2A协议深度解析</a:t>
            </a:r>
          </a:p>
        </p:txBody>
      </p:sp>
      <p:sp>
        <p:nvSpPr>
          <p:cNvPr id="14" name="TextBox 13"/>
          <p:cNvSpPr txBox="1"/>
          <p:nvPr/>
        </p:nvSpPr>
        <p:spPr>
          <a:xfrm rot="20700000">
            <a:off x="10515600" y="34747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© 何晓冬 | A2A协议深度解析</a:t>
            </a:r>
          </a:p>
        </p:txBody>
      </p:sp>
      <p:sp>
        <p:nvSpPr>
          <p:cNvPr id="15" name="TextBox 14"/>
          <p:cNvSpPr txBox="1"/>
          <p:nvPr/>
        </p:nvSpPr>
        <p:spPr>
          <a:xfrm rot="20700000">
            <a:off x="10515600" y="53035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© 何晓冬 | A2A协议深度解析</a:t>
            </a:r>
          </a:p>
        </p:txBody>
      </p:sp>
      <p:sp>
        <p:nvSpPr>
          <p:cNvPr id="16" name="TextBox 15"/>
          <p:cNvSpPr txBox="1"/>
          <p:nvPr/>
        </p:nvSpPr>
        <p:spPr>
          <a:xfrm rot="20700000">
            <a:off x="10515600" y="71323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© 何晓冬 | A2A协议深度解析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344400" y="914400"/>
            <a:ext cx="1828800" cy="1645920"/>
          </a:xfrm>
          <a:prstGeom prst="round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0" y="1371600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3441680" y="1371600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2870180" y="1440180"/>
            <a:ext cx="137160" cy="13716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510260" y="1440180"/>
            <a:ext cx="137160" cy="13716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2984480" y="2011680"/>
            <a:ext cx="548640" cy="1463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2801600" y="2926080"/>
            <a:ext cx="1097280" cy="1097280"/>
          </a:xfrm>
          <a:prstGeom prst="ellipse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Hexagon 23"/>
          <p:cNvSpPr/>
          <p:nvPr/>
        </p:nvSpPr>
        <p:spPr>
          <a:xfrm>
            <a:off x="12984480" y="4114800"/>
            <a:ext cx="731520" cy="731520"/>
          </a:xfrm>
          <a:prstGeom prst="hexagon">
            <a:avLst/>
          </a:prstGeom>
          <a:solidFill>
            <a:srgbClr val="32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200" b="1">
                <a:solidFill>
                  <a:srgbClr val="00B4FF"/>
                </a:solidFill>
              </a:defRPr>
            </a:pPr>
            <a:r>
              <a:t>第一章：A2A协议架构与核心价值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9144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100">
                <a:solidFill>
                  <a:srgbClr val="E6F0FA"/>
                </a:solidFill>
              </a:defRPr>
            </a:pPr>
            <a:r>
              <a:t>A2A协议是下一代Agent-to-Agent通信标准，实现异构AI Agent之间的无缝协作，打破平台壁垒，构建开放的AI生态系统。其核心价值包括互操作性、弹性扩展、安全合规和智能协作能力。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365760" y="1828800"/>
          <a:ext cx="1353312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11040"/>
                <a:gridCol w="4511040"/>
                <a:gridCol w="4511040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价值维度</a:t>
                      </a:r>
                    </a:p>
                  </a:txBody>
                  <a:tcPr>
                    <a:solidFill>
                      <a:srgbClr val="00B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业务收益</a:t>
                      </a:r>
                    </a:p>
                  </a:txBody>
                  <a:tcPr>
                    <a:solidFill>
                      <a:srgbClr val="00B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技术实现</a:t>
                      </a:r>
                    </a:p>
                  </a:txBody>
                  <a:tcPr>
                    <a:solidFill>
                      <a:srgbClr val="00B4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F0FA"/>
                          </a:solidFill>
                        </a:defRPr>
                      </a:pPr>
                      <a:r>
                        <a:t>----------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F0FA"/>
                          </a:solidFill>
                        </a:defRPr>
                      </a:pPr>
                      <a:r>
                        <a:t>----------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F0FA"/>
                          </a:solidFill>
                        </a:defRPr>
                      </a:pPr>
                      <a:r>
                        <a:t>----------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F0FA"/>
                          </a:solidFill>
                        </a:defRPr>
                      </a:pPr>
                      <a:r>
                        <a:t>**互操作性**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5050"/>
                          </a:solidFill>
                        </a:defRPr>
                      </a:pPr>
                      <a:r>
                        <a:t>降低集成成本60%+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F0FA"/>
                          </a:solidFill>
                        </a:defRPr>
                      </a:pPr>
                      <a:r>
                        <a:t>标准化消息格式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F0FA"/>
                          </a:solidFill>
                        </a:defRPr>
                      </a:pPr>
                      <a:r>
                        <a:t>**弹性扩展**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5050"/>
                          </a:solidFill>
                        </a:defRPr>
                      </a:pPr>
                      <a:r>
                        <a:t>支持百万级Agent并发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F0FA"/>
                          </a:solidFill>
                        </a:defRPr>
                      </a:pPr>
                      <a:r>
                        <a:t>去中心化架构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F0FA"/>
                          </a:solidFill>
                        </a:defRPr>
                      </a:pPr>
                      <a:r>
                        <a:t>**安全合规**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5050"/>
                          </a:solidFill>
                        </a:defRPr>
                      </a:pPr>
                      <a:r>
                        <a:t>通过SOC2/ISO27001认证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F0FA"/>
                          </a:solidFill>
                        </a:defRPr>
                      </a:pPr>
                      <a:r>
                        <a:t>端到端加密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F0FA"/>
                          </a:solidFill>
                        </a:defRPr>
                      </a:pPr>
                      <a:r>
                        <a:t>**可观测性**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F0FA"/>
                          </a:solidFill>
                        </a:defRPr>
                      </a:pPr>
                      <a:r>
                        <a:t>全链路追踪与监控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F0FA"/>
                          </a:solidFill>
                        </a:defRPr>
                      </a:pPr>
                      <a:r>
                        <a:t>标准化日志格式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F0FA"/>
                          </a:solidFill>
                        </a:defRPr>
                      </a:pPr>
                      <a:r>
                        <a:t>**快速迭代**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F0FA"/>
                          </a:solidFill>
                        </a:defRPr>
                      </a:pPr>
                      <a:r>
                        <a:t>新Agent接入时间从周级降到小时级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F0FA"/>
                          </a:solidFill>
                        </a:defRPr>
                      </a:pPr>
                      <a:r>
                        <a:t>Agent Cards机制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</a:tbl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640080" y="5943600"/>
            <a:ext cx="12801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100" b="1">
                <a:solidFill>
                  <a:srgbClr val="64DCFF"/>
                </a:solidFill>
              </a:defRPr>
            </a:pPr>
            <a:r>
              <a:t>📚 拓展学习资源</a:t>
            </a:r>
          </a:p>
          <a:p>
            <a:pPr>
              <a:defRPr sz="800">
                <a:solidFill>
                  <a:srgbClr val="AAB9C8"/>
                </a:solidFill>
              </a:defRPr>
            </a:pPr>
            <a:r>
              <a:t>官方文档: https://a2a-protocol.org</a:t>
            </a:r>
          </a:p>
          <a:p>
            <a:pPr>
              <a:defRPr sz="800">
                <a:solidFill>
                  <a:srgbClr val="AAB9C8"/>
                </a:solidFill>
              </a:defRPr>
            </a:pPr>
            <a:r>
              <a:t>Linux Foundation: https://linuxfoundation.org/press-release/a2a-protocol/</a:t>
            </a:r>
          </a:p>
          <a:p>
            <a:pPr>
              <a:defRPr sz="800">
                <a:solidFill>
                  <a:srgbClr val="AAB9C8"/>
                </a:solidFill>
              </a:defRPr>
            </a:pPr>
            <a:r>
              <a:t>DeepLearning.AI课程: https://www.deeplearning.ai/courses/intro-to-a2a-protocol/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7680960"/>
            <a:ext cx="1371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900">
                <a:solidFill>
                  <a:srgbClr val="788CA0"/>
                </a:solidFill>
              </a:defRPr>
            </a:pPr>
            <a:r>
              <a:t>Copyright © 2026 何晓冬. All Rights Reserved.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Oval 2"/>
          <p:cNvSpPr/>
          <p:nvPr/>
        </p:nvSpPr>
        <p:spPr>
          <a:xfrm>
            <a:off x="9144000" y="-1828800"/>
            <a:ext cx="10972800" cy="9144000"/>
          </a:xfrm>
          <a:prstGeom prst="ellipse">
            <a:avLst/>
          </a:prstGeom>
          <a:solidFill>
            <a:srgbClr val="00D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00D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 rot="20700000">
            <a:off x="1371600" y="16459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© 何晓冬 | A2A协议深度解析</a:t>
            </a:r>
          </a:p>
        </p:txBody>
      </p:sp>
      <p:sp>
        <p:nvSpPr>
          <p:cNvPr id="6" name="TextBox 5"/>
          <p:cNvSpPr txBox="1"/>
          <p:nvPr/>
        </p:nvSpPr>
        <p:spPr>
          <a:xfrm rot="20700000">
            <a:off x="1371600" y="34747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© 何晓冬 | A2A协议深度解析</a:t>
            </a:r>
          </a:p>
        </p:txBody>
      </p:sp>
      <p:sp>
        <p:nvSpPr>
          <p:cNvPr id="7" name="TextBox 6"/>
          <p:cNvSpPr txBox="1"/>
          <p:nvPr/>
        </p:nvSpPr>
        <p:spPr>
          <a:xfrm rot="20700000">
            <a:off x="1371600" y="53035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© 何晓冬 | A2A协议深度解析</a:t>
            </a:r>
          </a:p>
        </p:txBody>
      </p:sp>
      <p:sp>
        <p:nvSpPr>
          <p:cNvPr id="8" name="TextBox 7"/>
          <p:cNvSpPr txBox="1"/>
          <p:nvPr/>
        </p:nvSpPr>
        <p:spPr>
          <a:xfrm rot="20700000">
            <a:off x="1371600" y="71323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© 何晓冬 | A2A协议深度解析</a:t>
            </a:r>
          </a:p>
        </p:txBody>
      </p:sp>
      <p:sp>
        <p:nvSpPr>
          <p:cNvPr id="9" name="TextBox 8"/>
          <p:cNvSpPr txBox="1"/>
          <p:nvPr/>
        </p:nvSpPr>
        <p:spPr>
          <a:xfrm rot="20700000">
            <a:off x="5943600" y="16459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© 何晓冬 | A2A协议深度解析</a:t>
            </a:r>
          </a:p>
        </p:txBody>
      </p:sp>
      <p:sp>
        <p:nvSpPr>
          <p:cNvPr id="10" name="TextBox 9"/>
          <p:cNvSpPr txBox="1"/>
          <p:nvPr/>
        </p:nvSpPr>
        <p:spPr>
          <a:xfrm rot="20700000">
            <a:off x="5943600" y="34747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© 何晓冬 | A2A协议深度解析</a:t>
            </a:r>
          </a:p>
        </p:txBody>
      </p:sp>
      <p:sp>
        <p:nvSpPr>
          <p:cNvPr id="11" name="TextBox 10"/>
          <p:cNvSpPr txBox="1"/>
          <p:nvPr/>
        </p:nvSpPr>
        <p:spPr>
          <a:xfrm rot="20700000">
            <a:off x="5943600" y="53035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© 何晓冬 | A2A协议深度解析</a:t>
            </a:r>
          </a:p>
        </p:txBody>
      </p:sp>
      <p:sp>
        <p:nvSpPr>
          <p:cNvPr id="12" name="TextBox 11"/>
          <p:cNvSpPr txBox="1"/>
          <p:nvPr/>
        </p:nvSpPr>
        <p:spPr>
          <a:xfrm rot="20700000">
            <a:off x="5943600" y="71323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© 何晓冬 | A2A协议深度解析</a:t>
            </a:r>
          </a:p>
        </p:txBody>
      </p:sp>
      <p:sp>
        <p:nvSpPr>
          <p:cNvPr id="13" name="TextBox 12"/>
          <p:cNvSpPr txBox="1"/>
          <p:nvPr/>
        </p:nvSpPr>
        <p:spPr>
          <a:xfrm rot="20700000">
            <a:off x="10515600" y="16459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© 何晓冬 | A2A协议深度解析</a:t>
            </a:r>
          </a:p>
        </p:txBody>
      </p:sp>
      <p:sp>
        <p:nvSpPr>
          <p:cNvPr id="14" name="TextBox 13"/>
          <p:cNvSpPr txBox="1"/>
          <p:nvPr/>
        </p:nvSpPr>
        <p:spPr>
          <a:xfrm rot="20700000">
            <a:off x="10515600" y="34747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© 何晓冬 | A2A协议深度解析</a:t>
            </a:r>
          </a:p>
        </p:txBody>
      </p:sp>
      <p:sp>
        <p:nvSpPr>
          <p:cNvPr id="15" name="TextBox 14"/>
          <p:cNvSpPr txBox="1"/>
          <p:nvPr/>
        </p:nvSpPr>
        <p:spPr>
          <a:xfrm rot="20700000">
            <a:off x="10515600" y="53035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© 何晓冬 | A2A协议深度解析</a:t>
            </a:r>
          </a:p>
        </p:txBody>
      </p:sp>
      <p:sp>
        <p:nvSpPr>
          <p:cNvPr id="16" name="TextBox 15"/>
          <p:cNvSpPr txBox="1"/>
          <p:nvPr/>
        </p:nvSpPr>
        <p:spPr>
          <a:xfrm rot="20700000">
            <a:off x="10515600" y="71323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© 何晓冬 | A2A协议深度解析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618720" y="914400"/>
            <a:ext cx="914400" cy="365760"/>
          </a:xfrm>
          <a:prstGeom prst="rect">
            <a:avLst/>
          </a:prstGeom>
          <a:solidFill>
            <a:srgbClr val="00D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2893040" y="1371600"/>
            <a:ext cx="914400" cy="365760"/>
          </a:xfrm>
          <a:prstGeom prst="rect">
            <a:avLst/>
          </a:prstGeom>
          <a:solidFill>
            <a:srgbClr val="00D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3167360" y="1828800"/>
            <a:ext cx="914400" cy="365760"/>
          </a:xfrm>
          <a:prstGeom prst="rect">
            <a:avLst/>
          </a:prstGeom>
          <a:solidFill>
            <a:srgbClr val="00D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3441680" y="2286000"/>
            <a:ext cx="914400" cy="365760"/>
          </a:xfrm>
          <a:prstGeom prst="rect">
            <a:avLst/>
          </a:prstGeom>
          <a:solidFill>
            <a:srgbClr val="00D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Up Arrow 20"/>
          <p:cNvSpPr/>
          <p:nvPr/>
        </p:nvSpPr>
        <p:spPr>
          <a:xfrm>
            <a:off x="13075920" y="3200400"/>
            <a:ext cx="731520" cy="731520"/>
          </a:xfrm>
          <a:prstGeom prst="upArrow">
            <a:avLst/>
          </a:prstGeom>
          <a:solidFill>
            <a:srgbClr val="1E9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200" b="1">
                <a:solidFill>
                  <a:srgbClr val="00DCB4"/>
                </a:solidFill>
              </a:defRPr>
            </a:pPr>
            <a:r>
              <a:t>第二章：协议规范与技术细节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9144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100">
                <a:solidFill>
                  <a:srgbClr val="DCF0E6"/>
                </a:solidFill>
              </a:defRPr>
            </a:pPr>
            <a:r>
              <a:t>协议规范定义了Agent间通信的标准化消息格式和交互模式，基于JSON-RPC 2.0实现跨平台、跨语言的互操作性，支持多层级的协议栈设计。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365760" y="1828800"/>
          <a:ext cx="1353312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3680"/>
                <a:gridCol w="1503680"/>
                <a:gridCol w="1503680"/>
                <a:gridCol w="1503680"/>
                <a:gridCol w="1503680"/>
                <a:gridCol w="1503680"/>
                <a:gridCol w="1503680"/>
                <a:gridCol w="1503680"/>
                <a:gridCol w="1503680"/>
              </a:tblGrid>
              <a:tr h="295421"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协议层级</a:t>
                      </a:r>
                    </a:p>
                  </a:txBody>
                  <a:tcPr>
                    <a:solidFill>
                      <a:srgbClr val="00DC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业务价值</a:t>
                      </a:r>
                    </a:p>
                  </a:txBody>
                  <a:tcPr>
                    <a:solidFill>
                      <a:srgbClr val="00DC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技术亮点</a:t>
                      </a:r>
                    </a:p>
                  </a:txBody>
                  <a:tcPr>
                    <a:solidFill>
                      <a:srgbClr val="00DC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成功指标</a:t>
                      </a:r>
                    </a:p>
                  </a:txBody>
                  <a:tcPr>
                    <a:solidFill>
                      <a:srgbClr val="00DC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适用场景</a:t>
                      </a:r>
                    </a:p>
                  </a:txBody>
                  <a:tcPr>
                    <a:solidFill>
                      <a:srgbClr val="00DC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性能指标</a:t>
                      </a:r>
                    </a:p>
                  </a:txBody>
                  <a:tcPr>
                    <a:solidFill>
                      <a:srgbClr val="00DC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投资回报</a:t>
                      </a:r>
                    </a:p>
                  </a:txBody>
                  <a:tcPr>
                    <a:solidFill>
                      <a:srgbClr val="00DC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技术架构</a:t>
                      </a:r>
                    </a:p>
                  </a:txBody>
                  <a:tcPr>
                    <a:solidFill>
                      <a:srgbClr val="00DC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关键挑战</a:t>
                      </a:r>
                    </a:p>
                  </a:txBody>
                  <a:tcPr>
                    <a:solidFill>
                      <a:srgbClr val="00DCB4"/>
                    </a:solidFill>
                  </a:tcPr>
                </a:tc>
              </a:tr>
              <a:tr h="295421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应用层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技能发现效率提升5x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Agent Cards/ADR规范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技能发现&lt;10ms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Agent协作、技能共享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&lt;10ms响应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12个月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REST+GraphQL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技能描述标准化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295421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消息层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消息吞吐量提升10x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JSON-RPC 2.0/JSON-LD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支持10万TPS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异步通信、事件驱动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10万TPS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18个月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Kafka/Pulsar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消息顺序保证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295421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传输层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延迟降低60%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HTTP/2、gRPC、QUIC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端到端&lt;50ms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低延迟通信、实时交互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&lt;50ms延迟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12个月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gRPC+QUIC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协议协商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295421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安全层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安全合规成本降低40%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OAuth2、mTLS、JWT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零信任架构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身份认证、数据加密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零信任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24个月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PKI+OAuth2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密钥轮换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295421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发现层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服务发现效率提升8x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服务注册中心/ETCD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实时更新&lt;1s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动态服务、微服务架构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实时更新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18个月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ETCD+Consul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一致性保证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295421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事件层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实时推送延迟降低80%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WebSocket、SSE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&lt;100ms延迟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实时通知、状态同步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&lt;100ms延迟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12个月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WebSocket集群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连接管理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295421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数据层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序列化效率提升2x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Protobuf/JSON/BSON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压缩率60%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数据交换、存储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60%压缩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18个月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Protobuf+Schema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版本演进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295421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控制层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路由灵活性提升3x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gRPC/REST/gRPC-Web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弹性路由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API网关、流量控制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弹性路由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12个月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Envoy/Kong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配置复杂度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295421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编排层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工作流效率提升4x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Dapr/Knative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复杂流程编排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业务流程自动化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复杂流程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24个月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Dapr+Airflow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状态管理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295421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语义层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知识理解能力提升3x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RDF/OWL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语义推理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知识图谱、AI理解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语义理解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36个月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知识图谱引擎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推理性能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295421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Agent通信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Agent间通信效率提升3x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A2A消息格式+协议栈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通信延迟&lt;5ms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多Agent协作、消息传递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&lt;5ms延迟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12个月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A2A协议栈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消息可靠性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295428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Agent发现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Agent发现效率提升6x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服务发现+Agent注册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发现时间&lt;1s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动态Agent网络、自动发现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&lt;1s发现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18个月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Agent注册中心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注册一致性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640080" y="5943600"/>
            <a:ext cx="12801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100" b="1">
                <a:solidFill>
                  <a:srgbClr val="64DCFF"/>
                </a:solidFill>
              </a:defRPr>
            </a:pPr>
            <a:r>
              <a:t>📚 拓展学习资源</a:t>
            </a:r>
          </a:p>
          <a:p>
            <a:pPr>
              <a:defRPr sz="800">
                <a:solidFill>
                  <a:srgbClr val="AAB9C8"/>
                </a:solidFill>
              </a:defRPr>
            </a:pPr>
            <a:r>
              <a:t>JSON-RPC 2.0规范: https://www.jsonrpc.org/specification</a:t>
            </a:r>
          </a:p>
          <a:p>
            <a:pPr>
              <a:defRPr sz="800">
                <a:solidFill>
                  <a:srgbClr val="AAB9C8"/>
                </a:solidFill>
              </a:defRPr>
            </a:pPr>
            <a:r>
              <a:t>HTTP/2协议: https://http2.github.io/</a:t>
            </a:r>
          </a:p>
          <a:p>
            <a:pPr>
              <a:defRPr sz="800">
                <a:solidFill>
                  <a:srgbClr val="AAB9C8"/>
                </a:solidFill>
              </a:defRPr>
            </a:pPr>
            <a:r>
              <a:t>gRPC官方文档: https://grpc.io/docs/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7680960"/>
            <a:ext cx="1371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900">
                <a:solidFill>
                  <a:srgbClr val="788CA0"/>
                </a:solidFill>
              </a:defRPr>
            </a:pPr>
            <a:r>
              <a:t>Copyright © 2026 何晓冬. All Rights Reserved.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Oval 2"/>
          <p:cNvSpPr/>
          <p:nvPr/>
        </p:nvSpPr>
        <p:spPr>
          <a:xfrm>
            <a:off x="9144000" y="-1828800"/>
            <a:ext cx="10972800" cy="9144000"/>
          </a:xfrm>
          <a:prstGeom prst="ellipse">
            <a:avLst/>
          </a:prstGeom>
          <a:solidFill>
            <a:srgbClr val="DC6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DC6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 rot="20700000">
            <a:off x="1371600" y="16459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© 何晓冬 | A2A协议深度解析</a:t>
            </a:r>
          </a:p>
        </p:txBody>
      </p:sp>
      <p:sp>
        <p:nvSpPr>
          <p:cNvPr id="6" name="TextBox 5"/>
          <p:cNvSpPr txBox="1"/>
          <p:nvPr/>
        </p:nvSpPr>
        <p:spPr>
          <a:xfrm rot="20700000">
            <a:off x="1371600" y="34747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© 何晓冬 | A2A协议深度解析</a:t>
            </a:r>
          </a:p>
        </p:txBody>
      </p:sp>
      <p:sp>
        <p:nvSpPr>
          <p:cNvPr id="7" name="TextBox 6"/>
          <p:cNvSpPr txBox="1"/>
          <p:nvPr/>
        </p:nvSpPr>
        <p:spPr>
          <a:xfrm rot="20700000">
            <a:off x="1371600" y="53035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© 何晓冬 | A2A协议深度解析</a:t>
            </a:r>
          </a:p>
        </p:txBody>
      </p:sp>
      <p:sp>
        <p:nvSpPr>
          <p:cNvPr id="8" name="TextBox 7"/>
          <p:cNvSpPr txBox="1"/>
          <p:nvPr/>
        </p:nvSpPr>
        <p:spPr>
          <a:xfrm rot="20700000">
            <a:off x="1371600" y="71323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© 何晓冬 | A2A协议深度解析</a:t>
            </a:r>
          </a:p>
        </p:txBody>
      </p:sp>
      <p:sp>
        <p:nvSpPr>
          <p:cNvPr id="9" name="TextBox 8"/>
          <p:cNvSpPr txBox="1"/>
          <p:nvPr/>
        </p:nvSpPr>
        <p:spPr>
          <a:xfrm rot="20700000">
            <a:off x="5943600" y="16459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© 何晓冬 | A2A协议深度解析</a:t>
            </a:r>
          </a:p>
        </p:txBody>
      </p:sp>
      <p:sp>
        <p:nvSpPr>
          <p:cNvPr id="10" name="TextBox 9"/>
          <p:cNvSpPr txBox="1"/>
          <p:nvPr/>
        </p:nvSpPr>
        <p:spPr>
          <a:xfrm rot="20700000">
            <a:off x="5943600" y="34747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© 何晓冬 | A2A协议深度解析</a:t>
            </a:r>
          </a:p>
        </p:txBody>
      </p:sp>
      <p:sp>
        <p:nvSpPr>
          <p:cNvPr id="11" name="TextBox 10"/>
          <p:cNvSpPr txBox="1"/>
          <p:nvPr/>
        </p:nvSpPr>
        <p:spPr>
          <a:xfrm rot="20700000">
            <a:off x="5943600" y="53035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© 何晓冬 | A2A协议深度解析</a:t>
            </a:r>
          </a:p>
        </p:txBody>
      </p:sp>
      <p:sp>
        <p:nvSpPr>
          <p:cNvPr id="12" name="TextBox 11"/>
          <p:cNvSpPr txBox="1"/>
          <p:nvPr/>
        </p:nvSpPr>
        <p:spPr>
          <a:xfrm rot="20700000">
            <a:off x="5943600" y="71323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© 何晓冬 | A2A协议深度解析</a:t>
            </a:r>
          </a:p>
        </p:txBody>
      </p:sp>
      <p:sp>
        <p:nvSpPr>
          <p:cNvPr id="13" name="TextBox 12"/>
          <p:cNvSpPr txBox="1"/>
          <p:nvPr/>
        </p:nvSpPr>
        <p:spPr>
          <a:xfrm rot="20700000">
            <a:off x="10515600" y="16459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© 何晓冬 | A2A协议深度解析</a:t>
            </a:r>
          </a:p>
        </p:txBody>
      </p:sp>
      <p:sp>
        <p:nvSpPr>
          <p:cNvPr id="14" name="TextBox 13"/>
          <p:cNvSpPr txBox="1"/>
          <p:nvPr/>
        </p:nvSpPr>
        <p:spPr>
          <a:xfrm rot="20700000">
            <a:off x="10515600" y="34747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© 何晓冬 | A2A协议深度解析</a:t>
            </a:r>
          </a:p>
        </p:txBody>
      </p:sp>
      <p:sp>
        <p:nvSpPr>
          <p:cNvPr id="15" name="TextBox 14"/>
          <p:cNvSpPr txBox="1"/>
          <p:nvPr/>
        </p:nvSpPr>
        <p:spPr>
          <a:xfrm rot="20700000">
            <a:off x="10515600" y="53035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© 何晓冬 | A2A协议深度解析</a:t>
            </a:r>
          </a:p>
        </p:txBody>
      </p:sp>
      <p:sp>
        <p:nvSpPr>
          <p:cNvPr id="16" name="TextBox 15"/>
          <p:cNvSpPr txBox="1"/>
          <p:nvPr/>
        </p:nvSpPr>
        <p:spPr>
          <a:xfrm rot="20700000">
            <a:off x="10515600" y="71323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© 何晓冬 | A2A协议深度解析</a:t>
            </a:r>
          </a:p>
        </p:txBody>
      </p:sp>
      <p:sp>
        <p:nvSpPr>
          <p:cNvPr id="17" name="Oval 16"/>
          <p:cNvSpPr/>
          <p:nvPr/>
        </p:nvSpPr>
        <p:spPr>
          <a:xfrm>
            <a:off x="12344400" y="914400"/>
            <a:ext cx="1828800" cy="1828800"/>
          </a:xfrm>
          <a:prstGeom prst="ellipse">
            <a:avLst/>
          </a:prstGeom>
          <a:solidFill>
            <a:srgbClr val="DC6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618720" y="1188720"/>
            <a:ext cx="1280160" cy="1280160"/>
          </a:xfrm>
          <a:prstGeom prst="ellipse">
            <a:avLst/>
          </a:prstGeom>
          <a:solidFill>
            <a:srgbClr val="96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2893040" y="146304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Pentagon 19"/>
          <p:cNvSpPr/>
          <p:nvPr/>
        </p:nvSpPr>
        <p:spPr>
          <a:xfrm>
            <a:off x="12801600" y="2743200"/>
            <a:ext cx="914400" cy="1097280"/>
          </a:xfrm>
          <a:prstGeom prst="homePlate">
            <a:avLst/>
          </a:prstGeom>
          <a:solidFill>
            <a:srgbClr val="DC6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200" b="1">
                <a:solidFill>
                  <a:srgbClr val="DC64C8"/>
                </a:solidFill>
              </a:defRPr>
            </a:pPr>
            <a:r>
              <a:t>第三章：安全与合规体系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9144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100">
                <a:solidFill>
                  <a:srgbClr val="F0DCF5"/>
                </a:solidFill>
              </a:defRPr>
            </a:pPr>
            <a:r>
              <a:t>企业级安全架构包括API网关、WAF防火墙、OAuth 2.0认证、mTLS加密等多层防护，确保数据安全和合规要求，满足金融、医疗等行业的严格监管标准。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365760" y="1828800"/>
          <a:ext cx="1353312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11040"/>
                <a:gridCol w="4511040"/>
                <a:gridCol w="4511040"/>
              </a:tblGrid>
              <a:tr h="768096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部分</a:t>
                      </a:r>
                    </a:p>
                  </a:txBody>
                  <a:tcPr>
                    <a:solidFill>
                      <a:srgbClr val="DC64C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内容</a:t>
                      </a:r>
                    </a:p>
                  </a:txBody>
                  <a:tcPr>
                    <a:solidFill>
                      <a:srgbClr val="DC64C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说明</a:t>
                      </a:r>
                    </a:p>
                  </a:txBody>
                  <a:tcPr>
                    <a:solidFill>
                      <a:srgbClr val="DC64C8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0DCF5"/>
                          </a:solidFill>
                        </a:defRPr>
                      </a:pPr>
                      <a:r>
                        <a:t>------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0DCF5"/>
                          </a:solidFill>
                        </a:defRPr>
                      </a:pPr>
                      <a:r>
                        <a:t>------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0DCF5"/>
                          </a:solidFill>
                        </a:defRPr>
                      </a:pPr>
                      <a:r>
                        <a:t>------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0DCF5"/>
                          </a:solidFill>
                        </a:defRPr>
                      </a:pPr>
                      <a:r>
                        <a:t>Header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0DCF5"/>
                          </a:solidFill>
                        </a:defRPr>
                      </a:pPr>
                      <a:r>
                        <a:t>`{"alg":"RS256","typ":"JWT"}`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0DCF5"/>
                          </a:solidFill>
                        </a:defRPr>
                      </a:pPr>
                      <a:r>
                        <a:t>算法和类型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0DCF5"/>
                          </a:solidFill>
                        </a:defRPr>
                      </a:pPr>
                      <a:r>
                        <a:t>Payload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0DCF5"/>
                          </a:solidFill>
                        </a:defRPr>
                      </a:pPr>
                      <a:r>
                        <a:t>Agent ID、权限范围、过期时间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0DCF5"/>
                          </a:solidFill>
                        </a:defRPr>
                      </a:pPr>
                      <a:r>
                        <a:t>业务信息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0DCF5"/>
                          </a:solidFill>
                        </a:defRPr>
                      </a:pPr>
                      <a:r>
                        <a:t>Signature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0DCF5"/>
                          </a:solidFill>
                        </a:defRPr>
                      </a:pPr>
                      <a:r>
                        <a:t>RS256签名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0DCF5"/>
                          </a:solidFill>
                        </a:defRPr>
                      </a:pPr>
                      <a:r>
                        <a:t>防止篡改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640080" y="5943600"/>
            <a:ext cx="12801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100" b="1">
                <a:solidFill>
                  <a:srgbClr val="64DCFF"/>
                </a:solidFill>
              </a:defRPr>
            </a:pPr>
            <a:r>
              <a:t>📚 拓展学习资源</a:t>
            </a:r>
          </a:p>
          <a:p>
            <a:pPr>
              <a:defRPr sz="800">
                <a:solidFill>
                  <a:srgbClr val="AAB9C8"/>
                </a:solidFill>
              </a:defRPr>
            </a:pPr>
            <a:r>
              <a:t>OAuth 2.0规范: https://oauth.net/2/</a:t>
            </a:r>
          </a:p>
          <a:p>
            <a:pPr>
              <a:defRPr sz="800">
                <a:solidFill>
                  <a:srgbClr val="AAB9C8"/>
                </a:solidFill>
              </a:defRPr>
            </a:pPr>
            <a:r>
              <a:t>mTLS指南: https://www.envoyproxy.io/docs/envoy/latest/security/mozilla</a:t>
            </a:r>
          </a:p>
          <a:p>
            <a:pPr>
              <a:defRPr sz="800">
                <a:solidFill>
                  <a:srgbClr val="AAB9C8"/>
                </a:solidFill>
              </a:defRPr>
            </a:pPr>
            <a:r>
              <a:t>WAF配置: https://www.modsecurity.org/CRS/Documentation/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7680960"/>
            <a:ext cx="1371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900">
                <a:solidFill>
                  <a:srgbClr val="788CA0"/>
                </a:solidFill>
              </a:defRPr>
            </a:pPr>
            <a:r>
              <a:t>Copyright © 2026 何晓冬. All Rights Reserved.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6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Oval 2"/>
          <p:cNvSpPr/>
          <p:nvPr/>
        </p:nvSpPr>
        <p:spPr>
          <a:xfrm>
            <a:off x="9144000" y="-1828800"/>
            <a:ext cx="10972800" cy="9144000"/>
          </a:xfrm>
          <a:prstGeom prst="ellipse">
            <a:avLst/>
          </a:prstGeom>
          <a:solidFill>
            <a:srgbClr val="FFC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FFC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 rot="20700000">
            <a:off x="1371600" y="16459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© 何晓冬 | A2A协议深度解析</a:t>
            </a:r>
          </a:p>
        </p:txBody>
      </p:sp>
      <p:sp>
        <p:nvSpPr>
          <p:cNvPr id="6" name="TextBox 5"/>
          <p:cNvSpPr txBox="1"/>
          <p:nvPr/>
        </p:nvSpPr>
        <p:spPr>
          <a:xfrm rot="20700000">
            <a:off x="1371600" y="34747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© 何晓冬 | A2A协议深度解析</a:t>
            </a:r>
          </a:p>
        </p:txBody>
      </p:sp>
      <p:sp>
        <p:nvSpPr>
          <p:cNvPr id="7" name="TextBox 6"/>
          <p:cNvSpPr txBox="1"/>
          <p:nvPr/>
        </p:nvSpPr>
        <p:spPr>
          <a:xfrm rot="20700000">
            <a:off x="1371600" y="53035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© 何晓冬 | A2A协议深度解析</a:t>
            </a:r>
          </a:p>
        </p:txBody>
      </p:sp>
      <p:sp>
        <p:nvSpPr>
          <p:cNvPr id="8" name="TextBox 7"/>
          <p:cNvSpPr txBox="1"/>
          <p:nvPr/>
        </p:nvSpPr>
        <p:spPr>
          <a:xfrm rot="20700000">
            <a:off x="1371600" y="71323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© 何晓冬 | A2A协议深度解析</a:t>
            </a:r>
          </a:p>
        </p:txBody>
      </p:sp>
      <p:sp>
        <p:nvSpPr>
          <p:cNvPr id="9" name="TextBox 8"/>
          <p:cNvSpPr txBox="1"/>
          <p:nvPr/>
        </p:nvSpPr>
        <p:spPr>
          <a:xfrm rot="20700000">
            <a:off x="5943600" y="16459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© 何晓冬 | A2A协议深度解析</a:t>
            </a:r>
          </a:p>
        </p:txBody>
      </p:sp>
      <p:sp>
        <p:nvSpPr>
          <p:cNvPr id="10" name="TextBox 9"/>
          <p:cNvSpPr txBox="1"/>
          <p:nvPr/>
        </p:nvSpPr>
        <p:spPr>
          <a:xfrm rot="20700000">
            <a:off x="5943600" y="34747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© 何晓冬 | A2A协议深度解析</a:t>
            </a:r>
          </a:p>
        </p:txBody>
      </p:sp>
      <p:sp>
        <p:nvSpPr>
          <p:cNvPr id="11" name="TextBox 10"/>
          <p:cNvSpPr txBox="1"/>
          <p:nvPr/>
        </p:nvSpPr>
        <p:spPr>
          <a:xfrm rot="20700000">
            <a:off x="5943600" y="53035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© 何晓冬 | A2A协议深度解析</a:t>
            </a:r>
          </a:p>
        </p:txBody>
      </p:sp>
      <p:sp>
        <p:nvSpPr>
          <p:cNvPr id="12" name="TextBox 11"/>
          <p:cNvSpPr txBox="1"/>
          <p:nvPr/>
        </p:nvSpPr>
        <p:spPr>
          <a:xfrm rot="20700000">
            <a:off x="5943600" y="71323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© 何晓冬 | A2A协议深度解析</a:t>
            </a:r>
          </a:p>
        </p:txBody>
      </p:sp>
      <p:sp>
        <p:nvSpPr>
          <p:cNvPr id="13" name="TextBox 12"/>
          <p:cNvSpPr txBox="1"/>
          <p:nvPr/>
        </p:nvSpPr>
        <p:spPr>
          <a:xfrm rot="20700000">
            <a:off x="10515600" y="16459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© 何晓冬 | A2A协议深度解析</a:t>
            </a:r>
          </a:p>
        </p:txBody>
      </p:sp>
      <p:sp>
        <p:nvSpPr>
          <p:cNvPr id="14" name="TextBox 13"/>
          <p:cNvSpPr txBox="1"/>
          <p:nvPr/>
        </p:nvSpPr>
        <p:spPr>
          <a:xfrm rot="20700000">
            <a:off x="10515600" y="34747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© 何晓冬 | A2A协议深度解析</a:t>
            </a:r>
          </a:p>
        </p:txBody>
      </p:sp>
      <p:sp>
        <p:nvSpPr>
          <p:cNvPr id="15" name="TextBox 14"/>
          <p:cNvSpPr txBox="1"/>
          <p:nvPr/>
        </p:nvSpPr>
        <p:spPr>
          <a:xfrm rot="20700000">
            <a:off x="10515600" y="53035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© 何晓冬 | A2A协议深度解析</a:t>
            </a:r>
          </a:p>
        </p:txBody>
      </p:sp>
      <p:sp>
        <p:nvSpPr>
          <p:cNvPr id="16" name="TextBox 15"/>
          <p:cNvSpPr txBox="1"/>
          <p:nvPr/>
        </p:nvSpPr>
        <p:spPr>
          <a:xfrm rot="20700000">
            <a:off x="10515600" y="71323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© 何晓冬 | A2A协议深度解析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344400" y="914400"/>
            <a:ext cx="1828800" cy="548640"/>
          </a:xfrm>
          <a:prstGeom prst="rect">
            <a:avLst/>
          </a:prstGeom>
          <a:solidFill>
            <a:srgbClr val="FFC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2527280" y="1188720"/>
            <a:ext cx="1463040" cy="548640"/>
          </a:xfrm>
          <a:prstGeom prst="rect">
            <a:avLst/>
          </a:prstGeom>
          <a:solidFill>
            <a:srgbClr val="FFC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2710160" y="1463040"/>
            <a:ext cx="1097280" cy="548640"/>
          </a:xfrm>
          <a:prstGeom prst="rect">
            <a:avLst/>
          </a:prstGeom>
          <a:solidFill>
            <a:srgbClr val="FFC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rapezoid 19"/>
          <p:cNvSpPr/>
          <p:nvPr/>
        </p:nvSpPr>
        <p:spPr>
          <a:xfrm>
            <a:off x="12618720" y="2286000"/>
            <a:ext cx="1371600" cy="914400"/>
          </a:xfrm>
          <a:prstGeom prst="trapezoid">
            <a:avLst/>
          </a:prstGeom>
          <a:solidFill>
            <a:srgbClr val="B4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200" b="1">
                <a:solidFill>
                  <a:srgbClr val="FFC83C"/>
                </a:solidFill>
              </a:defRPr>
            </a:pPr>
            <a:r>
              <a:t>第四章：部署与运维实践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9144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100">
                <a:solidFill>
                  <a:srgbClr val="FAF5DC"/>
                </a:solidFill>
              </a:defRPr>
            </a:pPr>
            <a:r>
              <a:t>基于Kubernetes的高可用部署方案，支持自动扩缩容、健康检查、蓝绿发布等运维能力，保障业务连续性和系统稳定性。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365760" y="1828800"/>
          <a:ext cx="1353312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3680"/>
                <a:gridCol w="1503680"/>
                <a:gridCol w="1503680"/>
                <a:gridCol w="1503680"/>
                <a:gridCol w="1503680"/>
                <a:gridCol w="1503680"/>
                <a:gridCol w="1503680"/>
                <a:gridCol w="1503680"/>
                <a:gridCol w="1503680"/>
              </a:tblGrid>
              <a:tr h="295421"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部署策略</a:t>
                      </a:r>
                    </a:p>
                  </a:txBody>
                  <a:tcPr>
                    <a:solidFill>
                      <a:srgbClr val="FFC8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业务价值</a:t>
                      </a:r>
                    </a:p>
                  </a:txBody>
                  <a:tcPr>
                    <a:solidFill>
                      <a:srgbClr val="FFC8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技术亮点</a:t>
                      </a:r>
                    </a:p>
                  </a:txBody>
                  <a:tcPr>
                    <a:solidFill>
                      <a:srgbClr val="FFC8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成功指标</a:t>
                      </a:r>
                    </a:p>
                  </a:txBody>
                  <a:tcPr>
                    <a:solidFill>
                      <a:srgbClr val="FFC8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适用场景</a:t>
                      </a:r>
                    </a:p>
                  </a:txBody>
                  <a:tcPr>
                    <a:solidFill>
                      <a:srgbClr val="FFC8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可用性</a:t>
                      </a:r>
                    </a:p>
                  </a:txBody>
                  <a:tcPr>
                    <a:solidFill>
                      <a:srgbClr val="FFC8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投资回报</a:t>
                      </a:r>
                    </a:p>
                  </a:txBody>
                  <a:tcPr>
                    <a:solidFill>
                      <a:srgbClr val="FFC8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技术架构</a:t>
                      </a:r>
                    </a:p>
                  </a:txBody>
                  <a:tcPr>
                    <a:solidFill>
                      <a:srgbClr val="FFC8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关键挑战</a:t>
                      </a:r>
                    </a:p>
                  </a:txBody>
                  <a:tcPr>
                    <a:solidFill>
                      <a:srgbClr val="FFC83C"/>
                    </a:solidFill>
                  </a:tcPr>
                </a:tc>
              </a:tr>
              <a:tr h="295421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多活部署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业务可用性99.99%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K8s StatefulSet+DNS轮询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故障转移&lt;30s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核心业务、高可用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99.99%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24个月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多活K8s集群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数据一致性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295421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自动扩缩容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资源利用率提升60%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HPA/VPA+KEDA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弹性响应&lt;2min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波动流量、弹性业务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弹性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12个月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K8s自动伸缩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冷启动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295421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健康检查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故障自愈能力提升80%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Liveness/Readiness/Startup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故障恢复&lt;1min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微服务、高可用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6个月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K8s健康检查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探针配置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295421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蓝绿发布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发布风险降低90%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Istio/Argo Rollouts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零停机升级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生产环境、频繁发布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零停机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18个月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Istio+Argo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流量切分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295421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异地容灾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灾难恢复能力99.999%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跨区域K8s集群+DRBD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RPO&lt;5min,RTO&lt;15min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金融系统、核心数据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99.999%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36个月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跨区集群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数据同步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295421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边缘部署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边缘延迟降低70%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K3s/KubeEdge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&lt;20ms延迟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边缘计算、就近访问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低延迟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24个月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边缘K8s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边缘管理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295421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金丝雀发布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发布风险降低80%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Argo Rollouts/Flagger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渐进式发布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核心服务、风险控制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渐进式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18个月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Argo+Prometheus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指标评估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295421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Serverless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运维成本降低50%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KEDA+Knative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按需扩缩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非核心服务、突发流量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按需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12个月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KEDA+Knative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冷启动延迟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295421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混合云部署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云中立100%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Anthos/Azure Arc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多云统一管理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企业级、多云战略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多云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30个月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混合云管理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跨云网络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295421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GitOps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部署效率提升3x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Argo CD/Flux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声明式配置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CI/CD、版本控制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18个月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GitOps工具链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配置漂移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295421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Agent部署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Agent部署效率提升4x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Agent镜像+自动编排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部署时间缩短70%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多Agent系统、自动化部署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12个月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Agent编排平台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版本兼容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295428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Agent监控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Agent监控能力提升5x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分布式追踪+指标采集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故障发现&lt;2min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Agent集群、智能监控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极高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18个月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O11y+Agent监控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监控告警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640080" y="5943600"/>
            <a:ext cx="12801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100" b="1">
                <a:solidFill>
                  <a:srgbClr val="64DCFF"/>
                </a:solidFill>
              </a:defRPr>
            </a:pPr>
            <a:r>
              <a:t>📚 拓展学习资源</a:t>
            </a:r>
          </a:p>
          <a:p>
            <a:pPr>
              <a:defRPr sz="800">
                <a:solidFill>
                  <a:srgbClr val="AAB9C8"/>
                </a:solidFill>
              </a:defRPr>
            </a:pPr>
            <a:r>
              <a:t>Kubernetes文档: https://kubernetes.io/zh-cn/docs/</a:t>
            </a:r>
          </a:p>
          <a:p>
            <a:pPr>
              <a:defRPr sz="800">
                <a:solidFill>
                  <a:srgbClr val="AAB9C8"/>
                </a:solidFill>
              </a:defRPr>
            </a:pPr>
            <a:r>
              <a:t>Prometheus监控: https://prometheus.io/docs/introduction/overview/</a:t>
            </a:r>
          </a:p>
          <a:p>
            <a:pPr>
              <a:defRPr sz="800">
                <a:solidFill>
                  <a:srgbClr val="AAB9C8"/>
                </a:solidFill>
              </a:defRPr>
            </a:pPr>
            <a:r>
              <a:t>Grafana可视化: https://grafana.com/docs/grafana/latest/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7680960"/>
            <a:ext cx="1371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900">
                <a:solidFill>
                  <a:srgbClr val="788CA0"/>
                </a:solidFill>
              </a:defRPr>
            </a:pPr>
            <a:r>
              <a:t>Copyright © 2026 何晓冬. All Rights Reserved.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Oval 2"/>
          <p:cNvSpPr/>
          <p:nvPr/>
        </p:nvSpPr>
        <p:spPr>
          <a:xfrm>
            <a:off x="9144000" y="-1828800"/>
            <a:ext cx="10972800" cy="9144000"/>
          </a:xfrm>
          <a:prstGeom prst="ellipse">
            <a:avLst/>
          </a:prstGeom>
          <a:solidFill>
            <a:srgbClr val="A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A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 rot="20700000">
            <a:off x="1371600" y="16459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© 何晓冬 | A2A协议深度解析</a:t>
            </a:r>
          </a:p>
        </p:txBody>
      </p:sp>
      <p:sp>
        <p:nvSpPr>
          <p:cNvPr id="6" name="TextBox 5"/>
          <p:cNvSpPr txBox="1"/>
          <p:nvPr/>
        </p:nvSpPr>
        <p:spPr>
          <a:xfrm rot="20700000">
            <a:off x="1371600" y="34747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© 何晓冬 | A2A协议深度解析</a:t>
            </a:r>
          </a:p>
        </p:txBody>
      </p:sp>
      <p:sp>
        <p:nvSpPr>
          <p:cNvPr id="7" name="TextBox 6"/>
          <p:cNvSpPr txBox="1"/>
          <p:nvPr/>
        </p:nvSpPr>
        <p:spPr>
          <a:xfrm rot="20700000">
            <a:off x="1371600" y="53035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© 何晓冬 | A2A协议深度解析</a:t>
            </a:r>
          </a:p>
        </p:txBody>
      </p:sp>
      <p:sp>
        <p:nvSpPr>
          <p:cNvPr id="8" name="TextBox 7"/>
          <p:cNvSpPr txBox="1"/>
          <p:nvPr/>
        </p:nvSpPr>
        <p:spPr>
          <a:xfrm rot="20700000">
            <a:off x="1371600" y="71323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© 何晓冬 | A2A协议深度解析</a:t>
            </a:r>
          </a:p>
        </p:txBody>
      </p:sp>
      <p:sp>
        <p:nvSpPr>
          <p:cNvPr id="9" name="TextBox 8"/>
          <p:cNvSpPr txBox="1"/>
          <p:nvPr/>
        </p:nvSpPr>
        <p:spPr>
          <a:xfrm rot="20700000">
            <a:off x="5943600" y="16459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© 何晓冬 | A2A协议深度解析</a:t>
            </a:r>
          </a:p>
        </p:txBody>
      </p:sp>
      <p:sp>
        <p:nvSpPr>
          <p:cNvPr id="10" name="TextBox 9"/>
          <p:cNvSpPr txBox="1"/>
          <p:nvPr/>
        </p:nvSpPr>
        <p:spPr>
          <a:xfrm rot="20700000">
            <a:off x="5943600" y="34747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© 何晓冬 | A2A协议深度解析</a:t>
            </a:r>
          </a:p>
        </p:txBody>
      </p:sp>
      <p:sp>
        <p:nvSpPr>
          <p:cNvPr id="11" name="TextBox 10"/>
          <p:cNvSpPr txBox="1"/>
          <p:nvPr/>
        </p:nvSpPr>
        <p:spPr>
          <a:xfrm rot="20700000">
            <a:off x="5943600" y="53035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© 何晓冬 | A2A协议深度解析</a:t>
            </a:r>
          </a:p>
        </p:txBody>
      </p:sp>
      <p:sp>
        <p:nvSpPr>
          <p:cNvPr id="12" name="TextBox 11"/>
          <p:cNvSpPr txBox="1"/>
          <p:nvPr/>
        </p:nvSpPr>
        <p:spPr>
          <a:xfrm rot="20700000">
            <a:off x="5943600" y="71323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© 何晓冬 | A2A协议深度解析</a:t>
            </a:r>
          </a:p>
        </p:txBody>
      </p:sp>
      <p:sp>
        <p:nvSpPr>
          <p:cNvPr id="13" name="TextBox 12"/>
          <p:cNvSpPr txBox="1"/>
          <p:nvPr/>
        </p:nvSpPr>
        <p:spPr>
          <a:xfrm rot="20700000">
            <a:off x="10515600" y="16459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© 何晓冬 | A2A协议深度解析</a:t>
            </a:r>
          </a:p>
        </p:txBody>
      </p:sp>
      <p:sp>
        <p:nvSpPr>
          <p:cNvPr id="14" name="TextBox 13"/>
          <p:cNvSpPr txBox="1"/>
          <p:nvPr/>
        </p:nvSpPr>
        <p:spPr>
          <a:xfrm rot="20700000">
            <a:off x="10515600" y="34747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© 何晓冬 | A2A协议深度解析</a:t>
            </a:r>
          </a:p>
        </p:txBody>
      </p:sp>
      <p:sp>
        <p:nvSpPr>
          <p:cNvPr id="15" name="TextBox 14"/>
          <p:cNvSpPr txBox="1"/>
          <p:nvPr/>
        </p:nvSpPr>
        <p:spPr>
          <a:xfrm rot="20700000">
            <a:off x="10515600" y="53035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© 何晓冬 | A2A协议深度解析</a:t>
            </a:r>
          </a:p>
        </p:txBody>
      </p:sp>
      <p:sp>
        <p:nvSpPr>
          <p:cNvPr id="16" name="TextBox 15"/>
          <p:cNvSpPr txBox="1"/>
          <p:nvPr/>
        </p:nvSpPr>
        <p:spPr>
          <a:xfrm rot="20700000">
            <a:off x="10515600" y="71323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© 何晓冬 | A2A协议深度解析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435840" y="1920240"/>
            <a:ext cx="182880" cy="731520"/>
          </a:xfrm>
          <a:prstGeom prst="rect">
            <a:avLst/>
          </a:prstGeom>
          <a:solidFill>
            <a:srgbClr val="A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2710160" y="1737360"/>
            <a:ext cx="182880" cy="1097280"/>
          </a:xfrm>
          <a:prstGeom prst="rect">
            <a:avLst/>
          </a:prstGeom>
          <a:solidFill>
            <a:srgbClr val="A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2984480" y="1874519"/>
            <a:ext cx="182880" cy="822960"/>
          </a:xfrm>
          <a:prstGeom prst="rect">
            <a:avLst/>
          </a:prstGeom>
          <a:solidFill>
            <a:srgbClr val="A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3258800" y="1645920"/>
            <a:ext cx="182880" cy="1280160"/>
          </a:xfrm>
          <a:prstGeom prst="rect">
            <a:avLst/>
          </a:prstGeom>
          <a:solidFill>
            <a:srgbClr val="A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533119" y="1783080"/>
            <a:ext cx="182880" cy="1005840"/>
          </a:xfrm>
          <a:prstGeom prst="rect">
            <a:avLst/>
          </a:prstGeom>
          <a:solidFill>
            <a:srgbClr val="A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hevron 21"/>
          <p:cNvSpPr/>
          <p:nvPr/>
        </p:nvSpPr>
        <p:spPr>
          <a:xfrm>
            <a:off x="12801600" y="914400"/>
            <a:ext cx="1097280" cy="914400"/>
          </a:xfrm>
          <a:prstGeom prst="chevron">
            <a:avLst/>
          </a:prstGeom>
          <a:solidFill>
            <a:srgbClr val="645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200" b="1">
                <a:solidFill>
                  <a:srgbClr val="A078FF"/>
                </a:solidFill>
              </a:defRPr>
            </a:pPr>
            <a:r>
              <a:t>第五章：性能优化策略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9144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100">
                <a:solidFill>
                  <a:srgbClr val="DCEBFA"/>
                </a:solidFill>
              </a:defRPr>
            </a:pPr>
            <a:r>
              <a:t>通过网络优化、消息批量、缓存策略、并发处理等手段，实现系统性能的全方位提升，支撑大规模业务场景下的高效运行。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365760" y="1828800"/>
          <a:ext cx="1353312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11040"/>
                <a:gridCol w="4511040"/>
                <a:gridCol w="4511040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瓶颈类型</a:t>
                      </a:r>
                    </a:p>
                  </a:txBody>
                  <a:tcPr>
                    <a:solidFill>
                      <a:srgbClr val="A07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表现症状</a:t>
                      </a:r>
                    </a:p>
                  </a:txBody>
                  <a:tcPr>
                    <a:solidFill>
                      <a:srgbClr val="A07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根因分析</a:t>
                      </a:r>
                    </a:p>
                  </a:txBody>
                  <a:tcPr>
                    <a:solidFill>
                      <a:srgbClr val="A078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DCEBFA"/>
                          </a:solidFill>
                        </a:defRPr>
                      </a:pPr>
                      <a:r>
                        <a:t>----------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DCEBFA"/>
                          </a:solidFill>
                        </a:defRPr>
                      </a:pPr>
                      <a:r>
                        <a:t>----------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DCEBFA"/>
                          </a:solidFill>
                        </a:defRPr>
                      </a:pPr>
                      <a:r>
                        <a:t>----------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DCEBFA"/>
                          </a:solidFill>
                        </a:defRPr>
                      </a:pPr>
                      <a:r>
                        <a:t>**网络延迟**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6464"/>
                          </a:solidFill>
                        </a:defRPr>
                      </a:pPr>
                      <a:r>
                        <a:t>P99延迟高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DCEBFA"/>
                          </a:solidFill>
                        </a:defRPr>
                      </a:pPr>
                      <a:r>
                        <a:t>跨区域通信、网络拥塞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DCEBFA"/>
                          </a:solidFill>
                        </a:defRPr>
                      </a:pPr>
                      <a:r>
                        <a:t>**消息处理**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DCEBFA"/>
                          </a:solidFill>
                        </a:defRPr>
                      </a:pPr>
                      <a:r>
                        <a:t>队列积压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DCEBFA"/>
                          </a:solidFill>
                        </a:defRPr>
                      </a:pPr>
                      <a:r>
                        <a:t>消息处理速度慢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DCEBFA"/>
                          </a:solidFill>
                        </a:defRPr>
                      </a:pPr>
                      <a:r>
                        <a:t>**资源争用**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DCEBFA"/>
                          </a:solidFill>
                        </a:defRPr>
                      </a:pPr>
                      <a:r>
                        <a:t>CPU/内存飙升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DCEBFA"/>
                          </a:solidFill>
                        </a:defRPr>
                      </a:pPr>
                      <a:r>
                        <a:t>并发请求过高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DCEBFA"/>
                          </a:solidFill>
                        </a:defRPr>
                      </a:pPr>
                      <a:r>
                        <a:t>**数据库瓶颈**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DCEBFA"/>
                          </a:solidFill>
                        </a:defRPr>
                      </a:pPr>
                      <a:r>
                        <a:t>查询慢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DCEBFA"/>
                          </a:solidFill>
                        </a:defRPr>
                      </a:pPr>
                      <a:r>
                        <a:t>索引缺失、锁竞争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DCEBFA"/>
                          </a:solidFill>
                        </a:defRPr>
                      </a:pPr>
                      <a:r>
                        <a:t>**序列化开销**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DCEBFA"/>
                          </a:solidFill>
                        </a:defRPr>
                      </a:pPr>
                      <a:r>
                        <a:t>CPU占用高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DCEBFA"/>
                          </a:solidFill>
                        </a:defRPr>
                      </a:pPr>
                      <a:r>
                        <a:t>JSON序列化耗时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640080" y="5943600"/>
            <a:ext cx="12801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100" b="1">
                <a:solidFill>
                  <a:srgbClr val="64DCFF"/>
                </a:solidFill>
              </a:defRPr>
            </a:pPr>
            <a:r>
              <a:t>📚 拓展学习资源</a:t>
            </a:r>
          </a:p>
          <a:p>
            <a:pPr>
              <a:defRPr sz="800">
                <a:solidFill>
                  <a:srgbClr val="AAB9C8"/>
                </a:solidFill>
              </a:defRPr>
            </a:pPr>
            <a:r>
              <a:t>Redis缓存: https://redis.io/docs/</a:t>
            </a:r>
          </a:p>
          <a:p>
            <a:pPr>
              <a:defRPr sz="800">
                <a:solidFill>
                  <a:srgbClr val="AAB9C8"/>
                </a:solidFill>
              </a:defRPr>
            </a:pPr>
            <a:r>
              <a:t>gRPC性能优化: https://grpc.io/docs/guides/performance/</a:t>
            </a:r>
          </a:p>
          <a:p>
            <a:pPr>
              <a:defRPr sz="800">
                <a:solidFill>
                  <a:srgbClr val="AAB9C8"/>
                </a:solidFill>
              </a:defRPr>
            </a:pPr>
            <a:r>
              <a:t>批量处理: https://docs.python.org/3/library/concurrent.futures.html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7680960"/>
            <a:ext cx="1371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900">
                <a:solidFill>
                  <a:srgbClr val="788CA0"/>
                </a:solidFill>
              </a:defRPr>
            </a:pPr>
            <a:r>
              <a:t>Copyright © 2026 何晓冬. All Rights Reserved.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4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Oval 2"/>
          <p:cNvSpPr/>
          <p:nvPr/>
        </p:nvSpPr>
        <p:spPr>
          <a:xfrm>
            <a:off x="9144000" y="-1828800"/>
            <a:ext cx="10972800" cy="9144000"/>
          </a:xfrm>
          <a:prstGeom prst="ellipse">
            <a:avLst/>
          </a:prstGeom>
          <a:solidFill>
            <a:srgbClr val="FF7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FF7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 rot="20700000">
            <a:off x="1371600" y="16459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© 何晓冬 | A2A协议深度解析</a:t>
            </a:r>
          </a:p>
        </p:txBody>
      </p:sp>
      <p:sp>
        <p:nvSpPr>
          <p:cNvPr id="6" name="TextBox 5"/>
          <p:cNvSpPr txBox="1"/>
          <p:nvPr/>
        </p:nvSpPr>
        <p:spPr>
          <a:xfrm rot="20700000">
            <a:off x="1371600" y="34747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© 何晓冬 | A2A协议深度解析</a:t>
            </a:r>
          </a:p>
        </p:txBody>
      </p:sp>
      <p:sp>
        <p:nvSpPr>
          <p:cNvPr id="7" name="TextBox 6"/>
          <p:cNvSpPr txBox="1"/>
          <p:nvPr/>
        </p:nvSpPr>
        <p:spPr>
          <a:xfrm rot="20700000">
            <a:off x="1371600" y="53035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© 何晓冬 | A2A协议深度解析</a:t>
            </a:r>
          </a:p>
        </p:txBody>
      </p:sp>
      <p:sp>
        <p:nvSpPr>
          <p:cNvPr id="8" name="TextBox 7"/>
          <p:cNvSpPr txBox="1"/>
          <p:nvPr/>
        </p:nvSpPr>
        <p:spPr>
          <a:xfrm rot="20700000">
            <a:off x="1371600" y="71323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© 何晓冬 | A2A协议深度解析</a:t>
            </a:r>
          </a:p>
        </p:txBody>
      </p:sp>
      <p:sp>
        <p:nvSpPr>
          <p:cNvPr id="9" name="TextBox 8"/>
          <p:cNvSpPr txBox="1"/>
          <p:nvPr/>
        </p:nvSpPr>
        <p:spPr>
          <a:xfrm rot="20700000">
            <a:off x="5943600" y="16459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© 何晓冬 | A2A协议深度解析</a:t>
            </a:r>
          </a:p>
        </p:txBody>
      </p:sp>
      <p:sp>
        <p:nvSpPr>
          <p:cNvPr id="10" name="TextBox 9"/>
          <p:cNvSpPr txBox="1"/>
          <p:nvPr/>
        </p:nvSpPr>
        <p:spPr>
          <a:xfrm rot="20700000">
            <a:off x="5943600" y="34747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© 何晓冬 | A2A协议深度解析</a:t>
            </a:r>
          </a:p>
        </p:txBody>
      </p:sp>
      <p:sp>
        <p:nvSpPr>
          <p:cNvPr id="11" name="TextBox 10"/>
          <p:cNvSpPr txBox="1"/>
          <p:nvPr/>
        </p:nvSpPr>
        <p:spPr>
          <a:xfrm rot="20700000">
            <a:off x="5943600" y="53035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© 何晓冬 | A2A协议深度解析</a:t>
            </a:r>
          </a:p>
        </p:txBody>
      </p:sp>
      <p:sp>
        <p:nvSpPr>
          <p:cNvPr id="12" name="TextBox 11"/>
          <p:cNvSpPr txBox="1"/>
          <p:nvPr/>
        </p:nvSpPr>
        <p:spPr>
          <a:xfrm rot="20700000">
            <a:off x="5943600" y="71323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© 何晓冬 | A2A协议深度解析</a:t>
            </a:r>
          </a:p>
        </p:txBody>
      </p:sp>
      <p:sp>
        <p:nvSpPr>
          <p:cNvPr id="13" name="TextBox 12"/>
          <p:cNvSpPr txBox="1"/>
          <p:nvPr/>
        </p:nvSpPr>
        <p:spPr>
          <a:xfrm rot="20700000">
            <a:off x="10515600" y="16459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© 何晓冬 | A2A协议深度解析</a:t>
            </a:r>
          </a:p>
        </p:txBody>
      </p:sp>
      <p:sp>
        <p:nvSpPr>
          <p:cNvPr id="14" name="TextBox 13"/>
          <p:cNvSpPr txBox="1"/>
          <p:nvPr/>
        </p:nvSpPr>
        <p:spPr>
          <a:xfrm rot="20700000">
            <a:off x="10515600" y="34747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© 何晓冬 | A2A协议深度解析</a:t>
            </a:r>
          </a:p>
        </p:txBody>
      </p:sp>
      <p:sp>
        <p:nvSpPr>
          <p:cNvPr id="15" name="TextBox 14"/>
          <p:cNvSpPr txBox="1"/>
          <p:nvPr/>
        </p:nvSpPr>
        <p:spPr>
          <a:xfrm rot="20700000">
            <a:off x="10515600" y="53035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© 何晓冬 | A2A协议深度解析</a:t>
            </a:r>
          </a:p>
        </p:txBody>
      </p:sp>
      <p:sp>
        <p:nvSpPr>
          <p:cNvPr id="16" name="TextBox 15"/>
          <p:cNvSpPr txBox="1"/>
          <p:nvPr/>
        </p:nvSpPr>
        <p:spPr>
          <a:xfrm rot="20700000">
            <a:off x="10515600" y="71323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© 何晓冬 | A2A协议深度解析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344400" y="914400"/>
            <a:ext cx="1645920" cy="1481328"/>
          </a:xfrm>
          <a:prstGeom prst="roundRect">
            <a:avLst/>
          </a:prstGeom>
          <a:solidFill>
            <a:srgbClr val="FF7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755880" y="1325880"/>
            <a:ext cx="246888" cy="24688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3331952" y="1325880"/>
            <a:ext cx="246888" cy="24688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2817602" y="1387602"/>
            <a:ext cx="123444" cy="123444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393674" y="1387602"/>
            <a:ext cx="123444" cy="123444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2920472" y="1901952"/>
            <a:ext cx="493776" cy="13167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Hexagon 22"/>
          <p:cNvSpPr/>
          <p:nvPr/>
        </p:nvSpPr>
        <p:spPr>
          <a:xfrm>
            <a:off x="12618720" y="2743200"/>
            <a:ext cx="914400" cy="914400"/>
          </a:xfrm>
          <a:prstGeom prst="hexagon">
            <a:avLst/>
          </a:prstGeom>
          <a:solidFill>
            <a:srgbClr val="FF7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Hexagon 23"/>
          <p:cNvSpPr/>
          <p:nvPr/>
        </p:nvSpPr>
        <p:spPr>
          <a:xfrm>
            <a:off x="13258800" y="3474720"/>
            <a:ext cx="731520" cy="731520"/>
          </a:xfrm>
          <a:prstGeom prst="hexagon">
            <a:avLst/>
          </a:prstGeom>
          <a:solidFill>
            <a:srgbClr val="B45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200" b="1">
                <a:solidFill>
                  <a:srgbClr val="FF78A0"/>
                </a:solidFill>
              </a:defRPr>
            </a:pPr>
            <a:r>
              <a:t>第六章：实战案例与最佳实践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9144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100">
                <a:solidFill>
                  <a:srgbClr val="FAEBDC"/>
                </a:solidFill>
              </a:defRPr>
            </a:pPr>
            <a:r>
              <a:t>通过供应链管理、金融风控、智能办公、医疗诊断等真实案例，验证A2A协议的业务价值和技术可行性，为企业数字化转型提供参考。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365760" y="1828800"/>
          <a:ext cx="1353312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3680"/>
                <a:gridCol w="1503680"/>
                <a:gridCol w="1503680"/>
                <a:gridCol w="1503680"/>
                <a:gridCol w="1503680"/>
                <a:gridCol w="1503680"/>
                <a:gridCol w="1503680"/>
                <a:gridCol w="1503680"/>
                <a:gridCol w="1503680"/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案例场景</a:t>
                      </a:r>
                    </a:p>
                  </a:txBody>
                  <a:tcPr>
                    <a:solidFill>
                      <a:srgbClr val="FF78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业务价值</a:t>
                      </a:r>
                    </a:p>
                  </a:txBody>
                  <a:tcPr>
                    <a:solidFill>
                      <a:srgbClr val="FF78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技术亮点</a:t>
                      </a:r>
                    </a:p>
                  </a:txBody>
                  <a:tcPr>
                    <a:solidFill>
                      <a:srgbClr val="FF78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成功指标</a:t>
                      </a:r>
                    </a:p>
                  </a:txBody>
                  <a:tcPr>
                    <a:solidFill>
                      <a:srgbClr val="FF78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行业领域</a:t>
                      </a:r>
                    </a:p>
                  </a:txBody>
                  <a:tcPr>
                    <a:solidFill>
                      <a:srgbClr val="FF78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规模</a:t>
                      </a:r>
                    </a:p>
                  </a:txBody>
                  <a:tcPr>
                    <a:solidFill>
                      <a:srgbClr val="FF78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投资回报</a:t>
                      </a:r>
                    </a:p>
                  </a:txBody>
                  <a:tcPr>
                    <a:solidFill>
                      <a:srgbClr val="FF78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技术架构</a:t>
                      </a:r>
                    </a:p>
                  </a:txBody>
                  <a:tcPr>
                    <a:solidFill>
                      <a:srgbClr val="FF78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关键挑战</a:t>
                      </a:r>
                    </a:p>
                  </a:txBody>
                  <a:tcPr>
                    <a:solidFill>
                      <a:srgbClr val="FF78A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供应链管理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效率提升40%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多Agent协作+智能调度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交付周期缩短30%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制造业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大型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18个月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A2A+IoT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数据孤岛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金融风控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风险降低35%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实时决策引擎+知识图谱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准确率提升25%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金融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中型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24个月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A2A+ML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合规要求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智能办公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生产力提升50%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自动化流程+RPA集成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成本节约40%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企业服务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中型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12个月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A2A+低代码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系统集成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医疗诊断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准确率提升25%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专业知识整合+推理引擎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误诊率下降20%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医疗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大型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36个月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A2A+NLP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数据隐私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智能客服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满意度提升30%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多轮对话+情感分析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响应时间缩短50%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电商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大型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18个月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A2A+LLM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上下文理解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智能运维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故障发现快80%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预测性维护+异常检测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MTTR降低60%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运维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中型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24个月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A2A+监控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告警风暴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智能推荐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转化率提升35%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个性化算法+实时特征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用户留存提升20%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互联网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大型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18个月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A2A+推荐系统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冷启动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智能教育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学习效率提升45%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自适应学习+知识追踪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成绩提升25%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教育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中型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36个月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A2A+教育AI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学习路径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智能制造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良率提升15%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数字孪生+质量检测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成本降低20%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制造业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大型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30个月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A2A+IoT+CV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设备互联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智慧城市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能耗降低25%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多系统协同+预测优化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效率提升30%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政府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大型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48个月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A2A+城市平台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数据整合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Agent协作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协作效率提升5x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多Agent协同+任务分配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任务完成率+60%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多Agent系统、智能协作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大型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18个月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A2A协作平台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协调一致性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Agent生态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生态价值提升4x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Agent平台+开发者社区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生态规模+3x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平台生态、合作伙伴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大型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30个月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开放Agent平台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生态治理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Agent创新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创新效率提升3x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AI Agent+新技术融合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创新周期缩短50%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AI创新、前沿探索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中型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24个月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Agent创新实验室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技术风险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</a:tbl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640080" y="5943600"/>
            <a:ext cx="12801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100" b="1">
                <a:solidFill>
                  <a:srgbClr val="64DCFF"/>
                </a:solidFill>
              </a:defRPr>
            </a:pPr>
            <a:r>
              <a:t>📚 拓展学习资源</a:t>
            </a:r>
          </a:p>
          <a:p>
            <a:pPr>
              <a:defRPr sz="800">
                <a:solidFill>
                  <a:srgbClr val="AAB9C8"/>
                </a:solidFill>
              </a:defRPr>
            </a:pPr>
            <a:r>
              <a:t>供应链案例: https://www.supplychaindive.com/</a:t>
            </a:r>
          </a:p>
          <a:p>
            <a:pPr>
              <a:defRPr sz="800">
                <a:solidFill>
                  <a:srgbClr val="AAB9C8"/>
                </a:solidFill>
              </a:defRPr>
            </a:pPr>
            <a:r>
              <a:t>金融风控案例: https://www.fintechnexus.com/</a:t>
            </a:r>
          </a:p>
          <a:p>
            <a:pPr>
              <a:defRPr sz="800">
                <a:solidFill>
                  <a:srgbClr val="AAB9C8"/>
                </a:solidFill>
              </a:defRPr>
            </a:pPr>
            <a:r>
              <a:t>多Agent系统: https://arxiv.org/abs/2401.07580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7680960"/>
            <a:ext cx="1371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900">
                <a:solidFill>
                  <a:srgbClr val="788CA0"/>
                </a:solidFill>
              </a:defRPr>
            </a:pPr>
            <a:r>
              <a:t>Copyright © 2026 何晓冬. All Rights Reserved.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Oval 2"/>
          <p:cNvSpPr/>
          <p:nvPr/>
        </p:nvSpPr>
        <p:spPr>
          <a:xfrm>
            <a:off x="9144000" y="-1828800"/>
            <a:ext cx="10972800" cy="9144000"/>
          </a:xfrm>
          <a:prstGeom prst="ellipse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 rot="20700000">
            <a:off x="1371600" y="16459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© 何晓冬 | A2A协议深度解析</a:t>
            </a:r>
          </a:p>
        </p:txBody>
      </p:sp>
      <p:sp>
        <p:nvSpPr>
          <p:cNvPr id="6" name="TextBox 5"/>
          <p:cNvSpPr txBox="1"/>
          <p:nvPr/>
        </p:nvSpPr>
        <p:spPr>
          <a:xfrm rot="20700000">
            <a:off x="1371600" y="34747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© 何晓冬 | A2A协议深度解析</a:t>
            </a:r>
          </a:p>
        </p:txBody>
      </p:sp>
      <p:sp>
        <p:nvSpPr>
          <p:cNvPr id="7" name="TextBox 6"/>
          <p:cNvSpPr txBox="1"/>
          <p:nvPr/>
        </p:nvSpPr>
        <p:spPr>
          <a:xfrm rot="20700000">
            <a:off x="1371600" y="53035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© 何晓冬 | A2A协议深度解析</a:t>
            </a:r>
          </a:p>
        </p:txBody>
      </p:sp>
      <p:sp>
        <p:nvSpPr>
          <p:cNvPr id="8" name="TextBox 7"/>
          <p:cNvSpPr txBox="1"/>
          <p:nvPr/>
        </p:nvSpPr>
        <p:spPr>
          <a:xfrm rot="20700000">
            <a:off x="1371600" y="71323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© 何晓冬 | A2A协议深度解析</a:t>
            </a:r>
          </a:p>
        </p:txBody>
      </p:sp>
      <p:sp>
        <p:nvSpPr>
          <p:cNvPr id="9" name="TextBox 8"/>
          <p:cNvSpPr txBox="1"/>
          <p:nvPr/>
        </p:nvSpPr>
        <p:spPr>
          <a:xfrm rot="20700000">
            <a:off x="5943600" y="16459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© 何晓冬 | A2A协议深度解析</a:t>
            </a:r>
          </a:p>
        </p:txBody>
      </p:sp>
      <p:sp>
        <p:nvSpPr>
          <p:cNvPr id="10" name="TextBox 9"/>
          <p:cNvSpPr txBox="1"/>
          <p:nvPr/>
        </p:nvSpPr>
        <p:spPr>
          <a:xfrm rot="20700000">
            <a:off x="5943600" y="34747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© 何晓冬 | A2A协议深度解析</a:t>
            </a:r>
          </a:p>
        </p:txBody>
      </p:sp>
      <p:sp>
        <p:nvSpPr>
          <p:cNvPr id="11" name="TextBox 10"/>
          <p:cNvSpPr txBox="1"/>
          <p:nvPr/>
        </p:nvSpPr>
        <p:spPr>
          <a:xfrm rot="20700000">
            <a:off x="5943600" y="53035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© 何晓冬 | A2A协议深度解析</a:t>
            </a:r>
          </a:p>
        </p:txBody>
      </p:sp>
      <p:sp>
        <p:nvSpPr>
          <p:cNvPr id="12" name="TextBox 11"/>
          <p:cNvSpPr txBox="1"/>
          <p:nvPr/>
        </p:nvSpPr>
        <p:spPr>
          <a:xfrm rot="20700000">
            <a:off x="5943600" y="71323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© 何晓冬 | A2A协议深度解析</a:t>
            </a:r>
          </a:p>
        </p:txBody>
      </p:sp>
      <p:sp>
        <p:nvSpPr>
          <p:cNvPr id="13" name="TextBox 12"/>
          <p:cNvSpPr txBox="1"/>
          <p:nvPr/>
        </p:nvSpPr>
        <p:spPr>
          <a:xfrm rot="20700000">
            <a:off x="10515600" y="16459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© 何晓冬 | A2A协议深度解析</a:t>
            </a:r>
          </a:p>
        </p:txBody>
      </p:sp>
      <p:sp>
        <p:nvSpPr>
          <p:cNvPr id="14" name="TextBox 13"/>
          <p:cNvSpPr txBox="1"/>
          <p:nvPr/>
        </p:nvSpPr>
        <p:spPr>
          <a:xfrm rot="20700000">
            <a:off x="10515600" y="34747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© 何晓冬 | A2A协议深度解析</a:t>
            </a:r>
          </a:p>
        </p:txBody>
      </p:sp>
      <p:sp>
        <p:nvSpPr>
          <p:cNvPr id="15" name="TextBox 14"/>
          <p:cNvSpPr txBox="1"/>
          <p:nvPr/>
        </p:nvSpPr>
        <p:spPr>
          <a:xfrm rot="20700000">
            <a:off x="10515600" y="53035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© 何晓冬 | A2A协议深度解析</a:t>
            </a:r>
          </a:p>
        </p:txBody>
      </p:sp>
      <p:sp>
        <p:nvSpPr>
          <p:cNvPr id="16" name="TextBox 15"/>
          <p:cNvSpPr txBox="1"/>
          <p:nvPr/>
        </p:nvSpPr>
        <p:spPr>
          <a:xfrm rot="20700000">
            <a:off x="10515600" y="71323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© 何晓冬 | A2A协议深度解析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200" b="1">
                <a:solidFill>
                  <a:srgbClr val="00C896"/>
                </a:solidFill>
              </a:defRPr>
            </a:pPr>
            <a:r>
              <a:t>第七章：AI智能体发展趋势展望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9144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100">
                <a:solidFill>
                  <a:srgbClr val="DCF5E6"/>
                </a:solidFill>
              </a:defRPr>
            </a:pPr>
            <a:r>
              <a:t>AI智能体正处于快速发展期，未来10-20年将经历标准化、智能化到生态化的演进。蚌埠市作为制造业基地，可抓住长三角一体化机遇，布局AI Agent产业，推动传统产业升级。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65760" y="1828800"/>
          <a:ext cx="1353312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3680"/>
                <a:gridCol w="1503680"/>
                <a:gridCol w="1503680"/>
                <a:gridCol w="1503680"/>
                <a:gridCol w="1503680"/>
                <a:gridCol w="1503680"/>
                <a:gridCol w="1503680"/>
                <a:gridCol w="1503680"/>
                <a:gridCol w="1503680"/>
              </a:tblGrid>
              <a:tr h="349134"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时间阶段</a:t>
                      </a:r>
                    </a:p>
                  </a:txBody>
                  <a:tcPr>
                    <a:solidFill>
                      <a:srgbClr val="00C8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发展特征</a:t>
                      </a:r>
                    </a:p>
                  </a:txBody>
                  <a:tcPr>
                    <a:solidFill>
                      <a:srgbClr val="00C8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关键技术</a:t>
                      </a:r>
                    </a:p>
                  </a:txBody>
                  <a:tcPr>
                    <a:solidFill>
                      <a:srgbClr val="00C8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行业影响</a:t>
                      </a:r>
                    </a:p>
                  </a:txBody>
                  <a:tcPr>
                    <a:solidFill>
                      <a:srgbClr val="00C8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蚌埠机遇</a:t>
                      </a:r>
                    </a:p>
                  </a:txBody>
                  <a:tcPr>
                    <a:solidFill>
                      <a:srgbClr val="00C8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投资价值</a:t>
                      </a:r>
                    </a:p>
                  </a:txBody>
                  <a:tcPr>
                    <a:solidFill>
                      <a:srgbClr val="00C8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风险评估</a:t>
                      </a:r>
                    </a:p>
                  </a:txBody>
                  <a:tcPr>
                    <a:solidFill>
                      <a:srgbClr val="00C8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战略建议</a:t>
                      </a:r>
                    </a:p>
                  </a:txBody>
                  <a:tcPr>
                    <a:solidFill>
                      <a:srgbClr val="00C8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预期收益</a:t>
                      </a:r>
                    </a:p>
                  </a:txBody>
                  <a:tcPr>
                    <a:solidFill>
                      <a:srgbClr val="00C896"/>
                    </a:solidFill>
                  </a:tcPr>
                </a:tc>
              </a:tr>
              <a:tr h="349134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2026-2028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标准化加速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Agent Cards、ADR规范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行业标准形成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承接长三角产业转移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中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布局技术团队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抢占先机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349134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2029-2033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智能升级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自主学习、情感理解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Agent能力飞跃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制造业AI升级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极高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中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研发投入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技术领先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349134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2034-2036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生态成熟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去中心化网络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全球Agent经济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构建产业生态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低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平台建设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生态收益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349134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2037-2041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通用智能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通用Agent出现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生产力革命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全面智能化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极高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中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战略转型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指数增长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349134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2042-2046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意识涌现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类人智能可能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社会变革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新产业形态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极高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前瞻布局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颠覆创新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349134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当前趋势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多模态融合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文本+语音+视觉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交互体验升级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本地应用开发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低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产品落地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市场份额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349134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当前趋势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边缘部署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K3s/KubeEdge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低延迟服务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边缘计算节点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中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低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基础设施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技术储备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349134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当前趋势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安全增强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零信任+隐私计算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合规保障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金融级安全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低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安全体系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信任背书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349134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产业趋势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平台化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云厂商Agent平台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生态竞争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对接云服务商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中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中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合作共赢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资源整合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34914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产业趋势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垂直深耕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行业专用Agent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细分市场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制造业AI应用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低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行业聚焦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差异化优势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40080" y="5943600"/>
            <a:ext cx="12801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100" b="1">
                <a:solidFill>
                  <a:srgbClr val="64DCFF"/>
                </a:solidFill>
              </a:defRPr>
            </a:pPr>
            <a:r>
              <a:t>📚 拓展学习资源</a:t>
            </a:r>
          </a:p>
          <a:p>
            <a:pPr>
              <a:defRPr sz="800">
                <a:solidFill>
                  <a:srgbClr val="AAB9C8"/>
                </a:solidFill>
              </a:defRPr>
            </a:pPr>
            <a:r>
              <a:t>AI趋势报告: https://www.gartner.com/en/articles/what-s-new-in-artificial-intelligence-from-the-2024-gartner-hype-cycle</a:t>
            </a:r>
          </a:p>
          <a:p>
            <a:pPr>
              <a:defRPr sz="800">
                <a:solidFill>
                  <a:srgbClr val="AAB9C8"/>
                </a:solidFill>
              </a:defRPr>
            </a:pPr>
            <a:r>
              <a:t>Agent未来展望: https://arxiv.org/abs/2403.07691</a:t>
            </a:r>
          </a:p>
          <a:p>
            <a:pPr>
              <a:defRPr sz="800">
                <a:solidFill>
                  <a:srgbClr val="AAB9C8"/>
                </a:solidFill>
              </a:defRPr>
            </a:pPr>
            <a:r>
              <a:t>中国AI发展: https://www.caict.ac.cn/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7680960"/>
            <a:ext cx="1371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900">
                <a:solidFill>
                  <a:srgbClr val="788CA0"/>
                </a:solidFill>
              </a:defRPr>
            </a:pPr>
            <a:r>
              <a:t>Copyright © 2026 何晓冬. All Rights Reserved.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2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Oval 2"/>
          <p:cNvSpPr/>
          <p:nvPr/>
        </p:nvSpPr>
        <p:spPr>
          <a:xfrm>
            <a:off x="9144000" y="-1828800"/>
            <a:ext cx="10972800" cy="9144000"/>
          </a:xfrm>
          <a:prstGeom prst="ellipse">
            <a:avLst/>
          </a:prstGeom>
          <a:solidFill>
            <a:srgbClr val="C8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C8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 rot="20700000">
            <a:off x="1371600" y="16459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© 何晓冬 | A2A协议深度解析</a:t>
            </a:r>
          </a:p>
        </p:txBody>
      </p:sp>
      <p:sp>
        <p:nvSpPr>
          <p:cNvPr id="6" name="TextBox 5"/>
          <p:cNvSpPr txBox="1"/>
          <p:nvPr/>
        </p:nvSpPr>
        <p:spPr>
          <a:xfrm rot="20700000">
            <a:off x="1371600" y="34747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© 何晓冬 | A2A协议深度解析</a:t>
            </a:r>
          </a:p>
        </p:txBody>
      </p:sp>
      <p:sp>
        <p:nvSpPr>
          <p:cNvPr id="7" name="TextBox 6"/>
          <p:cNvSpPr txBox="1"/>
          <p:nvPr/>
        </p:nvSpPr>
        <p:spPr>
          <a:xfrm rot="20700000">
            <a:off x="1371600" y="53035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© 何晓冬 | A2A协议深度解析</a:t>
            </a:r>
          </a:p>
        </p:txBody>
      </p:sp>
      <p:sp>
        <p:nvSpPr>
          <p:cNvPr id="8" name="TextBox 7"/>
          <p:cNvSpPr txBox="1"/>
          <p:nvPr/>
        </p:nvSpPr>
        <p:spPr>
          <a:xfrm rot="20700000">
            <a:off x="1371600" y="71323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© 何晓冬 | A2A协议深度解析</a:t>
            </a:r>
          </a:p>
        </p:txBody>
      </p:sp>
      <p:sp>
        <p:nvSpPr>
          <p:cNvPr id="9" name="TextBox 8"/>
          <p:cNvSpPr txBox="1"/>
          <p:nvPr/>
        </p:nvSpPr>
        <p:spPr>
          <a:xfrm rot="20700000">
            <a:off x="5943600" y="16459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© 何晓冬 | A2A协议深度解析</a:t>
            </a:r>
          </a:p>
        </p:txBody>
      </p:sp>
      <p:sp>
        <p:nvSpPr>
          <p:cNvPr id="10" name="TextBox 9"/>
          <p:cNvSpPr txBox="1"/>
          <p:nvPr/>
        </p:nvSpPr>
        <p:spPr>
          <a:xfrm rot="20700000">
            <a:off x="5943600" y="34747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© 何晓冬 | A2A协议深度解析</a:t>
            </a:r>
          </a:p>
        </p:txBody>
      </p:sp>
      <p:sp>
        <p:nvSpPr>
          <p:cNvPr id="11" name="TextBox 10"/>
          <p:cNvSpPr txBox="1"/>
          <p:nvPr/>
        </p:nvSpPr>
        <p:spPr>
          <a:xfrm rot="20700000">
            <a:off x="5943600" y="53035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© 何晓冬 | A2A协议深度解析</a:t>
            </a:r>
          </a:p>
        </p:txBody>
      </p:sp>
      <p:sp>
        <p:nvSpPr>
          <p:cNvPr id="12" name="TextBox 11"/>
          <p:cNvSpPr txBox="1"/>
          <p:nvPr/>
        </p:nvSpPr>
        <p:spPr>
          <a:xfrm rot="20700000">
            <a:off x="5943600" y="71323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© 何晓冬 | A2A协议深度解析</a:t>
            </a:r>
          </a:p>
        </p:txBody>
      </p:sp>
      <p:sp>
        <p:nvSpPr>
          <p:cNvPr id="13" name="TextBox 12"/>
          <p:cNvSpPr txBox="1"/>
          <p:nvPr/>
        </p:nvSpPr>
        <p:spPr>
          <a:xfrm rot="20700000">
            <a:off x="10515600" y="16459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© 何晓冬 | A2A协议深度解析</a:t>
            </a:r>
          </a:p>
        </p:txBody>
      </p:sp>
      <p:sp>
        <p:nvSpPr>
          <p:cNvPr id="14" name="TextBox 13"/>
          <p:cNvSpPr txBox="1"/>
          <p:nvPr/>
        </p:nvSpPr>
        <p:spPr>
          <a:xfrm rot="20700000">
            <a:off x="10515600" y="34747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© 何晓冬 | A2A协议深度解析</a:t>
            </a:r>
          </a:p>
        </p:txBody>
      </p:sp>
      <p:sp>
        <p:nvSpPr>
          <p:cNvPr id="15" name="TextBox 14"/>
          <p:cNvSpPr txBox="1"/>
          <p:nvPr/>
        </p:nvSpPr>
        <p:spPr>
          <a:xfrm rot="20700000">
            <a:off x="10515600" y="53035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© 何晓冬 | A2A协议深度解析</a:t>
            </a:r>
          </a:p>
        </p:txBody>
      </p:sp>
      <p:sp>
        <p:nvSpPr>
          <p:cNvPr id="16" name="TextBox 15"/>
          <p:cNvSpPr txBox="1"/>
          <p:nvPr/>
        </p:nvSpPr>
        <p:spPr>
          <a:xfrm rot="20700000">
            <a:off x="10515600" y="71323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© 何晓冬 | A2A协议深度解析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200" b="1">
                <a:solidFill>
                  <a:srgbClr val="C896FF"/>
                </a:solidFill>
              </a:defRPr>
            </a:pPr>
            <a:r>
              <a:t>第八章：蚌埠市人才招聘规划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9144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100">
                <a:solidFill>
                  <a:srgbClr val="F0E6FA"/>
                </a:solidFill>
              </a:defRPr>
            </a:pPr>
            <a:r>
              <a:t>针对蚌埠市产业特点，制定差异化人才策略：高中学历推荐使用BOSS直聘、58同城找基础岗位；精神残疾人可通过中国残疾人就业网络服务平台、微信小程序等官方渠道找工作；各年龄段和学历层次都有相应的招聘渠道和培养方案。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65760" y="1828800"/>
          <a:ext cx="1353312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3680"/>
                <a:gridCol w="1503680"/>
                <a:gridCol w="1503680"/>
                <a:gridCol w="1503680"/>
                <a:gridCol w="1503680"/>
                <a:gridCol w="1503680"/>
                <a:gridCol w="1503680"/>
                <a:gridCol w="1503680"/>
                <a:gridCol w="1503680"/>
              </a:tblGrid>
              <a:tr h="295421"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人群分类</a:t>
                      </a:r>
                    </a:p>
                  </a:txBody>
                  <a:tcPr>
                    <a:solidFill>
                      <a:srgbClr val="C89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岗位定位</a:t>
                      </a:r>
                    </a:p>
                  </a:txBody>
                  <a:tcPr>
                    <a:solidFill>
                      <a:srgbClr val="C89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招聘策略</a:t>
                      </a:r>
                    </a:p>
                  </a:txBody>
                  <a:tcPr>
                    <a:solidFill>
                      <a:srgbClr val="C89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推荐软件</a:t>
                      </a:r>
                    </a:p>
                  </a:txBody>
                  <a:tcPr>
                    <a:solidFill>
                      <a:srgbClr val="C89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薪资范围</a:t>
                      </a:r>
                    </a:p>
                  </a:txBody>
                  <a:tcPr>
                    <a:solidFill>
                      <a:srgbClr val="C89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蚌埠特色</a:t>
                      </a:r>
                    </a:p>
                  </a:txBody>
                  <a:tcPr>
                    <a:solidFill>
                      <a:srgbClr val="C89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政策支持</a:t>
                      </a:r>
                    </a:p>
                  </a:txBody>
                  <a:tcPr>
                    <a:solidFill>
                      <a:srgbClr val="C89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预期成效</a:t>
                      </a:r>
                    </a:p>
                  </a:txBody>
                  <a:tcPr>
                    <a:solidFill>
                      <a:srgbClr val="C89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关键挑战</a:t>
                      </a:r>
                    </a:p>
                  </a:txBody>
                  <a:tcPr>
                    <a:solidFill>
                      <a:srgbClr val="C896FF"/>
                    </a:solidFill>
                  </a:tcPr>
                </a:tc>
              </a:tr>
              <a:tr h="295421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青年人才(22-28岁)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初级开发、测试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校招+实习转正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BOSS直聘、智联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8-15K/月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本地高校合作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实习补贴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人才储备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经验不足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295421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中坚力量(29-38岁)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技术骨干、管理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社招+返乡人才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BOSS直聘、猎聘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20-35K/月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返乡计划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安家补贴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核心团队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竞争激烈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295421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资深专家(39-45岁)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架构师、总监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猎头引进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猎聘、脉脉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60-150万/年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高层次人才计划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住房优惠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技术突破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成本较高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295421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高中学历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数据标注、客服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职业院校+线上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BOSS直聘、58同城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4-10K/月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本地职高合作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技能补贴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基础岗位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技能提升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295421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精神残疾人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数据处理、审核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残联推荐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官方平台、微信小程序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同工同酬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就业保障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残保金优惠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社会责任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环境适配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295421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大专学历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运维、技术支持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本地招聘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前程无忧、BOSS直聘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6-12K/月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职业学院合作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就业补贴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运维保障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发展空间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295421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本科学历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全栈开发、产品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重点高校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智联、拉勾网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12-25K/月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高校招聘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人才政策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技术核心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留才挑战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295421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硕士学历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AI算法、架构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顶尖高校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猎聘、拉勾网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20-35K/月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人才引进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科研补贴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技术突破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竞争激烈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295421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博士学历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首席科学家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高端引进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猎聘、学术平台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80-200万/年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院士工作站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科研经费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行业引领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稀缺性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295421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AI工程师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AI Agent开发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高校+社招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BOSS直聘、拉勾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15-30K/月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AI人才引进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科研补贴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技术核心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竞争激烈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295421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Agent训练师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Agent训练优化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专业培训+实战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训练效率+50%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AI应用、智能系统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中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12个月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AI训练平台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数据质量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295428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顾问导师(46岁+)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技术顾问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兼职返聘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脉脉、领英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顾问费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退休专家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荣誉职位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知识传递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时间投入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40080" y="5943600"/>
            <a:ext cx="12801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100" b="1">
                <a:solidFill>
                  <a:srgbClr val="64DCFF"/>
                </a:solidFill>
              </a:defRPr>
            </a:pPr>
            <a:r>
              <a:t>📚 拓展学习资源</a:t>
            </a:r>
          </a:p>
          <a:p>
            <a:pPr>
              <a:defRPr sz="800">
                <a:solidFill>
                  <a:srgbClr val="AAB9C8"/>
                </a:solidFill>
              </a:defRPr>
            </a:pPr>
            <a:r>
              <a:t>蚌埠人才网: http://www.bbrc.com.cn/</a:t>
            </a:r>
          </a:p>
          <a:p>
            <a:pPr>
              <a:defRPr sz="800">
                <a:solidFill>
                  <a:srgbClr val="AAB9C8"/>
                </a:solidFill>
              </a:defRPr>
            </a:pPr>
            <a:r>
              <a:t>蚌埠人社局: http://rsj.bengbu.gov.cn/</a:t>
            </a:r>
          </a:p>
          <a:p>
            <a:pPr>
              <a:defRPr sz="800">
                <a:solidFill>
                  <a:srgbClr val="AAB9C8"/>
                </a:solidFill>
              </a:defRPr>
            </a:pPr>
            <a:r>
              <a:t>残疾人就业平台: https://www.cdpee.cn/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7680960"/>
            <a:ext cx="1371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900">
                <a:solidFill>
                  <a:srgbClr val="788CA0"/>
                </a:solidFill>
              </a:defRPr>
            </a:pPr>
            <a:r>
              <a:t>Copyright © 2026 何晓冬. All Rights Reserved.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9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Oval 2"/>
          <p:cNvSpPr/>
          <p:nvPr/>
        </p:nvSpPr>
        <p:spPr>
          <a:xfrm>
            <a:off x="9144000" y="-1828800"/>
            <a:ext cx="10972800" cy="9144000"/>
          </a:xfrm>
          <a:prstGeom prst="ellipse">
            <a:avLst/>
          </a:prstGeom>
          <a:solidFill>
            <a:srgbClr val="B4D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B4D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 rot="20700000">
            <a:off x="1371600" y="16459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© 何晓冬 | A2A协议深度解析</a:t>
            </a:r>
          </a:p>
        </p:txBody>
      </p:sp>
      <p:sp>
        <p:nvSpPr>
          <p:cNvPr id="6" name="TextBox 5"/>
          <p:cNvSpPr txBox="1"/>
          <p:nvPr/>
        </p:nvSpPr>
        <p:spPr>
          <a:xfrm rot="20700000">
            <a:off x="1371600" y="34747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© 何晓冬 | A2A协议深度解析</a:t>
            </a:r>
          </a:p>
        </p:txBody>
      </p:sp>
      <p:sp>
        <p:nvSpPr>
          <p:cNvPr id="7" name="TextBox 6"/>
          <p:cNvSpPr txBox="1"/>
          <p:nvPr/>
        </p:nvSpPr>
        <p:spPr>
          <a:xfrm rot="20700000">
            <a:off x="1371600" y="53035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© 何晓冬 | A2A协议深度解析</a:t>
            </a:r>
          </a:p>
        </p:txBody>
      </p:sp>
      <p:sp>
        <p:nvSpPr>
          <p:cNvPr id="8" name="TextBox 7"/>
          <p:cNvSpPr txBox="1"/>
          <p:nvPr/>
        </p:nvSpPr>
        <p:spPr>
          <a:xfrm rot="20700000">
            <a:off x="1371600" y="71323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© 何晓冬 | A2A协议深度解析</a:t>
            </a:r>
          </a:p>
        </p:txBody>
      </p:sp>
      <p:sp>
        <p:nvSpPr>
          <p:cNvPr id="9" name="TextBox 8"/>
          <p:cNvSpPr txBox="1"/>
          <p:nvPr/>
        </p:nvSpPr>
        <p:spPr>
          <a:xfrm rot="20700000">
            <a:off x="5943600" y="16459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© 何晓冬 | A2A协议深度解析</a:t>
            </a:r>
          </a:p>
        </p:txBody>
      </p:sp>
      <p:sp>
        <p:nvSpPr>
          <p:cNvPr id="10" name="TextBox 9"/>
          <p:cNvSpPr txBox="1"/>
          <p:nvPr/>
        </p:nvSpPr>
        <p:spPr>
          <a:xfrm rot="20700000">
            <a:off x="5943600" y="34747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© 何晓冬 | A2A协议深度解析</a:t>
            </a:r>
          </a:p>
        </p:txBody>
      </p:sp>
      <p:sp>
        <p:nvSpPr>
          <p:cNvPr id="11" name="TextBox 10"/>
          <p:cNvSpPr txBox="1"/>
          <p:nvPr/>
        </p:nvSpPr>
        <p:spPr>
          <a:xfrm rot="20700000">
            <a:off x="5943600" y="53035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© 何晓冬 | A2A协议深度解析</a:t>
            </a:r>
          </a:p>
        </p:txBody>
      </p:sp>
      <p:sp>
        <p:nvSpPr>
          <p:cNvPr id="12" name="TextBox 11"/>
          <p:cNvSpPr txBox="1"/>
          <p:nvPr/>
        </p:nvSpPr>
        <p:spPr>
          <a:xfrm rot="20700000">
            <a:off x="5943600" y="71323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© 何晓冬 | A2A协议深度解析</a:t>
            </a:r>
          </a:p>
        </p:txBody>
      </p:sp>
      <p:sp>
        <p:nvSpPr>
          <p:cNvPr id="13" name="TextBox 12"/>
          <p:cNvSpPr txBox="1"/>
          <p:nvPr/>
        </p:nvSpPr>
        <p:spPr>
          <a:xfrm rot="20700000">
            <a:off x="10515600" y="16459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© 何晓冬 | A2A协议深度解析</a:t>
            </a:r>
          </a:p>
        </p:txBody>
      </p:sp>
      <p:sp>
        <p:nvSpPr>
          <p:cNvPr id="14" name="TextBox 13"/>
          <p:cNvSpPr txBox="1"/>
          <p:nvPr/>
        </p:nvSpPr>
        <p:spPr>
          <a:xfrm rot="20700000">
            <a:off x="10515600" y="34747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© 何晓冬 | A2A协议深度解析</a:t>
            </a:r>
          </a:p>
        </p:txBody>
      </p:sp>
      <p:sp>
        <p:nvSpPr>
          <p:cNvPr id="15" name="TextBox 14"/>
          <p:cNvSpPr txBox="1"/>
          <p:nvPr/>
        </p:nvSpPr>
        <p:spPr>
          <a:xfrm rot="20700000">
            <a:off x="10515600" y="53035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© 何晓冬 | A2A协议深度解析</a:t>
            </a:r>
          </a:p>
        </p:txBody>
      </p:sp>
      <p:sp>
        <p:nvSpPr>
          <p:cNvPr id="16" name="TextBox 15"/>
          <p:cNvSpPr txBox="1"/>
          <p:nvPr/>
        </p:nvSpPr>
        <p:spPr>
          <a:xfrm rot="20700000">
            <a:off x="10515600" y="71323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© 何晓冬 | A2A协议深度解析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200" b="1">
                <a:solidFill>
                  <a:srgbClr val="B4DC50"/>
                </a:solidFill>
              </a:defRPr>
            </a:pPr>
            <a:r>
              <a:t>第九章：创业指南与政策支持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9144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100">
                <a:solidFill>
                  <a:srgbClr val="EBF5DC"/>
                </a:solidFill>
              </a:defRPr>
            </a:pPr>
            <a:r>
              <a:t>蚌埠市为创业者提供完善的政策支持，包括免费注册、创业补贴、税收优惠等。针对无房产证、未过户房产及原房主逝世等特殊情况，提供灵活的场地证明解决方案：原房主逝世需先办理继承公证和房产过户，凭继承证明可正常注册。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65760" y="1828800"/>
          <a:ext cx="1353312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3680"/>
                <a:gridCol w="1503680"/>
                <a:gridCol w="1503680"/>
                <a:gridCol w="1503680"/>
                <a:gridCol w="1503680"/>
                <a:gridCol w="1503680"/>
                <a:gridCol w="1503680"/>
                <a:gridCol w="1503680"/>
                <a:gridCol w="150368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办理环节</a:t>
                      </a:r>
                    </a:p>
                  </a:txBody>
                  <a:tcPr>
                    <a:solidFill>
                      <a:srgbClr val="B4DC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所需材料</a:t>
                      </a:r>
                    </a:p>
                  </a:txBody>
                  <a:tcPr>
                    <a:solidFill>
                      <a:srgbClr val="B4DC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办理流程</a:t>
                      </a:r>
                    </a:p>
                  </a:txBody>
                  <a:tcPr>
                    <a:solidFill>
                      <a:srgbClr val="B4DC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注意事项</a:t>
                      </a:r>
                    </a:p>
                  </a:txBody>
                  <a:tcPr>
                    <a:solidFill>
                      <a:srgbClr val="B4DC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蚌埠政策</a:t>
                      </a:r>
                    </a:p>
                  </a:txBody>
                  <a:tcPr>
                    <a:solidFill>
                      <a:srgbClr val="B4DC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办理地点</a:t>
                      </a:r>
                    </a:p>
                  </a:txBody>
                  <a:tcPr>
                    <a:solidFill>
                      <a:srgbClr val="B4DC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办理时间</a:t>
                      </a:r>
                    </a:p>
                  </a:txBody>
                  <a:tcPr>
                    <a:solidFill>
                      <a:srgbClr val="B4DC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费用说明</a:t>
                      </a:r>
                    </a:p>
                  </a:txBody>
                  <a:tcPr>
                    <a:solidFill>
                      <a:srgbClr val="B4DC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常见问题</a:t>
                      </a:r>
                    </a:p>
                  </a:txBody>
                  <a:tcPr>
                    <a:solidFill>
                      <a:srgbClr val="B4DC5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名称核准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身份证、备选名称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线上申请→审核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准备3-5个名称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全程电子化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政务服务中心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1-2天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免费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名称重复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场地证明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租赁合同/无偿使用证明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提供材料→审核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住宅需社区同意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住宅改商用支持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所在区县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1天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免费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地址不符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材料提交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身份证、场地证明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线上/窗口提交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经营范围规范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一窗通办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政务服务中心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1-2天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免费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材料不全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领取执照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受理通知书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窗口领取/邮寄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核对信息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当场办结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政务服务中心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当场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免费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信息错误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刻章备案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营业执照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指定机构刻章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公章+财务章+法人章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免费刻章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公安局指定点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1-2天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免费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章型选择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税务登记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营业执照、法人身份证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电子税务局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30日内完成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线上办理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税务局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1天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免费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逾期罚款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银行开户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营业执照、公章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选择银行办理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基本户只能一个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多家银行可选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任意银行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3-5天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年费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开户费用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无房产证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租赁合同+房东证明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提交替代材料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社区出具证明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支持替代材料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政务服务中心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1-2天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免费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材料真实性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未过户房产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网签合同/交易协议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提供合同+证明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原房主同意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支持网签合同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政务服务中心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1-2天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免费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产权纠纷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原房主逝世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继承证明+死亡证明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继承公证→过户→注册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需先办理继承公证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支持继承证明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政务服务中心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7-15天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公证费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继承纠纷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创业补贴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营业执照、就业证明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线上申请→审核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毕业5年内/就业困难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最高5000元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人社局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30天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免费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条件不符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40080" y="5943600"/>
            <a:ext cx="12801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100" b="1">
                <a:solidFill>
                  <a:srgbClr val="64DCFF"/>
                </a:solidFill>
              </a:defRPr>
            </a:pPr>
            <a:r>
              <a:t>📚 拓展学习资源</a:t>
            </a:r>
          </a:p>
          <a:p>
            <a:pPr>
              <a:defRPr sz="800">
                <a:solidFill>
                  <a:srgbClr val="AAB9C8"/>
                </a:solidFill>
              </a:defRPr>
            </a:pPr>
            <a:r>
              <a:t>安徽政务服务网: http://www.ahzwfw.gov.cn/</a:t>
            </a:r>
          </a:p>
          <a:p>
            <a:pPr>
              <a:defRPr sz="800">
                <a:solidFill>
                  <a:srgbClr val="AAB9C8"/>
                </a:solidFill>
              </a:defRPr>
            </a:pPr>
            <a:r>
              <a:t>蚌埠市场监管局: http://amr.bengbu.gov.cn/</a:t>
            </a:r>
          </a:p>
          <a:p>
            <a:pPr>
              <a:defRPr sz="800">
                <a:solidFill>
                  <a:srgbClr val="AAB9C8"/>
                </a:solidFill>
              </a:defRPr>
            </a:pPr>
            <a:r>
              <a:t>创业补贴政策: http://rsj.bengbu.gov.cn/xxgk/gsgg/202403/t20240306_3567238.html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7680960"/>
            <a:ext cx="1371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900">
                <a:solidFill>
                  <a:srgbClr val="788CA0"/>
                </a:solidFill>
              </a:defRPr>
            </a:pPr>
            <a:r>
              <a:t>Copyright © 2026 何晓冬. All Rights Reserved.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Oval 2"/>
          <p:cNvSpPr/>
          <p:nvPr/>
        </p:nvSpPr>
        <p:spPr>
          <a:xfrm>
            <a:off x="9144000" y="-1828800"/>
            <a:ext cx="10972800" cy="9144000"/>
          </a:xfrm>
          <a:prstGeom prst="ellipse">
            <a:avLst/>
          </a:prstGeom>
          <a:solidFill>
            <a:srgbClr val="FF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FF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 rot="20700000">
            <a:off x="1371600" y="16459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© 何晓冬 | A2A协议深度解析</a:t>
            </a:r>
          </a:p>
        </p:txBody>
      </p:sp>
      <p:sp>
        <p:nvSpPr>
          <p:cNvPr id="6" name="TextBox 5"/>
          <p:cNvSpPr txBox="1"/>
          <p:nvPr/>
        </p:nvSpPr>
        <p:spPr>
          <a:xfrm rot="20700000">
            <a:off x="1371600" y="34747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© 何晓冬 | A2A协议深度解析</a:t>
            </a:r>
          </a:p>
        </p:txBody>
      </p:sp>
      <p:sp>
        <p:nvSpPr>
          <p:cNvPr id="7" name="TextBox 6"/>
          <p:cNvSpPr txBox="1"/>
          <p:nvPr/>
        </p:nvSpPr>
        <p:spPr>
          <a:xfrm rot="20700000">
            <a:off x="1371600" y="53035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© 何晓冬 | A2A协议深度解析</a:t>
            </a:r>
          </a:p>
        </p:txBody>
      </p:sp>
      <p:sp>
        <p:nvSpPr>
          <p:cNvPr id="8" name="TextBox 7"/>
          <p:cNvSpPr txBox="1"/>
          <p:nvPr/>
        </p:nvSpPr>
        <p:spPr>
          <a:xfrm rot="20700000">
            <a:off x="1371600" y="71323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© 何晓冬 | A2A协议深度解析</a:t>
            </a:r>
          </a:p>
        </p:txBody>
      </p:sp>
      <p:sp>
        <p:nvSpPr>
          <p:cNvPr id="9" name="TextBox 8"/>
          <p:cNvSpPr txBox="1"/>
          <p:nvPr/>
        </p:nvSpPr>
        <p:spPr>
          <a:xfrm rot="20700000">
            <a:off x="5943600" y="16459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© 何晓冬 | A2A协议深度解析</a:t>
            </a:r>
          </a:p>
        </p:txBody>
      </p:sp>
      <p:sp>
        <p:nvSpPr>
          <p:cNvPr id="10" name="TextBox 9"/>
          <p:cNvSpPr txBox="1"/>
          <p:nvPr/>
        </p:nvSpPr>
        <p:spPr>
          <a:xfrm rot="20700000">
            <a:off x="5943600" y="34747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© 何晓冬 | A2A协议深度解析</a:t>
            </a:r>
          </a:p>
        </p:txBody>
      </p:sp>
      <p:sp>
        <p:nvSpPr>
          <p:cNvPr id="11" name="TextBox 10"/>
          <p:cNvSpPr txBox="1"/>
          <p:nvPr/>
        </p:nvSpPr>
        <p:spPr>
          <a:xfrm rot="20700000">
            <a:off x="5943600" y="53035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© 何晓冬 | A2A协议深度解析</a:t>
            </a:r>
          </a:p>
        </p:txBody>
      </p:sp>
      <p:sp>
        <p:nvSpPr>
          <p:cNvPr id="12" name="TextBox 11"/>
          <p:cNvSpPr txBox="1"/>
          <p:nvPr/>
        </p:nvSpPr>
        <p:spPr>
          <a:xfrm rot="20700000">
            <a:off x="5943600" y="71323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© 何晓冬 | A2A协议深度解析</a:t>
            </a:r>
          </a:p>
        </p:txBody>
      </p:sp>
      <p:sp>
        <p:nvSpPr>
          <p:cNvPr id="13" name="TextBox 12"/>
          <p:cNvSpPr txBox="1"/>
          <p:nvPr/>
        </p:nvSpPr>
        <p:spPr>
          <a:xfrm rot="20700000">
            <a:off x="10515600" y="16459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© 何晓冬 | A2A协议深度解析</a:t>
            </a:r>
          </a:p>
        </p:txBody>
      </p:sp>
      <p:sp>
        <p:nvSpPr>
          <p:cNvPr id="14" name="TextBox 13"/>
          <p:cNvSpPr txBox="1"/>
          <p:nvPr/>
        </p:nvSpPr>
        <p:spPr>
          <a:xfrm rot="20700000">
            <a:off x="10515600" y="34747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© 何晓冬 | A2A协议深度解析</a:t>
            </a:r>
          </a:p>
        </p:txBody>
      </p:sp>
      <p:sp>
        <p:nvSpPr>
          <p:cNvPr id="15" name="TextBox 14"/>
          <p:cNvSpPr txBox="1"/>
          <p:nvPr/>
        </p:nvSpPr>
        <p:spPr>
          <a:xfrm rot="20700000">
            <a:off x="10515600" y="53035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© 何晓冬 | A2A协议深度解析</a:t>
            </a:r>
          </a:p>
        </p:txBody>
      </p:sp>
      <p:sp>
        <p:nvSpPr>
          <p:cNvPr id="16" name="TextBox 15"/>
          <p:cNvSpPr txBox="1"/>
          <p:nvPr/>
        </p:nvSpPr>
        <p:spPr>
          <a:xfrm rot="20700000">
            <a:off x="10515600" y="71323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© 何晓冬 | A2A协议深度解析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200" b="1">
                <a:solidFill>
                  <a:srgbClr val="FF96C8"/>
                </a:solidFill>
              </a:defRPr>
            </a:pPr>
            <a:r>
              <a:t>第十章：AI大模型发展趋势与软件生态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9144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100">
                <a:solidFill>
                  <a:srgbClr val="F5E6F5"/>
                </a:solidFill>
              </a:defRPr>
            </a:pPr>
            <a:r>
              <a:t>AI大模型正处于爆发式发展阶段，算力成本是关键考量因素。API调用方式：GPT-4V每图$0.01，GPT-4每千token$0.03，豆包个人版¥99/月起。私有化部署：Llama 3-70B需4xA100，月费用¥5-12万；轻量模型如Phi-3仅需RTX 4090，月费用¥0.5-2万。云端租赁（AWS/GCP/Azure）按需付费，月费用¥2-20万。企业需根据数据敏感性和预算选择合适的部署方案。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65760" y="1828800"/>
          <a:ext cx="1353312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3680"/>
                <a:gridCol w="1503680"/>
                <a:gridCol w="1503680"/>
                <a:gridCol w="1503680"/>
                <a:gridCol w="1503680"/>
                <a:gridCol w="1503680"/>
                <a:gridCol w="1503680"/>
                <a:gridCol w="1503680"/>
                <a:gridCol w="150368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模型类型</a:t>
                      </a:r>
                    </a:p>
                  </a:txBody>
                  <a:tcPr>
                    <a:solidFill>
                      <a:srgbClr val="FF96C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代表产品</a:t>
                      </a:r>
                    </a:p>
                  </a:txBody>
                  <a:tcPr>
                    <a:solidFill>
                      <a:srgbClr val="FF96C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部署方式</a:t>
                      </a:r>
                    </a:p>
                  </a:txBody>
                  <a:tcPr>
                    <a:solidFill>
                      <a:srgbClr val="FF96C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GPU需求</a:t>
                      </a:r>
                    </a:p>
                  </a:txBody>
                  <a:tcPr>
                    <a:solidFill>
                      <a:srgbClr val="FF96C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算力费用/月</a:t>
                      </a:r>
                    </a:p>
                  </a:txBody>
                  <a:tcPr>
                    <a:solidFill>
                      <a:srgbClr val="FF96C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API调用成本</a:t>
                      </a:r>
                    </a:p>
                  </a:txBody>
                  <a:tcPr>
                    <a:solidFill>
                      <a:srgbClr val="FF96C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优点</a:t>
                      </a:r>
                    </a:p>
                  </a:txBody>
                  <a:tcPr>
                    <a:solidFill>
                      <a:srgbClr val="FF96C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缺点</a:t>
                      </a:r>
                    </a:p>
                  </a:txBody>
                  <a:tcPr>
                    <a:solidFill>
                      <a:srgbClr val="FF96C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适用场景</a:t>
                      </a:r>
                    </a:p>
                  </a:txBody>
                  <a:tcPr>
                    <a:solidFill>
                      <a:srgbClr val="FF96C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多模态大模型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GPT-4V、Gemini Ultra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API调用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4xA100/80GB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¥8-15万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GPT-4V: $0.01/image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能力最强、多模态融合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成本高、数据安全风险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创意设计、内容创作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文本大模型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GPT-4、Claude 3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API调用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8xA100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¥12-25万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GPT-4: $0.03/1K tokens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推理强、上下文深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成本高、无本地化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代码生成、数据分析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开源大模型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Llama 3-70B、Qwen-72B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私有化部署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4xA100/40GB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¥5-12万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免费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数据安全、定制灵活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技术门槛高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企业内部系统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垂直领域模型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Med-PaLM、CodeLlama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本地/私有化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2xA100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¥3-8万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按需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专业知识强、精准输出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通用性弱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医疗、法律、编程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国产大模型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文心一言、豆包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API+私有化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8xH100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¥15-30万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豆包: ¥99/月起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本土化支持、合规性好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能力略逊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政企服务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轻量模型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Phi-3、Llama 3-8B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本地部署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RTX 4090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¥0.5-2万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免费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速度快、资源需求低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能力有限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移动端、IoT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DeepSeek系列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DeepSeek-R1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API+本地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4xA100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¥6-12万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API: ¥0.002/1K tokens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长上下文、数学推理强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知名度低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科研教育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Qwen系列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Qwen 2-72B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私有化部署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4xA100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¥5-10万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免费商用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多语言、社区活跃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生态相对小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跨境服务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Doubao系列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豆包企业版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API调用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云端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按需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企业版: ¥1999/月起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娱乐性强、生活化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专业能力有限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消费级应用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云端租赁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AWS/GCP/Azure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云部署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按需配置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¥2-20万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按需付费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弹性伸缩、免维护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成本波动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弹性业务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边缘部署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NVIDIA Jetson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本地边缘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Jetson AGX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¥0.3-1万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免费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低延迟、隐私保护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能力有限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IoT、边缘计算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40080" y="5943600"/>
            <a:ext cx="12801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100" b="1">
                <a:solidFill>
                  <a:srgbClr val="64DCFF"/>
                </a:solidFill>
              </a:defRPr>
            </a:pPr>
            <a:r>
              <a:t>📚 拓展学习资源</a:t>
            </a:r>
          </a:p>
          <a:p>
            <a:pPr>
              <a:defRPr sz="800">
                <a:solidFill>
                  <a:srgbClr val="AAB9C8"/>
                </a:solidFill>
              </a:defRPr>
            </a:pPr>
            <a:r>
              <a:t>GPT-4V: https://openai.com/research/gpt-4v-system-card</a:t>
            </a:r>
          </a:p>
          <a:p>
            <a:pPr>
              <a:defRPr sz="800">
                <a:solidFill>
                  <a:srgbClr val="AAB9C8"/>
                </a:solidFill>
              </a:defRPr>
            </a:pPr>
            <a:r>
              <a:t>Gemini: https://deepmind.google/technologies/gemini/</a:t>
            </a:r>
          </a:p>
          <a:p>
            <a:pPr>
              <a:defRPr sz="800">
                <a:solidFill>
                  <a:srgbClr val="AAB9C8"/>
                </a:solidFill>
              </a:defRPr>
            </a:pPr>
            <a:r>
              <a:t>Llama 3: https://ai.meta.com/llama/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7680960"/>
            <a:ext cx="1371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900">
                <a:solidFill>
                  <a:srgbClr val="788CA0"/>
                </a:solidFill>
              </a:defRPr>
            </a:pPr>
            <a:r>
              <a:t>Copyright © 2026 何晓冬. All Rights Reserved.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4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Oval 2"/>
          <p:cNvSpPr/>
          <p:nvPr/>
        </p:nvSpPr>
        <p:spPr>
          <a:xfrm>
            <a:off x="9144000" y="-1828800"/>
            <a:ext cx="10972800" cy="9144000"/>
          </a:xfrm>
          <a:prstGeom prst="ellipse">
            <a:avLst/>
          </a:prstGeom>
          <a:solidFill>
            <a:srgbClr val="8B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8B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 rot="20700000">
            <a:off x="1371600" y="16459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© 何晓冬 | A2A协议深度解析</a:t>
            </a:r>
          </a:p>
        </p:txBody>
      </p:sp>
      <p:sp>
        <p:nvSpPr>
          <p:cNvPr id="6" name="TextBox 5"/>
          <p:cNvSpPr txBox="1"/>
          <p:nvPr/>
        </p:nvSpPr>
        <p:spPr>
          <a:xfrm rot="20700000">
            <a:off x="1371600" y="34747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© 何晓冬 | A2A协议深度解析</a:t>
            </a:r>
          </a:p>
        </p:txBody>
      </p:sp>
      <p:sp>
        <p:nvSpPr>
          <p:cNvPr id="7" name="TextBox 6"/>
          <p:cNvSpPr txBox="1"/>
          <p:nvPr/>
        </p:nvSpPr>
        <p:spPr>
          <a:xfrm rot="20700000">
            <a:off x="1371600" y="53035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© 何晓冬 | A2A协议深度解析</a:t>
            </a:r>
          </a:p>
        </p:txBody>
      </p:sp>
      <p:sp>
        <p:nvSpPr>
          <p:cNvPr id="8" name="TextBox 7"/>
          <p:cNvSpPr txBox="1"/>
          <p:nvPr/>
        </p:nvSpPr>
        <p:spPr>
          <a:xfrm rot="20700000">
            <a:off x="1371600" y="71323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© 何晓冬 | A2A协议深度解析</a:t>
            </a:r>
          </a:p>
        </p:txBody>
      </p:sp>
      <p:sp>
        <p:nvSpPr>
          <p:cNvPr id="9" name="TextBox 8"/>
          <p:cNvSpPr txBox="1"/>
          <p:nvPr/>
        </p:nvSpPr>
        <p:spPr>
          <a:xfrm rot="20700000">
            <a:off x="5943600" y="16459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© 何晓冬 | A2A协议深度解析</a:t>
            </a:r>
          </a:p>
        </p:txBody>
      </p:sp>
      <p:sp>
        <p:nvSpPr>
          <p:cNvPr id="10" name="TextBox 9"/>
          <p:cNvSpPr txBox="1"/>
          <p:nvPr/>
        </p:nvSpPr>
        <p:spPr>
          <a:xfrm rot="20700000">
            <a:off x="5943600" y="34747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© 何晓冬 | A2A协议深度解析</a:t>
            </a:r>
          </a:p>
        </p:txBody>
      </p:sp>
      <p:sp>
        <p:nvSpPr>
          <p:cNvPr id="11" name="TextBox 10"/>
          <p:cNvSpPr txBox="1"/>
          <p:nvPr/>
        </p:nvSpPr>
        <p:spPr>
          <a:xfrm rot="20700000">
            <a:off x="5943600" y="53035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© 何晓冬 | A2A协议深度解析</a:t>
            </a:r>
          </a:p>
        </p:txBody>
      </p:sp>
      <p:sp>
        <p:nvSpPr>
          <p:cNvPr id="12" name="TextBox 11"/>
          <p:cNvSpPr txBox="1"/>
          <p:nvPr/>
        </p:nvSpPr>
        <p:spPr>
          <a:xfrm rot="20700000">
            <a:off x="5943600" y="71323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© 何晓冬 | A2A协议深度解析</a:t>
            </a:r>
          </a:p>
        </p:txBody>
      </p:sp>
      <p:sp>
        <p:nvSpPr>
          <p:cNvPr id="13" name="TextBox 12"/>
          <p:cNvSpPr txBox="1"/>
          <p:nvPr/>
        </p:nvSpPr>
        <p:spPr>
          <a:xfrm rot="20700000">
            <a:off x="10515600" y="16459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© 何晓冬 | A2A协议深度解析</a:t>
            </a:r>
          </a:p>
        </p:txBody>
      </p:sp>
      <p:sp>
        <p:nvSpPr>
          <p:cNvPr id="14" name="TextBox 13"/>
          <p:cNvSpPr txBox="1"/>
          <p:nvPr/>
        </p:nvSpPr>
        <p:spPr>
          <a:xfrm rot="20700000">
            <a:off x="10515600" y="34747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© 何晓冬 | A2A协议深度解析</a:t>
            </a:r>
          </a:p>
        </p:txBody>
      </p:sp>
      <p:sp>
        <p:nvSpPr>
          <p:cNvPr id="15" name="TextBox 14"/>
          <p:cNvSpPr txBox="1"/>
          <p:nvPr/>
        </p:nvSpPr>
        <p:spPr>
          <a:xfrm rot="20700000">
            <a:off x="10515600" y="53035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© 何晓冬 | A2A协议深度解析</a:t>
            </a:r>
          </a:p>
        </p:txBody>
      </p:sp>
      <p:sp>
        <p:nvSpPr>
          <p:cNvPr id="16" name="TextBox 15"/>
          <p:cNvSpPr txBox="1"/>
          <p:nvPr/>
        </p:nvSpPr>
        <p:spPr>
          <a:xfrm rot="20700000">
            <a:off x="10515600" y="71323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© 何晓冬 | A2A协议深度解析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200" b="1">
                <a:solidFill>
                  <a:srgbClr val="8B5A2B"/>
                </a:solidFill>
              </a:defRPr>
            </a:pPr>
            <a:r>
              <a:t>第十一章：核心内容总结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9144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100">
                <a:solidFill>
                  <a:srgbClr val="F5EBDC"/>
                </a:solidFill>
              </a:defRPr>
            </a:pPr>
            <a:r>
              <a:t>本PPT系统阐述了A2A协议与AI智能体的完整知识体系：从协议架构到安全合规，从部署运维到性能优化，从实战案例到未来趋势，从人才规划到创业指南，全面覆盖AI智能体技术栈。**核心价值**在于构建端到端的企业智能化解决方案，助力蚌埠市AI产业升级与人才发展。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65760" y="1828800"/>
          <a:ext cx="1353312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/>
                <a:gridCol w="1691640"/>
                <a:gridCol w="1691640"/>
                <a:gridCol w="1691640"/>
                <a:gridCol w="1691640"/>
                <a:gridCol w="1691640"/>
                <a:gridCol w="1691640"/>
                <a:gridCol w="169164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720" b="1">
                          <a:solidFill>
                            <a:srgbClr val="FFFFFF"/>
                          </a:solidFill>
                        </a:defRPr>
                      </a:pPr>
                      <a:r>
                        <a:t>章节</a:t>
                      </a:r>
                    </a:p>
                  </a:txBody>
                  <a:tcPr>
                    <a:solidFill>
                      <a:srgbClr val="8B5A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 b="1">
                          <a:solidFill>
                            <a:srgbClr val="FFFFFF"/>
                          </a:solidFill>
                        </a:defRPr>
                      </a:pPr>
                      <a:r>
                        <a:t>核心内容</a:t>
                      </a:r>
                    </a:p>
                  </a:txBody>
                  <a:tcPr>
                    <a:solidFill>
                      <a:srgbClr val="8B5A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 b="1">
                          <a:solidFill>
                            <a:srgbClr val="FFFFFF"/>
                          </a:solidFill>
                        </a:defRPr>
                      </a:pPr>
                      <a:r>
                        <a:t>关键技术</a:t>
                      </a:r>
                    </a:p>
                  </a:txBody>
                  <a:tcPr>
                    <a:solidFill>
                      <a:srgbClr val="8B5A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 b="1">
                          <a:solidFill>
                            <a:srgbClr val="FFFFFF"/>
                          </a:solidFill>
                        </a:defRPr>
                      </a:pPr>
                      <a:r>
                        <a:t>业务价值</a:t>
                      </a:r>
                    </a:p>
                  </a:txBody>
                  <a:tcPr>
                    <a:solidFill>
                      <a:srgbClr val="8B5A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 b="1">
                          <a:solidFill>
                            <a:srgbClr val="FFFFFF"/>
                          </a:solidFill>
                        </a:defRPr>
                      </a:pPr>
                      <a:r>
                        <a:t>实战要点</a:t>
                      </a:r>
                    </a:p>
                  </a:txBody>
                  <a:tcPr>
                    <a:solidFill>
                      <a:srgbClr val="8B5A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 b="1">
                          <a:solidFill>
                            <a:srgbClr val="FFFFFF"/>
                          </a:solidFill>
                        </a:defRPr>
                      </a:pPr>
                      <a:r>
                        <a:t>投资回报</a:t>
                      </a:r>
                    </a:p>
                  </a:txBody>
                  <a:tcPr>
                    <a:solidFill>
                      <a:srgbClr val="8B5A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 b="1">
                          <a:solidFill>
                            <a:srgbClr val="FFFFFF"/>
                          </a:solidFill>
                        </a:defRPr>
                      </a:pPr>
                      <a:r>
                        <a:t>蚌埠机遇</a:t>
                      </a:r>
                    </a:p>
                  </a:txBody>
                  <a:tcPr>
                    <a:solidFill>
                      <a:srgbClr val="8B5A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 b="1">
                          <a:solidFill>
                            <a:srgbClr val="FFFFFF"/>
                          </a:solidFill>
                        </a:defRPr>
                      </a:pPr>
                      <a:r>
                        <a:t>核心价值</a:t>
                      </a:r>
                    </a:p>
                  </a:txBody>
                  <a:tcPr>
                    <a:solidFill>
                      <a:srgbClr val="8B5A2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F5EBDC"/>
                          </a:solidFill>
                        </a:defRPr>
                      </a:pPr>
                      <a:r>
                        <a:t>第1章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F5EBDC"/>
                          </a:solidFill>
                        </a:defRPr>
                      </a:pPr>
                      <a:r>
                        <a:t>A2A协议架构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F5EBDC"/>
                          </a:solidFill>
                        </a:defRPr>
                      </a:pPr>
                      <a:r>
                        <a:t>Agent Cards、标准化消息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 b="1">
                          <a:solidFill>
                            <a:srgbClr val="8B4513"/>
                          </a:solidFill>
                        </a:defRPr>
                      </a:pPr>
                      <a:r>
                        <a:t>互操作性提升60%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F5EBDC"/>
                          </a:solidFill>
                        </a:defRPr>
                      </a:pPr>
                      <a:r>
                        <a:t>跨平台协作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F5EBDC"/>
                          </a:solidFill>
                        </a:defRPr>
                      </a:pPr>
                      <a:r>
                        <a:t>18个月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F5EBDC"/>
                          </a:solidFill>
                        </a:defRPr>
                      </a:pPr>
                      <a:r>
                        <a:t>生态整合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F5EBDC"/>
                          </a:solidFill>
                        </a:defRPr>
                      </a:pPr>
                      <a:r>
                        <a:t>打破平台壁垒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F5EBDC"/>
                          </a:solidFill>
                        </a:defRPr>
                      </a:pPr>
                      <a:r>
                        <a:t>第2章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F5EBDC"/>
                          </a:solidFill>
                        </a:defRPr>
                      </a:pPr>
                      <a:r>
                        <a:t>协议规范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F5EBDC"/>
                          </a:solidFill>
                        </a:defRPr>
                      </a:pPr>
                      <a:r>
                        <a:t>JSON-RPC 2.0、gRPC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 b="1">
                          <a:solidFill>
                            <a:srgbClr val="8B4513"/>
                          </a:solidFill>
                        </a:defRPr>
                      </a:pPr>
                      <a:r>
                        <a:t>通信效率提升10x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F5EBDC"/>
                          </a:solidFill>
                        </a:defRPr>
                      </a:pPr>
                      <a:r>
                        <a:t>低延迟通信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F5EBDC"/>
                          </a:solidFill>
                        </a:defRPr>
                      </a:pPr>
                      <a:r>
                        <a:t>12个月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F5EBDC"/>
                          </a:solidFill>
                        </a:defRPr>
                      </a:pPr>
                      <a:r>
                        <a:t>技术基础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F5EBDC"/>
                          </a:solidFill>
                        </a:defRPr>
                      </a:pPr>
                      <a:r>
                        <a:t>标准化接口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F5EBDC"/>
                          </a:solidFill>
                        </a:defRPr>
                      </a:pPr>
                      <a:r>
                        <a:t>第3章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F5EBDC"/>
                          </a:solidFill>
                        </a:defRPr>
                      </a:pPr>
                      <a:r>
                        <a:t>安全合规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F5EBDC"/>
                          </a:solidFill>
                        </a:defRPr>
                      </a:pPr>
                      <a:r>
                        <a:t>OAuth2、mTLS、零信任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 b="1">
                          <a:solidFill>
                            <a:srgbClr val="8B4513"/>
                          </a:solidFill>
                        </a:defRPr>
                      </a:pPr>
                      <a:r>
                        <a:t>合规成本降低40%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F5EBDC"/>
                          </a:solidFill>
                        </a:defRPr>
                      </a:pPr>
                      <a:r>
                        <a:t>金融级安全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F5EBDC"/>
                          </a:solidFill>
                        </a:defRPr>
                      </a:pPr>
                      <a:r>
                        <a:t>24个月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F5EBDC"/>
                          </a:solidFill>
                        </a:defRPr>
                      </a:pPr>
                      <a:r>
                        <a:t>信任背书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F5EBDC"/>
                          </a:solidFill>
                        </a:defRPr>
                      </a:pPr>
                      <a:r>
                        <a:t>数据安全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F5EBDC"/>
                          </a:solidFill>
                        </a:defRPr>
                      </a:pPr>
                      <a:r>
                        <a:t>第4章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F5EBDC"/>
                          </a:solidFill>
                        </a:defRPr>
                      </a:pPr>
                      <a:r>
                        <a:t>部署运维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F5EBDC"/>
                          </a:solidFill>
                        </a:defRPr>
                      </a:pPr>
                      <a:r>
                        <a:t>K8s、自动扩缩容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 b="1">
                          <a:solidFill>
                            <a:srgbClr val="8B4513"/>
                          </a:solidFill>
                        </a:defRPr>
                      </a:pPr>
                      <a:r>
                        <a:t>可用性99.99%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F5EBDC"/>
                          </a:solidFill>
                        </a:defRPr>
                      </a:pPr>
                      <a:r>
                        <a:t>高可用架构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F5EBDC"/>
                          </a:solidFill>
                        </a:defRPr>
                      </a:pPr>
                      <a:r>
                        <a:t>18个月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F5EBDC"/>
                          </a:solidFill>
                        </a:defRPr>
                      </a:pPr>
                      <a:r>
                        <a:t>基础设施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F5EBDC"/>
                          </a:solidFill>
                        </a:defRPr>
                      </a:pPr>
                      <a:r>
                        <a:t>业务连续性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F5EBDC"/>
                          </a:solidFill>
                        </a:defRPr>
                      </a:pPr>
                      <a:r>
                        <a:t>第5章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F5EBDC"/>
                          </a:solidFill>
                        </a:defRPr>
                      </a:pPr>
                      <a:r>
                        <a:t>性能优化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F5EBDC"/>
                          </a:solidFill>
                        </a:defRPr>
                      </a:pPr>
                      <a:r>
                        <a:t>缓存、异步IO、AI推理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 b="1">
                          <a:solidFill>
                            <a:srgbClr val="8B4513"/>
                          </a:solidFill>
                        </a:defRPr>
                      </a:pPr>
                      <a:r>
                        <a:t>性能提升3x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F5EBDC"/>
                          </a:solidFill>
                        </a:defRPr>
                      </a:pPr>
                      <a:r>
                        <a:t>大规模承载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F5EBDC"/>
                          </a:solidFill>
                        </a:defRPr>
                      </a:pPr>
                      <a:r>
                        <a:t>12个月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 b="1">
                          <a:solidFill>
                            <a:srgbClr val="8B4513"/>
                          </a:solidFill>
                        </a:defRPr>
                      </a:pPr>
                      <a:r>
                        <a:t>效率提升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F5EBDC"/>
                          </a:solidFill>
                        </a:defRPr>
                      </a:pPr>
                      <a:r>
                        <a:t>用户体验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F5EBDC"/>
                          </a:solidFill>
                        </a:defRPr>
                      </a:pPr>
                      <a:r>
                        <a:t>第6章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F5EBDC"/>
                          </a:solidFill>
                        </a:defRPr>
                      </a:pPr>
                      <a:r>
                        <a:t>实战案例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F5EBDC"/>
                          </a:solidFill>
                        </a:defRPr>
                      </a:pPr>
                      <a:r>
                        <a:t>供应链、风控、医疗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 b="1">
                          <a:solidFill>
                            <a:srgbClr val="8B4513"/>
                          </a:solidFill>
                        </a:defRPr>
                      </a:pPr>
                      <a:r>
                        <a:t>效率提升40%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F5EBDC"/>
                          </a:solidFill>
                        </a:defRPr>
                      </a:pPr>
                      <a:r>
                        <a:t>行业落地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F5EBDC"/>
                          </a:solidFill>
                        </a:defRPr>
                      </a:pPr>
                      <a:r>
                        <a:t>18-36个月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F5EBDC"/>
                          </a:solidFill>
                        </a:defRPr>
                      </a:pPr>
                      <a:r>
                        <a:t>案例借鉴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F5EBDC"/>
                          </a:solidFill>
                        </a:defRPr>
                      </a:pPr>
                      <a:r>
                        <a:t>价值验证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F5EBDC"/>
                          </a:solidFill>
                        </a:defRPr>
                      </a:pPr>
                      <a:r>
                        <a:t>第7章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F5EBDC"/>
                          </a:solidFill>
                        </a:defRPr>
                      </a:pPr>
                      <a:r>
                        <a:t>AI趋势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F5EBDC"/>
                          </a:solidFill>
                        </a:defRPr>
                      </a:pPr>
                      <a:r>
                        <a:t>2026-2046演进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 b="1">
                          <a:solidFill>
                            <a:srgbClr val="8B4513"/>
                          </a:solidFill>
                        </a:defRPr>
                      </a:pPr>
                      <a:r>
                        <a:t>抢占先机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F5EBDC"/>
                          </a:solidFill>
                        </a:defRPr>
                      </a:pPr>
                      <a:r>
                        <a:t>战略布局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F5EBDC"/>
                          </a:solidFill>
                        </a:defRPr>
                      </a:pPr>
                      <a:r>
                        <a:t>长期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F5EBDC"/>
                          </a:solidFill>
                        </a:defRPr>
                      </a:pPr>
                      <a:r>
                        <a:t>产业升级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F5EBDC"/>
                          </a:solidFill>
                        </a:defRPr>
                      </a:pPr>
                      <a:r>
                        <a:t>前瞻布局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F5EBDC"/>
                          </a:solidFill>
                        </a:defRPr>
                      </a:pPr>
                      <a:r>
                        <a:t>第8章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F5EBDC"/>
                          </a:solidFill>
                        </a:defRPr>
                      </a:pPr>
                      <a:r>
                        <a:t>人才规划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F5EBDC"/>
                          </a:solidFill>
                        </a:defRPr>
                      </a:pPr>
                      <a:r>
                        <a:t>全人群招聘策略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 b="1">
                          <a:solidFill>
                            <a:srgbClr val="8B4513"/>
                          </a:solidFill>
                        </a:defRPr>
                      </a:pPr>
                      <a:r>
                        <a:t>人才储备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F5EBDC"/>
                          </a:solidFill>
                        </a:defRPr>
                      </a:pPr>
                      <a:r>
                        <a:t>本地就业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F5EBDC"/>
                          </a:solidFill>
                        </a:defRPr>
                      </a:pPr>
                      <a:r>
                        <a:t>持续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F5EBDC"/>
                          </a:solidFill>
                        </a:defRPr>
                      </a:pPr>
                      <a:r>
                        <a:t>人力资源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F5EBDC"/>
                          </a:solidFill>
                        </a:defRPr>
                      </a:pPr>
                      <a:r>
                        <a:t>团队建设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F5EBDC"/>
                          </a:solidFill>
                        </a:defRPr>
                      </a:pPr>
                      <a:r>
                        <a:t>第9章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F5EBDC"/>
                          </a:solidFill>
                        </a:defRPr>
                      </a:pPr>
                      <a:r>
                        <a:t>创业指南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F5EBDC"/>
                          </a:solidFill>
                        </a:defRPr>
                      </a:pPr>
                      <a:r>
                        <a:t>执照办理、政策支持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 b="1">
                          <a:solidFill>
                            <a:srgbClr val="8B4513"/>
                          </a:solidFill>
                        </a:defRPr>
                      </a:pPr>
                      <a:r>
                        <a:t>创业便利化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F5EBDC"/>
                          </a:solidFill>
                        </a:defRPr>
                      </a:pPr>
                      <a:r>
                        <a:t>零成本注册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F5EBDC"/>
                          </a:solidFill>
                        </a:defRPr>
                      </a:pPr>
                      <a:r>
                        <a:t>短期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F5EBDC"/>
                          </a:solidFill>
                        </a:defRPr>
                      </a:pPr>
                      <a:r>
                        <a:t>创业环境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F5EBDC"/>
                          </a:solidFill>
                        </a:defRPr>
                      </a:pPr>
                      <a:r>
                        <a:t>营商环境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F5EBDC"/>
                          </a:solidFill>
                        </a:defRPr>
                      </a:pPr>
                      <a:r>
                        <a:t>第10章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F5EBDC"/>
                          </a:solidFill>
                        </a:defRPr>
                      </a:pPr>
                      <a:r>
                        <a:t>大模型生态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F5EBDC"/>
                          </a:solidFill>
                        </a:defRPr>
                      </a:pPr>
                      <a:r>
                        <a:t>多模态、开源、费用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 b="1">
                          <a:solidFill>
                            <a:srgbClr val="8B4513"/>
                          </a:solidFill>
                        </a:defRPr>
                      </a:pPr>
                      <a:r>
                        <a:t>选型决策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F5EBDC"/>
                          </a:solidFill>
                        </a:defRPr>
                      </a:pPr>
                      <a:r>
                        <a:t>成本优化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F5EBDC"/>
                          </a:solidFill>
                        </a:defRPr>
                      </a:pPr>
                      <a:r>
                        <a:t>持续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F5EBDC"/>
                          </a:solidFill>
                        </a:defRPr>
                      </a:pPr>
                      <a:r>
                        <a:t>技术选型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F5EBDC"/>
                          </a:solidFill>
                        </a:defRPr>
                      </a:pPr>
                      <a:r>
                        <a:t>AI能力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F5EBDC"/>
                          </a:solidFill>
                        </a:defRPr>
                      </a:pPr>
                      <a:r>
                        <a:t>总结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F5EBDC"/>
                          </a:solidFill>
                        </a:defRPr>
                      </a:pPr>
                      <a:r>
                        <a:t>A2A+AI智能体体系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F5EBDC"/>
                          </a:solidFill>
                        </a:defRPr>
                      </a:pPr>
                      <a:r>
                        <a:t>端到端解决方案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 b="1">
                          <a:solidFill>
                            <a:srgbClr val="8B4513"/>
                          </a:solidFill>
                        </a:defRPr>
                      </a:pPr>
                      <a:r>
                        <a:t>企业智能化升级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F5EBDC"/>
                          </a:solidFill>
                        </a:defRPr>
                      </a:pPr>
                      <a:r>
                        <a:t>技术+人才+生态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F5EBDC"/>
                          </a:solidFill>
                        </a:defRPr>
                      </a:pPr>
                      <a:r>
                        <a:t>长期价值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F5EBDC"/>
                          </a:solidFill>
                        </a:defRPr>
                      </a:pPr>
                      <a:r>
                        <a:t>蚌埠AI产业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F5EBDC"/>
                          </a:solidFill>
                        </a:defRPr>
                      </a:pPr>
                      <a:r>
                        <a:t>全面发展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457200" y="7680960"/>
            <a:ext cx="1371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900">
                <a:solidFill>
                  <a:srgbClr val="788CA0"/>
                </a:solidFill>
              </a:defRPr>
            </a:pPr>
            <a:r>
              <a:t>Copyright © 2026 何晓冬. All Rights Reserved.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Oval 2"/>
          <p:cNvSpPr/>
          <p:nvPr/>
        </p:nvSpPr>
        <p:spPr>
          <a:xfrm>
            <a:off x="4572000" y="-1828800"/>
            <a:ext cx="12801600" cy="10972800"/>
          </a:xfrm>
          <a:prstGeom prst="ellipse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 rot="20700000">
            <a:off x="1371600" y="16459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© 何晓冬 | A2A协议深度解析</a:t>
            </a:r>
          </a:p>
        </p:txBody>
      </p:sp>
      <p:sp>
        <p:nvSpPr>
          <p:cNvPr id="6" name="TextBox 5"/>
          <p:cNvSpPr txBox="1"/>
          <p:nvPr/>
        </p:nvSpPr>
        <p:spPr>
          <a:xfrm rot="20700000">
            <a:off x="1371600" y="34747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© 何晓冬 | A2A协议深度解析</a:t>
            </a:r>
          </a:p>
        </p:txBody>
      </p:sp>
      <p:sp>
        <p:nvSpPr>
          <p:cNvPr id="7" name="TextBox 6"/>
          <p:cNvSpPr txBox="1"/>
          <p:nvPr/>
        </p:nvSpPr>
        <p:spPr>
          <a:xfrm rot="20700000">
            <a:off x="1371600" y="53035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© 何晓冬 | A2A协议深度解析</a:t>
            </a:r>
          </a:p>
        </p:txBody>
      </p:sp>
      <p:sp>
        <p:nvSpPr>
          <p:cNvPr id="8" name="TextBox 7"/>
          <p:cNvSpPr txBox="1"/>
          <p:nvPr/>
        </p:nvSpPr>
        <p:spPr>
          <a:xfrm rot="20700000">
            <a:off x="1371600" y="71323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© 何晓冬 | A2A协议深度解析</a:t>
            </a:r>
          </a:p>
        </p:txBody>
      </p:sp>
      <p:sp>
        <p:nvSpPr>
          <p:cNvPr id="9" name="TextBox 8"/>
          <p:cNvSpPr txBox="1"/>
          <p:nvPr/>
        </p:nvSpPr>
        <p:spPr>
          <a:xfrm rot="20700000">
            <a:off x="5943600" y="16459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© 何晓冬 | A2A协议深度解析</a:t>
            </a:r>
          </a:p>
        </p:txBody>
      </p:sp>
      <p:sp>
        <p:nvSpPr>
          <p:cNvPr id="10" name="TextBox 9"/>
          <p:cNvSpPr txBox="1"/>
          <p:nvPr/>
        </p:nvSpPr>
        <p:spPr>
          <a:xfrm rot="20700000">
            <a:off x="5943600" y="34747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© 何晓冬 | A2A协议深度解析</a:t>
            </a:r>
          </a:p>
        </p:txBody>
      </p:sp>
      <p:sp>
        <p:nvSpPr>
          <p:cNvPr id="11" name="TextBox 10"/>
          <p:cNvSpPr txBox="1"/>
          <p:nvPr/>
        </p:nvSpPr>
        <p:spPr>
          <a:xfrm rot="20700000">
            <a:off x="5943600" y="53035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© 何晓冬 | A2A协议深度解析</a:t>
            </a:r>
          </a:p>
        </p:txBody>
      </p:sp>
      <p:sp>
        <p:nvSpPr>
          <p:cNvPr id="12" name="TextBox 11"/>
          <p:cNvSpPr txBox="1"/>
          <p:nvPr/>
        </p:nvSpPr>
        <p:spPr>
          <a:xfrm rot="20700000">
            <a:off x="5943600" y="71323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© 何晓冬 | A2A协议深度解析</a:t>
            </a:r>
          </a:p>
        </p:txBody>
      </p:sp>
      <p:sp>
        <p:nvSpPr>
          <p:cNvPr id="13" name="TextBox 12"/>
          <p:cNvSpPr txBox="1"/>
          <p:nvPr/>
        </p:nvSpPr>
        <p:spPr>
          <a:xfrm rot="20700000">
            <a:off x="10515600" y="16459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© 何晓冬 | A2A协议深度解析</a:t>
            </a:r>
          </a:p>
        </p:txBody>
      </p:sp>
      <p:sp>
        <p:nvSpPr>
          <p:cNvPr id="14" name="TextBox 13"/>
          <p:cNvSpPr txBox="1"/>
          <p:nvPr/>
        </p:nvSpPr>
        <p:spPr>
          <a:xfrm rot="20700000">
            <a:off x="10515600" y="34747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© 何晓冬 | A2A协议深度解析</a:t>
            </a:r>
          </a:p>
        </p:txBody>
      </p:sp>
      <p:sp>
        <p:nvSpPr>
          <p:cNvPr id="15" name="TextBox 14"/>
          <p:cNvSpPr txBox="1"/>
          <p:nvPr/>
        </p:nvSpPr>
        <p:spPr>
          <a:xfrm rot="20700000">
            <a:off x="10515600" y="53035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© 何晓冬 | A2A协议深度解析</a:t>
            </a:r>
          </a:p>
        </p:txBody>
      </p:sp>
      <p:sp>
        <p:nvSpPr>
          <p:cNvPr id="16" name="TextBox 15"/>
          <p:cNvSpPr txBox="1"/>
          <p:nvPr/>
        </p:nvSpPr>
        <p:spPr>
          <a:xfrm rot="20700000">
            <a:off x="10515600" y="71323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© 何晓冬 | A2A协议深度解析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4572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🎯 A2A协议核心要点总结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731520" y="1371600"/>
          <a:ext cx="132588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14700"/>
                <a:gridCol w="3314700"/>
                <a:gridCol w="3314700"/>
                <a:gridCol w="3314700"/>
              </a:tblGrid>
              <a:tr h="718457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章节</a:t>
                      </a:r>
                    </a:p>
                  </a:txBody>
                  <a:tcPr>
                    <a:solidFill>
                      <a:srgbClr val="00B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核心内容</a:t>
                      </a:r>
                    </a:p>
                  </a:txBody>
                  <a:tcPr>
                    <a:solidFill>
                      <a:srgbClr val="00B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关键价值</a:t>
                      </a:r>
                    </a:p>
                  </a:txBody>
                  <a:tcPr>
                    <a:solidFill>
                      <a:srgbClr val="00B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技术亮点</a:t>
                      </a:r>
                    </a:p>
                  </a:txBody>
                  <a:tcPr>
                    <a:solidFill>
                      <a:srgbClr val="00B4FF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DCE6F0"/>
                          </a:solidFill>
                        </a:defRPr>
                      </a:pPr>
                      <a:r>
                        <a:t>第一章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DCE6F0"/>
                          </a:solidFill>
                        </a:defRPr>
                      </a:pPr>
                      <a:r>
                        <a:t>去中心化架构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DCE6F0"/>
                          </a:solidFill>
                        </a:defRPr>
                      </a:pPr>
                      <a:r>
                        <a:t>高可用弹性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DCE6F0"/>
                          </a:solidFill>
                        </a:defRPr>
                      </a:pPr>
                      <a:r>
                        <a:t>标准化协议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DCE6F0"/>
                          </a:solidFill>
                        </a:defRPr>
                      </a:pPr>
                      <a:r>
                        <a:t>第二章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DCE6F0"/>
                          </a:solidFill>
                        </a:defRPr>
                      </a:pPr>
                      <a:r>
                        <a:t>JSON-RPC规范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DCE6F0"/>
                          </a:solidFill>
                        </a:defRPr>
                      </a:pPr>
                      <a:r>
                        <a:t>跨平台互操作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DCE6F0"/>
                          </a:solidFill>
                        </a:defRPr>
                      </a:pPr>
                      <a:r>
                        <a:t>异步通信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DCE6F0"/>
                          </a:solidFill>
                        </a:defRPr>
                      </a:pPr>
                      <a:r>
                        <a:t>第三章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DCE6F0"/>
                          </a:solidFill>
                        </a:defRPr>
                      </a:pPr>
                      <a:r>
                        <a:t>OAuth2+mTLS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6464"/>
                          </a:solidFill>
                        </a:defRPr>
                      </a:pPr>
                      <a:r>
                        <a:t>企业级安全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DCE6F0"/>
                          </a:solidFill>
                        </a:defRPr>
                      </a:pPr>
                      <a:r>
                        <a:t>零信任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DCE6F0"/>
                          </a:solidFill>
                        </a:defRPr>
                      </a:pPr>
                      <a:r>
                        <a:t>第四章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DCE6F0"/>
                          </a:solidFill>
                        </a:defRPr>
                      </a:pPr>
                      <a:r>
                        <a:t>K8s部署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6464"/>
                          </a:solidFill>
                        </a:defRPr>
                      </a:pPr>
                      <a:r>
                        <a:t>99.99%可用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DCE6F0"/>
                          </a:solidFill>
                        </a:defRPr>
                      </a:pPr>
                      <a:r>
                        <a:t>自动扩缩容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DCE6F0"/>
                          </a:solidFill>
                        </a:defRPr>
                      </a:pPr>
                      <a:r>
                        <a:t>第五章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DCE6F0"/>
                          </a:solidFill>
                        </a:defRPr>
                      </a:pPr>
                      <a:r>
                        <a:t>缓存+批量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6464"/>
                          </a:solidFill>
                        </a:defRPr>
                      </a:pPr>
                      <a:r>
                        <a:t>性能提升3x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DCE6F0"/>
                          </a:solidFill>
                        </a:defRPr>
                      </a:pPr>
                      <a:r>
                        <a:t>低延迟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71845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DCE6F0"/>
                          </a:solidFill>
                        </a:defRPr>
                      </a:pPr>
                      <a:r>
                        <a:t>第六章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DCE6F0"/>
                          </a:solidFill>
                        </a:defRPr>
                      </a:pPr>
                      <a:r>
                        <a:t>实战案例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DCE6F0"/>
                          </a:solidFill>
                        </a:defRPr>
                      </a:pPr>
                      <a:r>
                        <a:t>业务价值验证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DCE6F0"/>
                          </a:solidFill>
                        </a:defRPr>
                      </a:pPr>
                      <a:r>
                        <a:t>多Agent协作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457200" y="7680960"/>
            <a:ext cx="1371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900">
                <a:solidFill>
                  <a:srgbClr val="788CA0"/>
                </a:solidFill>
              </a:defRPr>
            </a:pPr>
            <a:r>
              <a:t>Copyright © 2026 何晓冬. All Rights Reserved.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Oval 2"/>
          <p:cNvSpPr/>
          <p:nvPr/>
        </p:nvSpPr>
        <p:spPr>
          <a:xfrm>
            <a:off x="4572000" y="-914400"/>
            <a:ext cx="9144000" cy="9144000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exagon 3"/>
          <p:cNvSpPr/>
          <p:nvPr/>
        </p:nvSpPr>
        <p:spPr>
          <a:xfrm>
            <a:off x="6858000" y="2286000"/>
            <a:ext cx="1828800" cy="1828800"/>
          </a:xfrm>
          <a:prstGeom prst="hexagon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4572000"/>
            <a:ext cx="1097280" cy="987552"/>
          </a:xfrm>
          <a:prstGeom prst="round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88720" y="4846320"/>
            <a:ext cx="164592" cy="1645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72768" y="4846320"/>
            <a:ext cx="164592" cy="1645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29868" y="4887468"/>
            <a:ext cx="82296" cy="82296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13916" y="4887468"/>
            <a:ext cx="82296" cy="82296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298448" y="5230368"/>
            <a:ext cx="329184" cy="8778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2618720" y="4572000"/>
            <a:ext cx="1097280" cy="987552"/>
          </a:xfrm>
          <a:prstGeom prst="round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2893040" y="4846320"/>
            <a:ext cx="164592" cy="1645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277088" y="4846320"/>
            <a:ext cx="164592" cy="1645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2934188" y="4887468"/>
            <a:ext cx="82296" cy="82296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3318236" y="4887468"/>
            <a:ext cx="82296" cy="82296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3002768" y="5230368"/>
            <a:ext cx="329184" cy="8778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28800" y="3657600"/>
            <a:ext cx="10972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5200" b="1">
                <a:solidFill>
                  <a:srgbClr val="FFFFFF"/>
                </a:solidFill>
              </a:defRPr>
            </a:pPr>
            <a:r>
              <a:t>THANK YOU</a:t>
            </a:r>
          </a:p>
          <a:p>
            <a:pPr algn="ctr">
              <a:defRPr sz="3600">
                <a:solidFill>
                  <a:srgbClr val="00C8FF"/>
                </a:solidFill>
              </a:defRPr>
            </a:pPr>
            <a:r>
              <a:t>谢谢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621792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000" b="1">
                <a:solidFill>
                  <a:srgbClr val="FFC864"/>
                </a:solidFill>
              </a:defRPr>
            </a:pPr>
            <a:r>
              <a:t>【主讲人：何晓冬】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7680960"/>
            <a:ext cx="1371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900">
                <a:solidFill>
                  <a:srgbClr val="788CA0"/>
                </a:solidFill>
              </a:defRPr>
            </a:pPr>
            <a:r>
              <a:t>Copyright © 2026 何晓冬. All Rights Reserved.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