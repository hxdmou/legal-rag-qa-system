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4572000" y="-3657600"/>
            <a:ext cx="14630400" cy="12801600"/>
          </a:xfrm>
          <a:prstGeom prst="ellipse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10972800" y="274320"/>
            <a:ext cx="1371600" cy="1371600"/>
          </a:xfrm>
          <a:prstGeom prst="hexagon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11178540" y="480060"/>
            <a:ext cx="960119" cy="960119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52860" y="75438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10515600" y="640080"/>
            <a:ext cx="1645920" cy="1645920"/>
          </a:xfrm>
          <a:prstGeom prst="hexagon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10762488" y="886968"/>
            <a:ext cx="1152144" cy="1152144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91672" y="121615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10058400" y="1005840"/>
            <a:ext cx="1920240" cy="1920240"/>
          </a:xfrm>
          <a:prstGeom prst="hexagon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10346436" y="1293876"/>
            <a:ext cx="1344168" cy="1344168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30484" y="1677924"/>
            <a:ext cx="576072" cy="5760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9601200" y="1371600"/>
            <a:ext cx="2194560" cy="2194560"/>
          </a:xfrm>
          <a:prstGeom prst="hexagon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9930384" y="1700784"/>
            <a:ext cx="1536192" cy="1536192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69296" y="213969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4320" y="6400800"/>
            <a:ext cx="365760" cy="365760"/>
          </a:xfrm>
          <a:prstGeom prst="ellipse">
            <a:avLst/>
          </a:prstGeom>
          <a:solidFill>
            <a:srgbClr val="0096DC"/>
          </a:solidFill>
          <a:ln w="19050">
            <a:solidFill>
              <a:srgbClr val="00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7472" y="6473952"/>
            <a:ext cx="219456" cy="219456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02336" y="652881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60320" y="7132320"/>
            <a:ext cx="365760" cy="365760"/>
          </a:xfrm>
          <a:prstGeom prst="ellipse">
            <a:avLst/>
          </a:prstGeom>
          <a:solidFill>
            <a:srgbClr val="0096DC"/>
          </a:solidFill>
          <a:ln w="19050">
            <a:solidFill>
              <a:srgbClr val="00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633472" y="7205472"/>
            <a:ext cx="219456" cy="219456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88336" y="726033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46320" y="6400800"/>
            <a:ext cx="365760" cy="365760"/>
          </a:xfrm>
          <a:prstGeom prst="ellipse">
            <a:avLst/>
          </a:prstGeom>
          <a:solidFill>
            <a:srgbClr val="0096DC"/>
          </a:solidFill>
          <a:ln w="19050">
            <a:solidFill>
              <a:srgbClr val="00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19472" y="6473952"/>
            <a:ext cx="219456" cy="219456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974336" y="652881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32320" y="7132320"/>
            <a:ext cx="365760" cy="365760"/>
          </a:xfrm>
          <a:prstGeom prst="ellipse">
            <a:avLst/>
          </a:prstGeom>
          <a:solidFill>
            <a:srgbClr val="0096DC"/>
          </a:solidFill>
          <a:ln w="19050">
            <a:solidFill>
              <a:srgbClr val="00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05472" y="7205472"/>
            <a:ext cx="219456" cy="219456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60336" y="726033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18320" y="6400800"/>
            <a:ext cx="365760" cy="365760"/>
          </a:xfrm>
          <a:prstGeom prst="ellipse">
            <a:avLst/>
          </a:prstGeom>
          <a:solidFill>
            <a:srgbClr val="0096DC"/>
          </a:solidFill>
          <a:ln w="19050">
            <a:solidFill>
              <a:srgbClr val="00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1472" y="6473952"/>
            <a:ext cx="219456" cy="219456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46336" y="652881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704320" y="7132320"/>
            <a:ext cx="365760" cy="365760"/>
          </a:xfrm>
          <a:prstGeom prst="ellipse">
            <a:avLst/>
          </a:prstGeom>
          <a:solidFill>
            <a:srgbClr val="0096DC"/>
          </a:solidFill>
          <a:ln w="19050">
            <a:solidFill>
              <a:srgbClr val="009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777472" y="7205472"/>
            <a:ext cx="219456" cy="219456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32336" y="726033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4320" y="137160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4048" y="146761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0120" y="137160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69848" y="146761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645920" y="137160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55648" y="146761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331720" y="137160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441448" y="146761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017520" y="137160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74320" y="246888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4048" y="256489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60120" y="246888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69848" y="256489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645920" y="246888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755648" y="256489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46888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441448" y="256489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17520" y="246888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74320" y="356616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84048" y="366217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60120" y="356616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69848" y="366217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645920" y="356616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755648" y="366217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331720" y="356616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441448" y="3662172"/>
            <a:ext cx="548640" cy="27432"/>
          </a:xfrm>
          <a:prstGeom prst="rect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017520" y="3566160"/>
            <a:ext cx="219456" cy="219456"/>
          </a:xfrm>
          <a:prstGeom prst="ellipse">
            <a:avLst/>
          </a:prstGeom>
          <a:solidFill>
            <a:srgbClr val="00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71600" y="2011680"/>
            <a:ext cx="11887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A2A协议与AI智能体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71600" y="3474720"/>
            <a:ext cx="11887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200">
                <a:solidFill>
                  <a:srgbClr val="00C8FF"/>
                </a:solidFill>
              </a:defRPr>
            </a:pPr>
            <a:r>
              <a:t>技术架构 · 安全合规 · 部署运维 · 大模型趋势 · 人才战略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0" y="4206240"/>
            <a:ext cx="7315200" cy="45720"/>
          </a:xfrm>
          <a:prstGeom prst="rect">
            <a:avLst/>
          </a:prstGeom>
          <a:solidFill>
            <a:srgbClr val="00B4FF"/>
          </a:solidFill>
        </p:spPr>
        <p:txBody>
          <a:bodyPr wrap="none">
            <a:spAutoFit/>
          </a:bodyPr>
          <a:lstStyle/>
          <a:p/>
          <a:p>
            <a:pPr>
              <a:defRPr sz="200"/>
            </a:pPr>
          </a:p>
        </p:txBody>
      </p:sp>
      <p:sp>
        <p:nvSpPr>
          <p:cNvPr id="64" name="TextBox 63"/>
          <p:cNvSpPr txBox="1"/>
          <p:nvPr/>
        </p:nvSpPr>
        <p:spPr>
          <a:xfrm>
            <a:off x="2743200" y="50292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>
                <a:solidFill>
                  <a:srgbClr val="96AABE"/>
                </a:solidFill>
              </a:defRPr>
            </a:pPr>
            <a:r>
              <a:t>版本: v4.0 Enterprise  |  2026年5月</a:t>
            </a:r>
          </a:p>
          <a:p>
            <a:pPr algn="ctr">
              <a:defRPr sz="1200">
                <a:solidFill>
                  <a:srgbClr val="788CA0"/>
                </a:solidFill>
              </a:defRPr>
            </a:pPr>
            <a:r>
              <a:t>© 2026 Enterprise Edition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00B4FF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32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00B4FF"/>
                </a:solidFill>
              </a:defRPr>
            </a:pPr>
            <a:r>
              <a:t>第一章：A2A协议架构与核心价值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E6F0FA"/>
                </a:solidFill>
              </a:defRPr>
            </a:pPr>
            <a:r>
              <a:t>A2A协议是下一代Agent-to-Agent通信标准，实现异构AI Agent之间的无缝协作，打破平台壁垒，构建开放的AI生态系统。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价值维度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业务收益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技术实现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成熟度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技术架构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00B4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互操作性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降低集成成本60%+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标准化消息格式+Agent Cards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集成时间缩短80%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跨平台协作、生态整合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A2A协议栈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协议版本兼容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弹性扩展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支持百万级并发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去中心化架构+K8s调度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吞吐量提升10x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大规模部署、弹性业务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K8s+Istio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资源调度优化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安全合规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通过SOC2/ISO27001认证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端到端加密+零信任架构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合规成本降低50%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金融级应用、医疗数据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零信任架构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证书管理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可观测性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全链路追踪+实时监控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OpenTelemetry+Prometheus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MTTR降低60%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运维监控、故障排查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O11y Stack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监控告警风暴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智能协作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Agent自主协同+技能发现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A2A技能发现协议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任务完成率提升40%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多Agent系统、任务分工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多Agent架构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协调一致性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跨云部署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多云无缝迁移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K8s原生支持+CNCF认证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迁移时间缩短70%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混合云架构、多云战略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混合云架构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数据同步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成本优化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降低运维成本35%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自动化运维+Serverless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TCO降低35%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中大型企业、成本敏感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Serverless架构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冷启动延迟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快速迭代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缩短开发周期45%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模块化设计+API优先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上市时间缩短45%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敏捷团队、快速上市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API优先架构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版本兼容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生态扩展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第三方Agent接入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标准化API+开发者SDK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生态伙伴增长3x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平台生态、合作伙伴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30个月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开放平台架构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生态治理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数据价值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数据资产变现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隐私计算+联邦学习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数据价值提升2x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数据合作、合规共享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48个月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隐私计算架构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合规边界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边缘计算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边缘延迟降低70%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K3s+边缘节点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响应时间&lt;20ms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边缘场景、低延迟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边缘架构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边缘管理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AI协同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AI任务效率提升3x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Agent技能组合+编排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复杂任务完成率+50%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AI应用、智能系统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30个月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AI Agent架构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技能组合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Agent自主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自主决策能力提升5x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强化学习+决策引擎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人工干预减少80%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自主系统、智能决策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自主Agent架构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决策准确性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多模态交互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交互体验提升4x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文本+语音+视觉融合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5050"/>
                          </a:solidFill>
                        </a:defRPr>
                      </a:pPr>
                      <a:r>
                        <a:t>用户满意度提升60%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智能客服、虚拟助手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多模态Agent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6F0FA"/>
                          </a:solidFill>
                        </a:defRPr>
                      </a:pPr>
                      <a:r>
                        <a:t>模态融合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官方文档: https://a2a-protocol.org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Linux Foundation: https://linuxfoundation.org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DeepLearning.AI: https://www.deeplearning.ai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1E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00DCB4"/>
          </a:solidFill>
          <a:ln w="19050">
            <a:solidFill>
              <a:srgbClr val="00D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1E9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00D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00DCB4"/>
                </a:solidFill>
              </a:defRPr>
            </a:pPr>
            <a:r>
              <a:t>第二章：协议规范与技术细节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DCF0E6"/>
                </a:solidFill>
              </a:defRPr>
            </a:pPr>
            <a:r>
              <a:t>协议规范定义了Agent间通信的标准化消息格式和交互模式，基于JSON-RPC 2.0实现跨平台、跨语言的互操作性。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295421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协议层级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技术架构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00DCB4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应用层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技能发现效率提升5x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Agent Cards/ADR规范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技能发现&lt;10ms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Agent协作、技能共享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&lt;10ms响应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REST+GraphQL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技能描述标准化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消息层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消息吞吐量提升10x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JSON-RPC 2.0/JSON-LD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支持10万TPS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异步通信、事件驱动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10万TPS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Kafka/Pulsar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消息顺序保证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传输层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延迟降低60%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HTTP/2、gRPC、QUIC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端到端&lt;50ms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低延迟通信、实时交互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&lt;50ms延迟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gRPC+QUIC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协议协商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安全层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安全合规成本降低40%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OAuth2、mTLS、JWT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零信任架构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身份认证、数据加密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零信任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PKI+OAuth2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密钥轮换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发现层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服务发现效率提升8x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服务注册中心/ETCD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实时更新&lt;1s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动态服务、微服务架构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实时更新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ETCD+Consul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一致性保证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事件层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实时推送延迟降低80%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WebSocket、SSE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&lt;100ms延迟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实时通知、状态同步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&lt;100ms延迟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WebSocket集群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连接管理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数据层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序列化效率提升2x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Protobuf/JSON/BSON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压缩率60%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数据交换、存储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60%压缩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Protobuf+Schema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版本演进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控制层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路由灵活性提升3x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gRPC/REST/gRPC-Web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弹性路由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API网关、流量控制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弹性路由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Envoy/Kong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配置复杂度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编排层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工作流效率提升4x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Dapr/Knative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复杂流程编排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业务流程自动化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复杂流程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Dapr+Airflow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状态管理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语义层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知识理解能力提升3x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RDF/OWL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语义推理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知识图谱、AI理解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语义理解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知识图谱引擎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推理性能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1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Agent通信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Agent间通信效率提升3x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A2A消息格式+协议栈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通信延迟&lt;5ms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多Agent协作、消息传递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&lt;5ms延迟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A2A协议栈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消息可靠性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95428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Agent发现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Agent发现效率提升6x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服务发现+Agent注册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发现时间&lt;1s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动态Agent网络、自动发现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&lt;1s发现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Agent注册中心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0E6"/>
                          </a:solidFill>
                        </a:defRPr>
                      </a:pPr>
                      <a:r>
                        <a:t>注册一致性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JSON-RPC 2.0: https://www.jsonrpc.org/specification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HTTP/2: https://http2.github.io/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gRPC: https://grpc.io/docs/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2026.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96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DC64C8"/>
          </a:solidFill>
          <a:ln w="19050">
            <a:solidFill>
              <a:srgbClr val="DC6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96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DC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DC64C8"/>
                </a:solidFill>
              </a:defRPr>
            </a:pPr>
            <a:r>
              <a:t>第三章：安全与合规体系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0DCF5"/>
                </a:solidFill>
              </a:defRPr>
            </a:pPr>
            <a:r>
              <a:t>企业级安全架构包括API网关、WAF防火墙、OAuth 2.0认证、mTLS加密等多层防护，确保数据安全和合规要求。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安全组件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防护级别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技术架构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DC64C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API网关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API安全成本降低50%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Kong/APISIX/Envoy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攻击拦截率99%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API安全、流量控制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API网关集群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性能损耗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WAF防火墙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Web攻击防护提升95%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ModSecurity/Akamai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OWASP Top10防护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Web应用、API保护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WAF+CDN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规则误报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OAuth 2.0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认证效率提升3x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授权码/PKCE/JWT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认证延迟&lt;3ms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身份管理、SSO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OAuth2+OIDC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令牌管理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mTLS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通道安全提升100%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双向证书+证书轮换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零中间人攻击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敏感数据传输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PKI+SPIFFE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证书分发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RBAC/ABAC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权限管理效率提升4x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角色/属性权限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细粒度控制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企业级访问控制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IAM系统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权限爆炸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DDoS防护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DDoS攻击防护提升99%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Cloudflare/Akamai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流量清洗率99.9%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大规模流量攻击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多层防护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成本投入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数据加密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数据安全合规100%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AES-256/GPG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加密覆盖率100%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数据存储、传输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加密服务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性能影响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审计日志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合规审计效率提升5x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ELK/Splunk/Datadog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日志不可篡改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合规审计、行为追踪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SIEM系统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存储成本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威胁检测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威胁发现快80%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SIEM/EDR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攻击发现&lt;5min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高级威胁检测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30个月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AI检测引擎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误报率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密钥管理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密钥安全100%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HSM/Cloud KMS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密钥零泄露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密钥存储、轮换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HSM集群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可用性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数据脱敏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数据隐私保护100%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动态脱敏+静态脱敏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敏感数据零泄露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数据共享、合规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脱敏引擎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精度平衡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访问审计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合规审计能力提升4x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行为分析+操作记录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审计覆盖率100%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合规检查、安全审计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审计系统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日志存储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Agent安全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Agent间通信安全提升100%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A2A安全协议+加密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通信零泄露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多Agent协作、数据传输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A2A安全栈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协议兼容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AI伦理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AI行为合规性100%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伦理框架+审计机制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违规行为零发生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AI应用、智能决策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伦理治理系统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伦理标准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安全审计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安全评估能力提升3x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渗透测试+安全扫描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漏洞发现率99%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安全评估、合规检查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安全审计平台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审计深度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安全培训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安全意识提升200%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模拟演练+在线课程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安全事件减少70%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员工培训、安全意识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培训平台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培训效果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安全测试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代码安全提升95%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SAST/DAST/IAST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漏洞修复率95%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开发安全、CI/CD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DevSecOps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误报处理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零信任架构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安全防护提升100%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身份验证+最小权限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内部攻击防护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企业安全、边界消除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零信任平台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实施复杂度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隐私计算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数据价值释放100%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联邦学习+安全多方计算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数据可用不可见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数据协作、隐私保护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隐私计算平台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性能开销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SOC2合规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合规认证100%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安全运营中心+审计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合规通过率100%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企业级SaaS、金融服务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SOC2体系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DCF5"/>
                          </a:solidFill>
                        </a:defRPr>
                      </a:pPr>
                      <a:r>
                        <a:t>持续合规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OAuth 2.0: https://oauth.net/2/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mTLS指南: https://www.envoyproxy.io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Kong网关: https://docs.konghq.com/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2026. All Rights 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6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B4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FFC83C"/>
          </a:solidFill>
          <a:ln w="19050">
            <a:solidFill>
              <a:srgbClr val="FFC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B4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FFC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FFC83C"/>
                </a:solidFill>
              </a:defRPr>
            </a:pPr>
            <a:r>
              <a:t>第四章：部署与运维实践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AF5DC"/>
                </a:solidFill>
              </a:defRPr>
            </a:pPr>
            <a:r>
              <a:t>基于Kubernetes的高可用部署方案，支持自动扩缩容、健康检查、蓝绿发布等运维能力，保障业务连续性。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160020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部署策略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可用性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技术架构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FFC83C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多活部署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业务可用性99.99%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K8s StatefulSet+DNS轮询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故障转移&lt;30s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核心业务、高可用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99.99%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多活K8s集群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数据一致性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自动扩缩容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资源利用率提升60%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HPA/VPA+KEDA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弹性响应&lt;2min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波动流量、弹性业务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弹性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K8s自动伸缩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冷启动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健康检查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故障自愈能力提升80%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Liveness/Readiness/Startup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故障恢复&lt;1min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微服务、高可用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K8s健康检查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探针配置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蓝绿发布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发布风险降低90%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Istio/Argo Rollouts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零停机升级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生产环境、频繁发布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零停机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Istio+Argo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流量切分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异地容灾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灾难恢复能力99.999%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跨区域K8s集群+DRBD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RPO&lt;5min,RTO&lt;15min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金融系统、核心数据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99.999%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跨区集群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数据同步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边缘部署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边缘延迟降低70%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K3s/KubeEdge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&lt;20ms延迟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边缘计算、就近访问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低延迟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边缘K8s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边缘管理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金丝雀发布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发布风险降低80%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Argo Rollouts/Flagger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渐进式发布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核心服务、风险控制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渐进式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Argo+Prometheus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指标评估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Serverless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运维成本降低50%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KEDA+Knative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按需扩缩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非核心服务、突发流量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按需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KEDA+Knative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冷启动延迟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混合云部署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云中立100%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Anthos/Azure Arc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多云统一管理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企业级、多云战略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30个月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混合云管理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跨云网络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GitOps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部署效率提升3x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Argo CD/Flux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声明式配置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CI/CD、版本控制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GitOps工具链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配置漂移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服务网格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服务间通信效率提升2x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Istio/Linkerd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零信任网络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微服务架构、安全通信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服务网格架构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配置复杂度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自动化运维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运维效率提升4x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Ansible/Terraform+CI/CD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部署时间&lt;10min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DevOps、持续交付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自动化工具链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学习曲线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日志管理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问题定位效率提升5x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ELK/Grafana Loki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日志检索&lt;1s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运维监控、故障排查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日志平台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存储成本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指标监控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可观测性提升3x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Prometheus+Grafana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实时告警&lt;1min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性能监控、容量规划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监控体系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告警风暴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分布式追踪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故障定位快90%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Jaeger/Zipkin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全链路追踪&lt;50ms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微服务、分布式系统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追踪系统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采样率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配置管理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配置变更效率提升3x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ConfigMap+Secret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热更新&lt;30s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配置管理、敏感数据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K8s配置管理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密钥轮换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存储编排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存储效率提升2x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CSI+LocalPV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数据持久化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有状态应用、数据库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存储架构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存储类型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网络策略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网络安全提升100%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NetworkPolicy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微分段隔离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多租户、安全边界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网络隔离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策略复杂度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自动化测试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测试覆盖率提升40%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Pytest+Selenium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代码覆盖率&gt;80%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持续集成、质量保障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测试框架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测试数据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容量规划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资源利用率提升30%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Prometheus+VPA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资源预测准确率&gt;90%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资源管理、成本优化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容量管理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预测准确性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安全扫描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漏洞发现快80%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Trivy/Grype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镜像扫描&lt;5min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安全合规、CI/CD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安全工具链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误报处理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Agent部署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Agent部署效率提升4x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Agent镜像+自动编排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部署时间缩短70%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多Agent系统、自动化部署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Agent编排平台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版本兼容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Agent监控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Agent监控能力提升5x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分布式追踪+指标采集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故障发现&lt;2min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Agent集群、智能监控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O11y+Agent监控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F5DC"/>
                          </a:solidFill>
                        </a:defRPr>
                      </a:pPr>
                      <a:r>
                        <a:t>监控告警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Kubernetes: https://kubernetes.io/zh-cn/docs/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Prometheus: https://prometheus.io/docs/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Grafana: https://grafana.com/docs/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2026. All Rights 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64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A078FF"/>
          </a:solidFill>
          <a:ln w="19050">
            <a:solidFill>
              <a:srgbClr val="A0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64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A0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A078FF"/>
                </a:solidFill>
              </a:defRPr>
            </a:pPr>
            <a:r>
              <a:t>第五章：性能优化策略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DCEBFA"/>
                </a:solidFill>
              </a:defRPr>
            </a:pPr>
            <a:r>
              <a:t>通过网络优化、消息批量、缓存策略、并发处理等手段，实现系统性能的全方位提升。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166977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优化维度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预期收益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技术架构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A078FF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网络优化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延迟降低40%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HTTP/2、gRPC、QUIC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RTT降低40%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低延迟通信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延迟-40%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gRPC+QUIC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客户端兼容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消息批量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吞吐量提升2x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批量聚合+背压控制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QPS提升2x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高吞吐量场景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QPS+2x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Kafka+batching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消息顺序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缓存策略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响应速度快3x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Redis集群+多级缓存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P95延迟降低60%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读多写少场景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延迟-60%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Redis+LocalCache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数据一致性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并发处理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容量提升5x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异步队列+线程池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并发能力+5x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高并发场景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并发+5x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Vert.x/Netty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线程安全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序列化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数据体积减少60%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Protobuf/FlatBuffers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序列化体积-60%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数据传输、存储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体积-60%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Protobuf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版本兼容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CDN加速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边缘延迟降低70%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边缘缓存+预热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P95延迟-70%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静态资源、全球用户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延迟-70%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CDN+预热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缓存失效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数据库优化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查询速度快2x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读写分离+分库分表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查询延迟-50%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大数据量场景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延迟-50%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Sharding+读写分离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事务一致性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代码优化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性能提升30%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算法改进+JIT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CPU使用率-30%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计算密集场景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性能+30%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Profiling+优化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回归风险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资源调度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资源利用率提升40%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K8s QoS+资源预留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资源利用率+40%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容器集群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利用率+40%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K8s调度优化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Pod驱逐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连接池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连接效率提升30%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HikariCP/OkHttp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连接复用率+30%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高连接场景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复用率+30%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3个月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连接池优化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连接泄漏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内存优化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内存使用降低30%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对象池+GC调优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内存占用-30%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内存敏感场景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内存-30%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内存管理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GC停顿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异步IO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IO效率提升2x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Reactor/CompletableFuture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吞吐量+100%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IO密集场景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吞吐量+100%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异步框架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复杂度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Agent优化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Agent性能提升3x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Agent缓存+预加载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响应时间-70%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多Agent系统、智能协作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Agent性能优化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缓存一致性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AI推理优化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推理速度提升4x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模型量化+TensorRT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推理延迟-60%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AI应用、边缘部署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AI推理引擎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精度损失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索引优化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查询速度提升10x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B+树/倒排索引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查询时间-90%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大数据查询、全文搜索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查询-90%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索引引擎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索引维护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负载均衡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流量分配优化99%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Nginx/LVS/云LB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请求均匀分布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高并发、多节点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均匀分布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LB集群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会话保持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预热机制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首次响应快80%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缓存预热+预加载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冷启动延迟-80%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系统启动、热点数据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延迟-80%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3个月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预热服务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资源占用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熔断降级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故障隔离100%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Resilience4j/Hystrix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故障影响范围控制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微服务、高可用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故障隔离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熔断框架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阈值配置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读写优化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数据库压力降低50%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读写分离+主从复制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主库压力-50%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高并发读写、大数据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压力-50%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主从架构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数据同步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边缘计算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边缘延迟降低60%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K3s/KubeEdge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&lt;30ms延迟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边缘场景、IoT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延迟-60%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边缘架构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边缘管理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77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GPU加速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计算性能提升10x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CUDA/TensorRT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AI推理加速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AI训练、推理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性能+10x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GPU集群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成本投入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166986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压缩优化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传输效率提升50%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GZIP/Brotli/Snappy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传输体积-50%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网络传输、存储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体积-50%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3个月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压缩服务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EBFA"/>
                          </a:solidFill>
                        </a:defRPr>
                      </a:pPr>
                      <a:r>
                        <a:t>CPU开销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Redis: https://redis.io/docs/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gRPC优化: https://grpc.io/docs/guides/performance/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CDN: https://www.cloudflare.com/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B4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FF78A0"/>
          </a:solidFill>
          <a:ln w="19050">
            <a:solidFill>
              <a:srgbClr val="FF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B45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FF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FF78A0"/>
                </a:solidFill>
              </a:defRPr>
            </a:pPr>
            <a:r>
              <a:t>第六章：实战案例与最佳实践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AEBDC"/>
                </a:solidFill>
              </a:defRPr>
            </a:pPr>
            <a:r>
              <a:t>通过供应链管理、金融风控、智能办公、医疗诊断等真实案例，验证A2A协议的业务价值和技术可行性。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案例场景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行业领域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规模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技术架构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FF78A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供应链管理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效率提升40%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多Agent协作+智能调度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交付周期缩短30%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制造业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A2A+IoT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数据孤岛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金融风控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风险降低35%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实时决策引擎+知识图谱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准确率提升25%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金融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中型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A2A+ML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合规要求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智能办公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生产力提升50%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自动化流程+RPA集成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成本节约40%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企业服务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中型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A2A+低代码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系统集成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医疗诊断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准确率提升25%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专业知识整合+推理引擎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误诊率下降20%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医疗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A2A+NLP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数据隐私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智能客服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满意度提升30%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多轮对话+情感分析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响应时间缩短50%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电商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A2A+LLM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上下文理解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智能运维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故障发现快80%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预测性维护+异常检测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MTTR降低60%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运维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中型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A2A+监控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告警风暴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智能推荐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转化率提升35%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个性化算法+实时特征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用户留存提升20%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互联网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A2A+推荐系统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冷启动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智能教育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学习效率提升45%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自适应学习+知识追踪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成绩提升25%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教育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中型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A2A+教育AI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学习路径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智能制造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良率提升15%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数字孪生+质量检测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成本降低20%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制造业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30个月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A2A+IoT+CV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设备互联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智慧城市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能耗降低25%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多系统协同+预测优化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效率提升30%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政府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48个月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A2A+城市平台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数据整合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Agent协作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协作效率提升5x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多Agent协同+任务分配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任务完成率+60%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多Agent系统、智能协作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A2A协作平台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协调一致性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Agent生态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生态价值提升4x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Agent平台+开发者社区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生态规模+3x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平台生态、合作伙伴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大型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30个月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开放Agent平台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生态治理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Agent创新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创新效率提升3x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AI Agent+新技术融合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创新周期缩短50%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AI创新、前沿探索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中型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Agent创新实验室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AEBDC"/>
                          </a:solidFill>
                        </a:defRPr>
                      </a:pPr>
                      <a:r>
                        <a:t>技术风险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供应链: https://www.supplychaindive.com/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金融风控: https://www.fintechnexus.com/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多Agent: https://arxiv.org/abs/2401.07580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2026.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32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00C896"/>
          </a:solidFill>
          <a:ln w="1905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32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00C896"/>
                </a:solidFill>
              </a:defRPr>
            </a:pPr>
            <a:r>
              <a:t>第七章：AI智能体发展趋势展望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DCF5E6"/>
                </a:solidFill>
              </a:defRPr>
            </a:pPr>
            <a:r>
              <a:t>AI智能体正处于快速发展期，未来10-20年将经历标准化、智能化到生态化的演进。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349134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时间阶段</a:t>
                      </a:r>
                    </a:p>
                  </a:txBody>
                  <a:tcPr>
                    <a:solidFill>
                      <a:srgbClr val="00C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发展特征</a:t>
                      </a:r>
                    </a:p>
                  </a:txBody>
                  <a:tcPr>
                    <a:solidFill>
                      <a:srgbClr val="00C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关键技术</a:t>
                      </a:r>
                    </a:p>
                  </a:txBody>
                  <a:tcPr>
                    <a:solidFill>
                      <a:srgbClr val="00C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行业影响</a:t>
                      </a:r>
                    </a:p>
                  </a:txBody>
                  <a:tcPr>
                    <a:solidFill>
                      <a:srgbClr val="00C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蚌埠机遇</a:t>
                      </a:r>
                    </a:p>
                  </a:txBody>
                  <a:tcPr>
                    <a:solidFill>
                      <a:srgbClr val="00C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投资价值</a:t>
                      </a:r>
                    </a:p>
                  </a:txBody>
                  <a:tcPr>
                    <a:solidFill>
                      <a:srgbClr val="00C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风险评估</a:t>
                      </a:r>
                    </a:p>
                  </a:txBody>
                  <a:tcPr>
                    <a:solidFill>
                      <a:srgbClr val="00C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战略建议</a:t>
                      </a:r>
                    </a:p>
                  </a:txBody>
                  <a:tcPr>
                    <a:solidFill>
                      <a:srgbClr val="00C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预期收益</a:t>
                      </a:r>
                    </a:p>
                  </a:txBody>
                  <a:tcPr>
                    <a:solidFill>
                      <a:srgbClr val="00C896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2026-2028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标准化加速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Agent Cards、ADR规范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行业标准形成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承接长三角产业转移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布局技术团队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抢占先机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2029-2033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智能升级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自主学习、情感理解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Agent能力飞跃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制造业AI升级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研发投入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技术领先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2034-2036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生态成熟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去中心化网络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全球Agent经济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构建产业生态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平台建设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生态收益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2037-2041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通用智能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通用Agent出现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生产力革命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全面智能化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战略转型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指数增长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2042-2046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意识涌现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类人智能可能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社会变革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新产业形态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极高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前瞻布局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颠覆创新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当前趋势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多模态融合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文本+语音+视觉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交互体验升级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本地应用开发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产品落地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市场份额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当前趋势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边缘部署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K3s/KubeEdge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低延迟服务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边缘计算节点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基础设施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技术储备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当前趋势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安全增强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零信任+隐私计算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合规保障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金融级安全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安全体系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信任背书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49134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产业趋势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平台化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云厂商Agent平台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生态竞争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对接云服务商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合作共赢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资源整合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491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产业趋势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垂直深耕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行业专用Agent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细分市场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制造业AI应用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行业聚焦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DCF5E6"/>
                          </a:solidFill>
                        </a:defRPr>
                      </a:pPr>
                      <a:r>
                        <a:t>差异化优势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AI趋势: https://www.gartner.com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Agent展望: https://arxiv.org/abs/2403.07691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中国AI: https://www.caict.ac.cn/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2026. All Rights 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78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C896FF"/>
          </a:solidFill>
          <a:ln w="19050">
            <a:solidFill>
              <a:srgbClr val="C8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785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C8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C896FF"/>
                </a:solidFill>
              </a:defRPr>
            </a:pPr>
            <a:r>
              <a:t>第八章：蚌埠市人才招聘规划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0E6FA"/>
                </a:solidFill>
              </a:defRPr>
            </a:pPr>
            <a:r>
              <a:t>针对蚌埠市产业特点，制定差异化人才策略，涵盖全人群包括视力残疾人和肢体残疾人的就业帮扶。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人群分类</a:t>
                      </a:r>
                    </a:p>
                  </a:txBody>
                  <a:tcPr>
                    <a:solidFill>
                      <a:srgbClr val="C8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岗位定位</a:t>
                      </a:r>
                    </a:p>
                  </a:txBody>
                  <a:tcPr>
                    <a:solidFill>
                      <a:srgbClr val="C8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招聘策略</a:t>
                      </a:r>
                    </a:p>
                  </a:txBody>
                  <a:tcPr>
                    <a:solidFill>
                      <a:srgbClr val="C8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推荐软件</a:t>
                      </a:r>
                    </a:p>
                  </a:txBody>
                  <a:tcPr>
                    <a:solidFill>
                      <a:srgbClr val="C8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薪资范围</a:t>
                      </a:r>
                    </a:p>
                  </a:txBody>
                  <a:tcPr>
                    <a:solidFill>
                      <a:srgbClr val="C8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蚌埠特色</a:t>
                      </a:r>
                    </a:p>
                  </a:txBody>
                  <a:tcPr>
                    <a:solidFill>
                      <a:srgbClr val="C8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政策支持</a:t>
                      </a:r>
                    </a:p>
                  </a:txBody>
                  <a:tcPr>
                    <a:solidFill>
                      <a:srgbClr val="C8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预期成效</a:t>
                      </a:r>
                    </a:p>
                  </a:txBody>
                  <a:tcPr>
                    <a:solidFill>
                      <a:srgbClr val="C89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关键挑战</a:t>
                      </a:r>
                    </a:p>
                  </a:txBody>
                  <a:tcPr>
                    <a:solidFill>
                      <a:srgbClr val="C896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青年人才(22-28岁)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初级开发、测试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校招+实习转正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BOSS直聘、智联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8-15K/月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本地高校合作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实习补贴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人才储备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经验不足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中坚力量(29-38岁)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技术骨干、管理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社招+返乡人才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BOSS直聘、猎聘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20-35K/月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返乡计划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安家补贴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核心团队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竞争激烈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资深专家(39-45岁)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架构师、总监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猎头引进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猎聘、脉脉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60-150万/年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高层次人才计划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住房优惠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技术突破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成本较高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高中学历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数据标注、客服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职业院校+线上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BOSS直聘、58同城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4-10K/月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本地职高合作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技能补贴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基础岗位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技能提升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视力残疾人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语音客服、有声读物制作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残联推荐+定向培训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中国残疾人就业网络服务平台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同工同酬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盲人按摩转型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岗位补贴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就业帮扶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技能培训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肢体残疾人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数据录入、客服、设计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残联推荐+远程办公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微信小程序、官方平台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同工同酬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灵活就业支持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社保补贴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包容性就业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办公环境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精神残疾人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数据处理、审核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残联推荐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官方平台、微信小程序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同工同酬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就业保障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残保金优惠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社会责任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环境适配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大专学历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运维、技术支持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本地招聘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前程无忧、BOSS直聘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6-12K/月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职业学院合作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就业补贴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运维保障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发展空间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本科学历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全栈开发、产品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重点高校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智联、拉勾网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12-25K/月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高校招聘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人才政策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技术核心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留才挑战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硕士学历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AI算法、架构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顶尖高校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猎聘、拉勾网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20-35K/月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人才引进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科研补贴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技术突破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竞争激烈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博士学历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首席科学家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高端引进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猎聘、学术平台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80-200万/年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院士工作站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科研经费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行业引领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稀缺性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AI工程师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AI Agent开发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高校+社招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BOSS直聘、拉勾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15-30K/月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AI人才引进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科研补贴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技术核心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竞争激烈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Agent训练师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Agent训练优化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专业培训+实战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训练效率+50%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AI应用、智能系统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AI训练平台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数据质量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顾问导师(46岁+)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技术顾问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兼职返聘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脉脉、领英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顾问费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退休专家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荣誉职位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知识传递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0E6FA"/>
                          </a:solidFill>
                        </a:defRPr>
                      </a:pPr>
                      <a:r>
                        <a:t>时间投入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蚌埠人才网: http://www.bbrc.com.cn/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蚌埠人社局: http://rsj.bengbu.gov.cn/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残疾人就业: https://www.cdpee.cn/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2026. All Rights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9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B4D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B4D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B4D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7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B4DC50"/>
          </a:solidFill>
          <a:ln w="19050">
            <a:solidFill>
              <a:srgbClr val="B4D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789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B4D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B4D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B4D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B4D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B4D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B4D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B4D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B4D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B4D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B4DC50"/>
                </a:solidFill>
              </a:defRPr>
            </a:pPr>
            <a:r>
              <a:t>第九章：创业指南与政策支持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EBF5DC"/>
                </a:solidFill>
              </a:defRPr>
            </a:pPr>
            <a:r>
              <a:t>蚌埠市为创业者提供完善的政策支持，包括免费注册、创业补贴、税收优惠等。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办理环节</a:t>
                      </a:r>
                    </a:p>
                  </a:txBody>
                  <a:tcPr>
                    <a:solidFill>
                      <a:srgbClr val="B4D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所需材料</a:t>
                      </a:r>
                    </a:p>
                  </a:txBody>
                  <a:tcPr>
                    <a:solidFill>
                      <a:srgbClr val="B4D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办理流程</a:t>
                      </a:r>
                    </a:p>
                  </a:txBody>
                  <a:tcPr>
                    <a:solidFill>
                      <a:srgbClr val="B4D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注意事项</a:t>
                      </a:r>
                    </a:p>
                  </a:txBody>
                  <a:tcPr>
                    <a:solidFill>
                      <a:srgbClr val="B4D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蚌埠政策</a:t>
                      </a:r>
                    </a:p>
                  </a:txBody>
                  <a:tcPr>
                    <a:solidFill>
                      <a:srgbClr val="B4D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办理地点</a:t>
                      </a:r>
                    </a:p>
                  </a:txBody>
                  <a:tcPr>
                    <a:solidFill>
                      <a:srgbClr val="B4D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办理时间</a:t>
                      </a:r>
                    </a:p>
                  </a:txBody>
                  <a:tcPr>
                    <a:solidFill>
                      <a:srgbClr val="B4D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费用说明</a:t>
                      </a:r>
                    </a:p>
                  </a:txBody>
                  <a:tcPr>
                    <a:solidFill>
                      <a:srgbClr val="B4DC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常见问题</a:t>
                      </a:r>
                    </a:p>
                  </a:txBody>
                  <a:tcPr>
                    <a:solidFill>
                      <a:srgbClr val="B4DC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名称核准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身份证、备选名称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线上申请→审核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准备3-5个名称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全程电子化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政务服务中心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1-2天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名称重复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场地证明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租赁合同/无偿使用证明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提供材料→审核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住宅需社区同意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住宅改商用支持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所在区县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1天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地址不符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材料提交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身份证、场地证明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线上/窗口提交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经营范围规范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一窗通办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政务服务中心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1-2天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材料不全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领取执照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受理通知书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窗口领取/邮寄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核对信息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当场办结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政务服务中心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当场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信息错误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刻章备案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营业执照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指定机构刻章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公章+财务章+法人章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免费刻章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公安局指定点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1-2天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章型选择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税务登记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营业执照、法人身份证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电子税务局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30日内完成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线上办理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税务局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1天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逾期罚款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银行开户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营业执照、公章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选择银行办理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基本户只能一个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多家银行可选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任意银行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3-5天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年费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开户费用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无房产证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租赁合同+房东证明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提交替代材料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社区出具证明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支持替代材料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政务服务中心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1-2天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材料真实性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未过户房产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网签合同/交易协议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提供合同+证明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原房主同意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支持网签合同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政务服务中心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1-2天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产权纠纷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原房主逝世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继承证明+死亡证明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继承公证→过户→注册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需先办理继承公证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支持继承证明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政务服务中心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7-15天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公证费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继承纠纷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创业补贴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营业执照、就业证明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线上申请→审核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毕业5年内/就业困难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最高5000元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人社局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30天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EBF5DC"/>
                          </a:solidFill>
                        </a:defRPr>
                      </a:pPr>
                      <a:r>
                        <a:t>条件不符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安徽政务: http://www.ahzwfw.gov.cn/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蚌埠市场监管: http://amr.bengbu.gov.cn/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皖事通: https://www.ahzwfw.gov.cn/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2026. All Rights 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FF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FF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FF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96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FF96C8"/>
          </a:solidFill>
          <a:ln w="19050">
            <a:solidFill>
              <a:srgbClr val="FF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96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FF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FF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FF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FF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FF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FF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FF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FF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FF9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FF96C8"/>
                </a:solidFill>
              </a:defRPr>
            </a:pPr>
            <a:r>
              <a:t>第十章：AI大模型发展趋势与软件生态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5E6F5"/>
                </a:solidFill>
              </a:defRPr>
            </a:pPr>
            <a:r>
              <a:t>AI大模型正处于爆发式发展阶段，算力成本是关键考量因素，需根据数据敏感性和预算选择合适的部署方案。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  <a:gridCol w="15036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模型类型</a:t>
                      </a:r>
                    </a:p>
                  </a:txBody>
                  <a:tcPr>
                    <a:solidFill>
                      <a:srgbClr val="FF9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代表产品</a:t>
                      </a:r>
                    </a:p>
                  </a:txBody>
                  <a:tcPr>
                    <a:solidFill>
                      <a:srgbClr val="FF9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部署方式</a:t>
                      </a:r>
                    </a:p>
                  </a:txBody>
                  <a:tcPr>
                    <a:solidFill>
                      <a:srgbClr val="FF9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GPU需求</a:t>
                      </a:r>
                    </a:p>
                  </a:txBody>
                  <a:tcPr>
                    <a:solidFill>
                      <a:srgbClr val="FF9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算力费用/月</a:t>
                      </a:r>
                    </a:p>
                  </a:txBody>
                  <a:tcPr>
                    <a:solidFill>
                      <a:srgbClr val="FF9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API调用成本</a:t>
                      </a:r>
                    </a:p>
                  </a:txBody>
                  <a:tcPr>
                    <a:solidFill>
                      <a:srgbClr val="FF9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优点</a:t>
                      </a:r>
                    </a:p>
                  </a:txBody>
                  <a:tcPr>
                    <a:solidFill>
                      <a:srgbClr val="FF9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缺点</a:t>
                      </a:r>
                    </a:p>
                  </a:txBody>
                  <a:tcPr>
                    <a:solidFill>
                      <a:srgbClr val="FF96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FFFF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FF96C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多模态大模型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GPT-4V、Gemini Ultra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API调用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4xA100/80GB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¥8-15万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GPT-4V: $0.01/image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能力最强、多模态融合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成本高、数据安全风险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创意设计、内容创作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文本大模型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GPT-4、Claude 3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API调用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8xA100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¥12-25万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GPT-4: $0.03/1K tokens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推理强、上下文深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成本高、无本地化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代码生成、数据分析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开源大模型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Llama 3-70B、Qwen-72B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私有化部署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4xA100/40GB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¥5-12万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数据安全、定制灵活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技术门槛高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企业内部系统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垂直领域模型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Med-PaLM、CodeLlama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本地/私有化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2xA100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¥3-8万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按需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专业知识强、精准输出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通用性弱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医疗、法律、编程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国产大模型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文心一言、豆包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API+私有化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8xH100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¥15-30万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豆包: ¥99/月起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本土化支持、合规性好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能力略逊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政企服务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轻量模型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Phi-3、Llama 3-8B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本地部署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RTX 4090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¥0.5-2万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速度快、资源需求低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能力有限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移动端、IoT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DeepSeek系列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DeepSeek-R1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API+本地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4xA100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¥6-12万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API: ¥0.002/1K tokens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长上下文、数学推理强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知名度低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科研教育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Qwen系列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Qwen 2-72B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私有化部署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4xA100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¥5-10万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免费商用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多语言、社区活跃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生态相对小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跨境服务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Doubao系列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豆包企业版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API调用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云端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按需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 b="1">
                          <a:solidFill>
                            <a:srgbClr val="FF6464"/>
                          </a:solidFill>
                        </a:defRPr>
                      </a:pPr>
                      <a:r>
                        <a:t>企业版: ¥1999/月起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娱乐性强、生活化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专业能力有限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消费级应用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云端租赁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AWS/GCP/Azure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云部署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按需配置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¥2-20万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按需付费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弹性伸缩、免维护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成本波动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弹性业务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边缘部署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NVIDIA Jetson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本地边缘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Jetson AGX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¥0.3-1万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免费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低延迟、隐私保护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能力有限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80">
                          <a:solidFill>
                            <a:srgbClr val="F5E6F5"/>
                          </a:solidFill>
                        </a:defRPr>
                      </a:pPr>
                      <a:r>
                        <a:t>IoT、边缘计算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40080" y="5943600"/>
            <a:ext cx="12801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64DCFF"/>
                </a:solidFill>
              </a:defRPr>
            </a:pPr>
            <a:r>
              <a:t>📚 拓展学习资源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GPT-4V: https://openai.com/research/gpt-4v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Gemini: https://deepmind.google/technologies/gemini/</a:t>
            </a:r>
          </a:p>
          <a:p>
            <a:pPr>
              <a:defRPr sz="800">
                <a:solidFill>
                  <a:srgbClr val="AAB9C8"/>
                </a:solidFill>
              </a:defRPr>
            </a:pPr>
            <a:r>
              <a:t>Llama 3: https://ai.meta.com/llama/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2026. All Rights 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4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9144000" y="-1828800"/>
            <a:ext cx="10972800" cy="9144000"/>
          </a:xfrm>
          <a:prstGeom prst="ellipse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6" name="TextBox 5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7" name="TextBox 6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8" name="TextBox 7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9" name="TextBox 8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0" name="TextBox 9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1" name="TextBox 10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2" name="TextBox 11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3" name="TextBox 12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4" name="TextBox 13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5" name="TextBox 14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6" name="TextBox 15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17" name="Hexagon 16"/>
          <p:cNvSpPr/>
          <p:nvPr/>
        </p:nvSpPr>
        <p:spPr>
          <a:xfrm>
            <a:off x="12344400" y="274320"/>
            <a:ext cx="1645920" cy="1645920"/>
          </a:xfrm>
          <a:prstGeom prst="hexagon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xagon 17"/>
          <p:cNvSpPr/>
          <p:nvPr/>
        </p:nvSpPr>
        <p:spPr>
          <a:xfrm>
            <a:off x="12591288" y="521208"/>
            <a:ext cx="1152144" cy="1152144"/>
          </a:xfrm>
          <a:prstGeom prst="hexagon">
            <a:avLst/>
          </a:prstGeom>
          <a:solidFill>
            <a:srgbClr val="B4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20472" y="850392"/>
            <a:ext cx="493776" cy="4937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618720" y="2286000"/>
            <a:ext cx="457200" cy="457200"/>
          </a:xfrm>
          <a:prstGeom prst="ellipse">
            <a:avLst/>
          </a:prstGeom>
          <a:solidFill>
            <a:srgbClr val="8B5A2B"/>
          </a:solidFill>
          <a:ln w="1905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710160" y="2377440"/>
            <a:ext cx="274320" cy="274320"/>
          </a:xfrm>
          <a:prstGeom prst="ellipse">
            <a:avLst/>
          </a:prstGeom>
          <a:solidFill>
            <a:srgbClr val="B4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778740" y="24460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344400" y="2926080"/>
            <a:ext cx="146304" cy="146304"/>
          </a:xfrm>
          <a:prstGeom prst="ellipse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17552" y="2990088"/>
            <a:ext cx="365760" cy="18288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801600" y="2926080"/>
            <a:ext cx="146304" cy="146304"/>
          </a:xfrm>
          <a:prstGeom prst="ellipse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74752" y="2990088"/>
            <a:ext cx="365760" cy="18288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0" y="2926080"/>
            <a:ext cx="146304" cy="146304"/>
          </a:xfrm>
          <a:prstGeom prst="ellipse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331952" y="2990088"/>
            <a:ext cx="365760" cy="18288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0" y="2926080"/>
            <a:ext cx="146304" cy="146304"/>
          </a:xfrm>
          <a:prstGeom prst="ellipse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789152" y="2990088"/>
            <a:ext cx="365760" cy="18288"/>
          </a:xfrm>
          <a:prstGeom prst="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173200" y="2926080"/>
            <a:ext cx="146304" cy="146304"/>
          </a:xfrm>
          <a:prstGeom prst="ellipse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 b="1">
                <a:solidFill>
                  <a:srgbClr val="8B5A2B"/>
                </a:solidFill>
              </a:defRPr>
            </a:pPr>
            <a:r>
              <a:t>第十一章：核心内容总结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1100">
                <a:solidFill>
                  <a:srgbClr val="F5EBDC"/>
                </a:solidFill>
              </a:defRPr>
            </a:pPr>
            <a:r>
              <a:t>本PPT系统阐述了A2A协议与AI智能体的完整知识体系，全面覆盖AI智能体技术栈，助力蚌埠市AI产业升级。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65760" y="1828800"/>
          <a:ext cx="13533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691640"/>
                <a:gridCol w="1691640"/>
                <a:gridCol w="1691640"/>
                <a:gridCol w="1691640"/>
                <a:gridCol w="1691640"/>
                <a:gridCol w="1691640"/>
                <a:gridCol w="16916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t>章节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t>核心内容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t>关键技术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t>业务价值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t>实战要点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t>投资回报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t>蚌埠机遇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FFFFFF"/>
                          </a:solidFill>
                        </a:defRPr>
                      </a:pPr>
                      <a:r>
                        <a:t>核心价值</a:t>
                      </a:r>
                    </a:p>
                  </a:txBody>
                  <a:tcPr>
                    <a:solidFill>
                      <a:srgbClr val="8B5A2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第1章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A2A协议架构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Agent Cards、标准化消息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互操作性提升60%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跨平台协作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生态整合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打破平台壁垒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第2章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协议规范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JSON-RPC 2.0、gRPC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通信效率提升10x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低延迟通信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技术基础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标准化接口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第3章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安全合规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OAuth2、mTLS、零信任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合规成本降低40%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金融级安全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24个月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信任背书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数据安全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第4章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部署运维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K8s、自动扩缩容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可用性99.99%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高可用架构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18个月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基础设施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业务连续性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第5章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性能优化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缓存、异步IO、AI推理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性能提升3x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大规模承载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12个月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效率提升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用户体验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第6章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实战案例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供应链、风控、医疗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效率提升40%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行业落地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18-36个月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案例借鉴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价值验证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第7章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AI趋势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2026-2046演进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抢占先机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战略布局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长期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产业升级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前瞻布局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第8章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人才规划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全人群招聘策略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人才储备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本地就业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持续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人力资源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团队建设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第9章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创业指南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执照办理、政策支持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创业便利化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零成本注册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短期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创业环境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营商环境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第10章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大模型生态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多模态、开源、费用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选型决策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成本优化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持续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技术选型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AI能力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总结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A2A+AI智能体体系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端到端解决方案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 b="1">
                          <a:solidFill>
                            <a:srgbClr val="8B4513"/>
                          </a:solidFill>
                        </a:defRPr>
                      </a:pPr>
                      <a:r>
                        <a:t>企业智能化升级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技术+人才+生态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长期价值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蚌埠AI产业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20">
                          <a:solidFill>
                            <a:srgbClr val="F5EBDC"/>
                          </a:solidFill>
                        </a:defRPr>
                      </a:pPr>
                      <a:r>
                        <a:t>全面发展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2026. All Rights Reserved.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3657600" y="-2743200"/>
            <a:ext cx="14630400" cy="12801600"/>
          </a:xfrm>
          <a:prstGeom prst="ellipse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274320" y="274320"/>
            <a:ext cx="1097280" cy="1097280"/>
          </a:xfrm>
          <a:prstGeom prst="hexagon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438912" y="438912"/>
            <a:ext cx="768096" cy="768096"/>
          </a:xfrm>
          <a:prstGeom prst="hexagon">
            <a:avLst/>
          </a:prstGeom>
          <a:solidFill>
            <a:srgbClr val="00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368" y="65836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1005840" y="731520"/>
            <a:ext cx="1097280" cy="1097280"/>
          </a:xfrm>
          <a:prstGeom prst="hexagon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1170432" y="896112"/>
            <a:ext cx="768096" cy="768096"/>
          </a:xfrm>
          <a:prstGeom prst="hexagon">
            <a:avLst/>
          </a:prstGeom>
          <a:solidFill>
            <a:srgbClr val="00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89888" y="111556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1737360" y="1188720"/>
            <a:ext cx="1097280" cy="1097280"/>
          </a:xfrm>
          <a:prstGeom prst="hexagon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1901952" y="1353312"/>
            <a:ext cx="768096" cy="768096"/>
          </a:xfrm>
          <a:prstGeom prst="hexagon">
            <a:avLst/>
          </a:prstGeom>
          <a:solidFill>
            <a:srgbClr val="00D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21408" y="157276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801600" y="6858000"/>
            <a:ext cx="320040" cy="320040"/>
          </a:xfrm>
          <a:prstGeom prst="ellipse">
            <a:avLst/>
          </a:prstGeom>
          <a:solidFill>
            <a:srgbClr val="00B4FF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865608" y="6922008"/>
            <a:ext cx="192024" cy="19202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913614" y="6970014"/>
            <a:ext cx="96012" cy="960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252960" y="7223760"/>
            <a:ext cx="320040" cy="320040"/>
          </a:xfrm>
          <a:prstGeom prst="ellipse">
            <a:avLst/>
          </a:prstGeom>
          <a:solidFill>
            <a:srgbClr val="00B4FF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316968" y="7287768"/>
            <a:ext cx="192024" cy="19202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64974" y="7335774"/>
            <a:ext cx="96012" cy="960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704320" y="6858000"/>
            <a:ext cx="320040" cy="320040"/>
          </a:xfrm>
          <a:prstGeom prst="ellipse">
            <a:avLst/>
          </a:prstGeom>
          <a:solidFill>
            <a:srgbClr val="00B4FF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768328" y="6922008"/>
            <a:ext cx="192024" cy="19202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816334" y="6970014"/>
            <a:ext cx="96012" cy="960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55680" y="7223760"/>
            <a:ext cx="320040" cy="320040"/>
          </a:xfrm>
          <a:prstGeom prst="ellipse">
            <a:avLst/>
          </a:prstGeom>
          <a:solidFill>
            <a:srgbClr val="00B4FF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19688" y="7287768"/>
            <a:ext cx="192024" cy="19202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267694" y="7335774"/>
            <a:ext cx="96012" cy="960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07040" y="6858000"/>
            <a:ext cx="320040" cy="320040"/>
          </a:xfrm>
          <a:prstGeom prst="ellipse">
            <a:avLst/>
          </a:prstGeom>
          <a:solidFill>
            <a:srgbClr val="00B4FF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71048" y="6922008"/>
            <a:ext cx="192024" cy="19202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719054" y="6970014"/>
            <a:ext cx="96012" cy="960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 rot="20700000">
            <a:off x="1371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29" name="TextBox 28"/>
          <p:cNvSpPr txBox="1"/>
          <p:nvPr/>
        </p:nvSpPr>
        <p:spPr>
          <a:xfrm rot="20700000">
            <a:off x="1371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30" name="TextBox 29"/>
          <p:cNvSpPr txBox="1"/>
          <p:nvPr/>
        </p:nvSpPr>
        <p:spPr>
          <a:xfrm rot="20700000">
            <a:off x="1371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31" name="TextBox 30"/>
          <p:cNvSpPr txBox="1"/>
          <p:nvPr/>
        </p:nvSpPr>
        <p:spPr>
          <a:xfrm rot="20700000">
            <a:off x="1371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32" name="TextBox 31"/>
          <p:cNvSpPr txBox="1"/>
          <p:nvPr/>
        </p:nvSpPr>
        <p:spPr>
          <a:xfrm rot="20700000">
            <a:off x="5943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33" name="TextBox 32"/>
          <p:cNvSpPr txBox="1"/>
          <p:nvPr/>
        </p:nvSpPr>
        <p:spPr>
          <a:xfrm rot="20700000">
            <a:off x="5943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34" name="TextBox 33"/>
          <p:cNvSpPr txBox="1"/>
          <p:nvPr/>
        </p:nvSpPr>
        <p:spPr>
          <a:xfrm rot="20700000">
            <a:off x="5943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35" name="TextBox 34"/>
          <p:cNvSpPr txBox="1"/>
          <p:nvPr/>
        </p:nvSpPr>
        <p:spPr>
          <a:xfrm rot="20700000">
            <a:off x="5943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36" name="TextBox 35"/>
          <p:cNvSpPr txBox="1"/>
          <p:nvPr/>
        </p:nvSpPr>
        <p:spPr>
          <a:xfrm rot="20700000">
            <a:off x="105156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37" name="TextBox 36"/>
          <p:cNvSpPr txBox="1"/>
          <p:nvPr/>
        </p:nvSpPr>
        <p:spPr>
          <a:xfrm rot="20700000">
            <a:off x="10515600" y="34747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38" name="TextBox 37"/>
          <p:cNvSpPr txBox="1"/>
          <p:nvPr/>
        </p:nvSpPr>
        <p:spPr>
          <a:xfrm rot="20700000">
            <a:off x="10515600" y="53035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39" name="TextBox 38"/>
          <p:cNvSpPr txBox="1"/>
          <p:nvPr/>
        </p:nvSpPr>
        <p:spPr>
          <a:xfrm rot="20700000">
            <a:off x="10515600" y="71323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000" b="0">
                <a:solidFill>
                  <a:srgbClr val="647896"/>
                </a:solidFill>
              </a:defRPr>
            </a:pPr>
            <a:r>
              <a:t>A2A Protocol | Enterprise Edition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🎯 A2A协议核心要点总结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731520" y="1280160"/>
          <a:ext cx="132588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4700"/>
                <a:gridCol w="3314700"/>
                <a:gridCol w="3314700"/>
                <a:gridCol w="3314700"/>
              </a:tblGrid>
              <a:tr h="51538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章节</a:t>
                      </a:r>
                    </a:p>
                  </a:txBody>
                  <a:tcPr>
                    <a:solidFill>
                      <a:srgbClr val="0096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核心内容</a:t>
                      </a:r>
                    </a:p>
                  </a:txBody>
                  <a:tcPr>
                    <a:solidFill>
                      <a:srgbClr val="0096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关键价值</a:t>
                      </a:r>
                    </a:p>
                  </a:txBody>
                  <a:tcPr>
                    <a:solidFill>
                      <a:srgbClr val="0096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技术亮点</a:t>
                      </a:r>
                    </a:p>
                  </a:txBody>
                  <a:tcPr>
                    <a:solidFill>
                      <a:srgbClr val="0096DC"/>
                    </a:solidFill>
                  </a:tcPr>
                </a:tc>
              </a:tr>
              <a:tr h="51538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第一章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去中心化架构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高可用弹性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标准化协议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1538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第二章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JSON-RPC规范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跨平台互操作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异步通信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1538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第三章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OAuth2+mTLS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464"/>
                          </a:solidFill>
                        </a:defRPr>
                      </a:pPr>
                      <a:r>
                        <a:t>企业级安全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零信任架构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1538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第四章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K8s部署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464"/>
                          </a:solidFill>
                        </a:defRPr>
                      </a:pPr>
                      <a:r>
                        <a:t>99.99%可用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自动扩缩容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1538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第五章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缓存+批量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464"/>
                          </a:solidFill>
                        </a:defRPr>
                      </a:pPr>
                      <a:r>
                        <a:t>性能提升3x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低延迟设计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1538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第六章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实战案例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业务价值验证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多Agent协作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1538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第七章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AI发展趋势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2026-2046演进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战略布局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1538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第八章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人才规划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全人群覆盖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残疾人就业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1538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第九章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创业指南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政策支持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零成本注册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  <a:tr h="51539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第十章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大模型生态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多模态融合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CE6F0"/>
                          </a:solidFill>
                        </a:defRPr>
                      </a:pPr>
                      <a:r>
                        <a:t>成本优化</a:t>
                      </a:r>
                    </a:p>
                  </a:txBody>
                  <a:tcPr>
                    <a:solidFill>
                      <a:srgbClr val="191E28"/>
                    </a:solidFill>
                  </a:tcPr>
                </a:tc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2026. All Rights Reserved.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Oval 2"/>
          <p:cNvSpPr/>
          <p:nvPr/>
        </p:nvSpPr>
        <p:spPr>
          <a:xfrm>
            <a:off x="3657600" y="-1828800"/>
            <a:ext cx="12801600" cy="10972800"/>
          </a:xfrm>
          <a:prstGeom prst="ellipse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914400" y="914400"/>
            <a:ext cx="1097280" cy="1097280"/>
          </a:xfrm>
          <a:prstGeom prst="hexagon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xagon 4"/>
          <p:cNvSpPr/>
          <p:nvPr/>
        </p:nvSpPr>
        <p:spPr>
          <a:xfrm>
            <a:off x="1078992" y="1078992"/>
            <a:ext cx="768096" cy="768096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98448" y="129844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4114800" y="1645920"/>
            <a:ext cx="1097280" cy="1097280"/>
          </a:xfrm>
          <a:prstGeom prst="hexagon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>
            <a:off x="4279392" y="1810512"/>
            <a:ext cx="768096" cy="768096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98848" y="202996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exagon 9"/>
          <p:cNvSpPr/>
          <p:nvPr/>
        </p:nvSpPr>
        <p:spPr>
          <a:xfrm>
            <a:off x="7315200" y="914400"/>
            <a:ext cx="1097280" cy="1097280"/>
          </a:xfrm>
          <a:prstGeom prst="hexagon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7479792" y="1078992"/>
            <a:ext cx="768096" cy="768096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99248" y="129844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10515600" y="1645920"/>
            <a:ext cx="1097280" cy="1097280"/>
          </a:xfrm>
          <a:prstGeom prst="hexagon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exagon 13"/>
          <p:cNvSpPr/>
          <p:nvPr/>
        </p:nvSpPr>
        <p:spPr>
          <a:xfrm>
            <a:off x="10680192" y="1810512"/>
            <a:ext cx="768096" cy="768096"/>
          </a:xfrm>
          <a:prstGeom prst="hexagon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99648" y="2029968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7200" y="4572000"/>
            <a:ext cx="548640" cy="548640"/>
          </a:xfrm>
          <a:prstGeom prst="ellipse">
            <a:avLst/>
          </a:prstGeom>
          <a:solidFill>
            <a:srgbClr val="00B4FF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4681728"/>
            <a:ext cx="329184" cy="32918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" y="476402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984480" y="4572000"/>
            <a:ext cx="548640" cy="548640"/>
          </a:xfrm>
          <a:prstGeom prst="ellipse">
            <a:avLst/>
          </a:prstGeom>
          <a:solidFill>
            <a:srgbClr val="00B4FF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094208" y="4681728"/>
            <a:ext cx="329184" cy="329184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176504" y="4764024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3200">
                <a:solidFill>
                  <a:srgbClr val="00C8FF"/>
                </a:solidFill>
              </a:defRPr>
            </a:pPr>
            <a:r>
              <a:t>谢谢观看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9436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400">
                <a:solidFill>
                  <a:srgbClr val="96AABE"/>
                </a:solidFill>
              </a:defRPr>
            </a:pPr>
            <a:r>
              <a:t>A2A Protocol Enterprise Edition |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7680960"/>
            <a:ext cx="1371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>
              <a:defRPr sz="900">
                <a:solidFill>
                  <a:srgbClr val="788CA0"/>
                </a:solidFill>
              </a:defRPr>
            </a:pPr>
            <a:r>
              <a:t>Copyright © 2026.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