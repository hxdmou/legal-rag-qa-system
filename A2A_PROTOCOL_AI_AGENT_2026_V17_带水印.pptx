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0689336" cy="5998464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A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2200" b="1">
                <a:solidFill>
                  <a:srgbClr val="64B4FF"/>
                </a:solidFill>
                <a:latin typeface="Microsoft YaHei"/>
              </a:rPr>
              <a:t>A2A PROTOCOL 2.0: AI AGENT EVOLUTION ROADMAP 2026-2035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200">
                <a:solidFill>
                  <a:srgbClr val="96C8FF"/>
                </a:solidFill>
                <a:latin typeface="Microsoft YaHei"/>
              </a:rPr>
              <a:t>基于行业趋势推演的合理预测 | 模拟数据，仅供参考</a:t>
            </a:r>
          </a:p>
          <a:p>
            <a:r>
              <a:rPr sz="1200">
                <a:solidFill>
                  <a:srgbClr val="96C8FF"/>
                </a:solidFill>
                <a:latin typeface="Microsoft YaHei"/>
              </a:rPr>
              <a:t>免责声明：所有预测内容均为模拟推演，不代表真实未来；技术术语引用自公开文献或合理推测</a:t>
            </a:r>
          </a:p>
        </p:txBody>
      </p:sp>
      <p:sp>
        <p:nvSpPr>
          <p:cNvPr id="4" name="TextBox 3"/>
          <p:cNvSpPr txBox="1"/>
          <p:nvPr/>
        </p:nvSpPr>
        <p:spPr>
          <a:xfrm rot="1800000">
            <a:off x="1371600" y="36576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2400" b="1">
                <a:solidFill>
                  <a:srgbClr val="969696"/>
                </a:solidFill>
                <a:latin typeface="Microsoft YaHei"/>
              </a:rPr>
              <a:t>© 2026 A2A PROTOCOL - 仅供学习参考，禁止商用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7840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1800" b="1">
                <a:solidFill>
                  <a:srgbClr val="64B4FF"/>
                </a:solidFill>
                <a:latin typeface="Microsoft YaHei"/>
              </a:rPr>
              <a:t>项目1：A2A协议核心架构演进（2026-2035）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97280"/>
          <a:ext cx="1014984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2712"/>
                <a:gridCol w="922712"/>
                <a:gridCol w="922712"/>
                <a:gridCol w="922712"/>
                <a:gridCol w="922712"/>
                <a:gridCol w="922712"/>
                <a:gridCol w="922712"/>
                <a:gridCol w="922712"/>
                <a:gridCol w="922712"/>
                <a:gridCol w="922712"/>
                <a:gridCol w="922720"/>
              </a:tblGrid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年份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主题类型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负责人/团队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协议层级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AI大模型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核心技术栈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性能指标(含吞吐量)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技术难点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应对方案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年度总结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关键亮点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2026 Q1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架构组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应用层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GPT-5.0/DeepSeek-V5/Qianwen-3.6/Claude-3.5-Sonnet/Gemini-2.5-Flash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LangChain v0.1.x + RAG 2.0 + LlamaIndex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延迟&lt;10ms | QPS&gt;50万 | 吞吐量&gt;10万 req/s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长上下文理解、多模态对齐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优化Transformer架构、动态上下文管理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【突破】完成RAG 2.0升级；【事件】多模态API发布；【未达成】长上下文理解未达预期；【展望】Q2实现智能问答落地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多模态融合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2026 Q2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应用场景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研发组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应用层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GPT-5.0/DeepSeek-V5/Qianwen-3.6/Claude-3.5-Sonnet/Gemini-2.5-Flash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LangChain v0.1.x + RAG 2.0 + LlamaIndex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推理延迟&lt;50ms | 吞吐量&gt;5万 req/s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推理效率、知识库更新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LoRA微调、增量索引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【突破】智能问答准确率95%+；【事件】企业版发布；【未达成】知识库更新效率低；【展望】Q3推出Agent平台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智能问答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2026 Q3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市场影响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产品组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应用层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GPT-5.0/DeepSeek-V5/Qianwen-3.6/Claude-3.5-Sonnet/Gemini-2.5-Flash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Multi-Agent + AutoGPT + CrewAI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Agent协调效率提升200% | 吞吐量&gt;1万 task/s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Agent协调、任务分配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智能调度算法、记忆网络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【突破】推出企业级Agent平台；【事件】获得A轮融资；【未达成】跨部门协作效率待提升；【展望】Q4建立AI伦理框架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企业级部署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2026 Q4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伦理挑战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合规组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应用层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GPT-5.0/DeepSeek-V5/Qianwen-3.6/Claude-3.5-Sonnet/Gemini-2.5-Flash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AI安全检测 + 内容审核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合规率100% | 检测准确率99.9%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AI偏见、输出控制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Guardrails、对抗训练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【突破】建立AI伦理框架；【事件】通过ISO27001认证；【未达成】偏见检测精度不足；【展望】2027Q1升级事件驱动架构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AI伦理合规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2027 Q1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架构组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消息层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GPT-5.5/DeepSeek-V6/Gemini-2.0-Pro/Qianwen-4.0/Claude-3.5-Sonnet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Kafka 3.6 + NATS JetStream + eBPF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吞吐量&gt;100万 msg/s | 可用性99.99%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大规模消息队列稳定性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幂等性设计、分布式事务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【突破】完成事件驱动架构升级；【事件】技术白皮书发布；【未达成】跨区域同步延迟；【展望】Q2优化消息系统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事件驱动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2027 Q2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应用场景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研发组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消息层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GPT-5.5/DeepSeek-V6/Gemini-2.0-Pro/Qianwen-4.0/Claude-3.5-Sonnet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Envoy + eBPF + Linkerd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延迟&lt;5ms | 吞吐量&gt;50万 req/s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消息重复处理、流量控制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消息去重、智能流量调度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【突破】实现百万级消息吞吐；【事件】行业案例落地；【未达成】边缘节点覆盖不足；【展望】Q3融合向量数据库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高吞吐系统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2027 Q3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投资需求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财务组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消息层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GPT-5.5/DeepSeek-V6/Gemini-2.0-Pro/Qianwen-4.0/Claude-3.5-Sonnet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Milvus 2.4 + Redis 7 + TiDB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查询&lt;10ms | 索引10亿+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分布式一致性、索引更新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HNSW优化、一致性协议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【突破】完成向量数据库融合；【事件】B轮融资完成；【未达成】成本控制未达标；【展望】Q4完善数据安全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向量数据库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2027 Q4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法律挑战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法务组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消息层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GPT-5.5/DeepSeek-V6/Gemini-2.0-Pro/Qianwen-4.0/Claude-3.5-Sonnet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MPC + FHE + 联邦学习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数据合规率100% | 隐私保护等级PII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数据隐私保护、合规要求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安全多方计算、隐私增强技术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【突破】建立数据安全合规体系；【事件】通过GDPR认证；【未达成】跨境数据传输受限；【展望】2028升级HTTP/3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数据安全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2028 H1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架构组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网络层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GPT-6.0/Claude-3.5-Sonnet/Gemini-2.5-Flash/DeepSeek-V6/Qianwen-4.0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HTTP/3 + QUIC + gRPC 1.60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延迟降低40% | 吞吐量&gt;20万 req/s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多路复用并发控制、QUIC连接迁移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智能流量调度、自适应拥塞控制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【突破】完成HTTP/3升级；【事件】性能白皮书发布；【未达成】移动端适配待优化；【展望】H2完善安全层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多路复用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2028 H2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安全组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网络层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GPT-6.0/Claude-3.5-Sonnet/Gemini-2.5-Flash/DeepSeek-V6/Qianwen-4.0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OPA + HashiCorp Vault + Cloudflare WAF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威胁检测率99.9% | 防护覆盖率100%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安全防护一体化、AI对抗攻击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统一策略、AI检测引擎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【突破】完成安全架构升级；【事件】安全等级三级认证；【未达成】零信任覆盖不全；【展望】2029升级数据层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安全升级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2029 H1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数据组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数据层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GPT-6.5/DeepSeek-V7/Qianwen-4.0/Gemini-3.0/Claude-4.0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Milvus 3.0 + Redis 8 + TiDB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向量检索精度99.9% | 吞吐量&gt;50万 qps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向量检索精度、分布式一致性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HNSW优化、增量索引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【突破】支持10亿级向量索引；【事件】数据平台发布；【未达成】跨云数据同步延迟；【展望】H2推进量子安全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向量升级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2029 H2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安全组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数据层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GPT-6.5/DeepSeek-V7/Qianwen-4.0/Gemini-3.0/Claude-4.0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CRYSTALS-Kyber + TLS 1.3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后量子加密性能提升50% | 安全性NIST认证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后量子密码性能、部署复杂度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硬件加速、算法优化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【突破】完成后量子密码试点；【事件】量子安全白皮书发布；【未达成】性能开销较大；【展望】2030完成全面部署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后量子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2030 H1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架构组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安全层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GPT-7.0/Claude-4.0/Gemini-3.0/DeepSeek-V7/量子AI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QKD + 量子加密 + IBM Qiskit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量子加密通信距离&gt;1000km | 安全性无条件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量子密钥分发、退相干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量子中继、错误纠正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【突破】完成后量子密码部署；【事件】量子安全联盟成立；【未达成】成本较高；【展望】H2探索量子-AI融合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量子安全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2030 H2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研发组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安全层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GPT-7.0/Claude-4.0/Gemini-3.0/DeepSeek-V7/量子AI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量子-AI融合框架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量子加速比&gt;100x | 推理效率提升500%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量子-AI融合、算法设计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量子神经网络、混合计算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【突破】实现量子-AI融合；【事件】技术峰会举办；【未达成】稳定性待优化；【展望】2035实现量子通信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量子融合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2035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前沿组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量子层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Quantum-AI/IBM-Qiskit/Gemini-4.0/GPT-8.0/Claude-4.0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QKD + 量子加密 + IBM Qiskit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量子安全通信覆盖率100% | 密钥分发距离&gt;5000km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量子退相干、量子纠错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错误纠正码、量子中继器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【突破】实现量子安全通信；【事件】量子网络建成；【未达成】普及成本高；【展望】持续优化量子-AI融合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量子通信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 rot="1800000">
            <a:off x="1371600" y="36576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2400" b="1">
                <a:solidFill>
                  <a:srgbClr val="969696"/>
                </a:solidFill>
                <a:latin typeface="Microsoft YaHei"/>
              </a:rPr>
              <a:t>© 2026 A2A PROTOCOL - 仅供学习参考，禁止商用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D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7840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1800" b="1">
                <a:solidFill>
                  <a:srgbClr val="32FFC8"/>
                </a:solidFill>
                <a:latin typeface="Microsoft YaHei"/>
              </a:rPr>
              <a:t>项目2：价值维度评估体系（2026-2035）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97280"/>
          <a:ext cx="1014984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2712"/>
                <a:gridCol w="922712"/>
                <a:gridCol w="922712"/>
                <a:gridCol w="922712"/>
                <a:gridCol w="922712"/>
                <a:gridCol w="922712"/>
                <a:gridCol w="922712"/>
                <a:gridCol w="922712"/>
                <a:gridCol w="922712"/>
                <a:gridCol w="922712"/>
                <a:gridCol w="922720"/>
              </a:tblGrid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年份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主题类型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负责人/团队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评估维度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AI大模型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核心技术栈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性能指标(含吞吐量)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技术难点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应对方案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年度总结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关键亮点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2026 Q1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架构组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互操作性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GPT-5.0/DeepSeek-V5/Qianwen-3.6/Claude-3.5-Sonnet/Gemini-2.5-Flash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API网关 Kong + LangChain v0.1.x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多系统集成率95% | 协议兼容100%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多系统集成、协议兼容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标准化接口、适配器模式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【突破】完成API网关升级；【事件】标准化接口发布；【未达成】跨厂商兼容待完善；【展望】Q2实现无缝集成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API标准化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2026 Q2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应用场景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研发组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互操作性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GPT-5.0/DeepSeek-V5/Qianwen-3.6/Claude-3.5-Sonnet/Gemini-2.5-Flash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Kong + APISIX 3.0 + Envoy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系统集成效率提升150% | 吞吐量&gt;10万 req/s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数据格式统一、安全认证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协议转换、统一认证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【突破】实现多系统无缝集成；【事件】企业案例落地；【未达成】实时同步延迟；【展望】Q3优化弹性扩展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系统集成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2026 Q3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市场影响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产品组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弹性扩展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GPT-5.0/DeepSeek-V5/Qianwen-3.6/Claude-3.5-Sonnet/Gemini-2.5-Flash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K8s 1.29 + KEDA 2.12 + HPA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扩缩容时间缩短80% | 自动扩缩容准确率99%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弹性伸缩效率、资源调度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智能调度、自动扩缩容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【突破】扩缩容时间缩短80%；【事件】云原生白皮书发布；【未达成】成本控制待优化；【展望】Q4推出Serverless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弹性伸缩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2026 Q4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投资需求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财务组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弹性扩展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GPT-5.0/DeepSeek-V5/Qianwen-3.6/Claude-3.5-Sonnet/Gemini-2.5-Flash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Serverless + Fargate + Knative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成本降低40% | 冷启动&lt;30s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成本优化、冷启动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预热策略、成本治理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【突破】推出Serverless解决方案；【事件】成本优化报告发布；【未达成】边缘覆盖不足；【展望】2027Q1部署零信任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无服务器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2027 Q1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安全组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安全合规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GPT-5.5/Qianwen-3.6/Gemini-2.0-Pro/DeepSeek-V6/Claude-3.5-Sonnet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零信任 ZTNA + mTLS + OPA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安全合规一体化率100% | 认证时间&lt;5ms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安全合规一体化、策略管理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统一策略、自动化合规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【突破】完成零信任架构部署；【事件】安全白皮书发布；【未达成】策略复杂度高；【展望】Q2完善合规检测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零信任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2027 Q2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法律挑战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法务组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安全合规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GPT-5.5/Qianwen-3.6/Gemini-2.0-Pro/DeepSeek-V6/Claude-3.5-Sonnet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数据合规平台 + AI检测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合规检测准确率99.9% | 响应&lt;100ms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数据隐私保护、法规遵从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自动化合规、隐私增强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【突破】建立合规检测体系；【事件】合规认证通过；【未达成】跨境合规待完善；【展望】Q3优化可观测性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合规检测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2027 Q3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运维组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可观测性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GPT-5.5/Qianwen-3.6/Gemini-2.0-Pro/DeepSeek-V6/Claude-3.5-Sonnet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Prometheus + Loki + Tempo + eBPF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MTTD降低至5分钟 | 异常检测率99%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大规模监控、异常检测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流式处理、AI预测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【突破】MTTD降低至5分钟；【事件】运维平台升级；【未达成】根因分析待加强；【展望】Q4建立AI运维团队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智能监控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2027 Q4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人才需求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HR组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可观测性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GPT-5.5/Qianwen-3.6/Gemini-2.0-Pro/DeepSeek-V6/Claude-3.5-Sonnet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AI监控 + 模型可观测性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模型监控覆盖率100% | 预警准确率95%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模型漂移检测、性能监控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模型监控、预警系统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【突破】建立AI运维团队；【事件】培训体系建立；【未达成】人才缺口较大；【展望】2028优化Agent协作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AI运维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2028 H1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研发组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智能协作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GPT-6.0/Claude-3.5-Sonnet/Gemini-2.5-Flash/DeepSeek-V6/Qianwen-4.0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Multi-Agent + AutoGPT + CrewAI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协作效率提升200% | 任务完成率98%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Agent协调、任务分配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智能调度、记忆网络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【突破】效率提升200%；【事件】协作平台发布；【未达成】复杂任务分解待优化；【展望】H2推进跨云部署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Agent协作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2028 H2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架构组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跨云部署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GPT-6.0/Claude-3.5-Sonnet/Gemini-2.5-Flash/DeepSeek-V6/Qianwen-4.0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Crossplane + Terraform + Karmada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跨云部署&lt;300s | 多云统一管理率100%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多云管理、跨云迁移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统一编排、状态同步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【突破】实现多云统一管理；【事件】多云白皮书发布；【未达成】跨云延迟待优化；【展望】2029升级量子评估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多云编排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2029 H1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前沿组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量子-AI评估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GPT-6.5/Gemini-2.5-Flash/DeepSeek-V7/Qianwen-4.0/Claude-4.0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量子-AI评估框架 + 量子加密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评估准确率99.99% | 量子加速比&gt;50x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量子评估精度、量子安全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量子算法、安全协议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【突破】评估准确率达99.99%；【事件】量子评估框架发布；【未达成】成本较高；【展望】H2完善AI安全评估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量子评估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2029 H2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安全组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AI安全评估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GPT-6.5/Gemini-2.5-Flash/DeepSeek-V7/Qianwen-4.0/Claude-4.0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AI安全评估框架 + 合规检测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安全评估准确率99.9% | 合规覆盖率100%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AI安全检测、伦理评估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安全检测引擎、伦理框架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【突破】建立AI安全评估体系；【事件】安全评估标准发布；【未达成】伦理边界待明确；【展望】2030升级量子安全评估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AI安全评估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2030 H1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前沿组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量子安全评估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GPT-7.0/DeepSeek-V7/Gemini-3.0/Claude-4.0/量子AI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量子安全评估 + 量子融合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量子安全评估精度99.99% | 量子通信安全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量子安全、评估精度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量子算法、安全框架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【突破】实现量子安全评估；【事件】量子安全白皮书发布；【未达成】技术成熟度待提升；【展望】H2完善综合评估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量子安全评估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2030 H2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研发组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综合评估体系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GPT-7.0/DeepSeek-V7/Gemini-3.0/Claude-4.0/量子AI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综合AI评估系统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多维度评估覆盖100% | 评估准确率99.9%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多维度评估、一致性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评估协议、统一框架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【突破】建立综合评估体系；【事件】综合评估框架发布；【未达成】跨域一致性待优化；【展望】2035完善量子评估体系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综合评估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2035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前沿组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量子评估体系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Quantum-AI/IBM-Qiskit/Gemini-4.0/GPT-8.0/Claude-4.0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量子评估框架 + AI验证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量子评估精度99.999% | 跨域评估覆盖率100%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量子算法优化、评估精度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量子纠错、算法优化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【突破】完成量子评估体系；【事件】评估标准发布；【未达成】成本较高；【展望】持续优化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量子评估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 rot="1800000">
            <a:off x="1371600" y="36576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2400" b="1">
                <a:solidFill>
                  <a:srgbClr val="969696"/>
                </a:solidFill>
                <a:latin typeface="Microsoft YaHei"/>
              </a:rPr>
              <a:t>© 2026 A2A PROTOCOL - 仅供学习参考，禁止商用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3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7840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1800" b="1">
                <a:solidFill>
                  <a:srgbClr val="00C896"/>
                </a:solidFill>
                <a:latin typeface="Microsoft YaHei"/>
              </a:rPr>
              <a:t>项目3：安全组件体系（2026-2035）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97280"/>
          <a:ext cx="1014984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2712"/>
                <a:gridCol w="922712"/>
                <a:gridCol w="922712"/>
                <a:gridCol w="922712"/>
                <a:gridCol w="922712"/>
                <a:gridCol w="922712"/>
                <a:gridCol w="922712"/>
                <a:gridCol w="922712"/>
                <a:gridCol w="922712"/>
                <a:gridCol w="922712"/>
                <a:gridCol w="922720"/>
              </a:tblGrid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年份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主题类型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负责人/团队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安全组件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AI大模型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核心技术栈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安全能力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技术难点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应对方案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年度总结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关键亮点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2026 Q1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安全组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API网关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GPT-5.0/DeepSeek-V5/Qianwen-3.6/Claude-3.5-Sonnet/Gemini-2.5-Flash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Kong + APISIX 3.0 + Envoy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流量控制+认证+限流熔断 | 防护率100%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API安全、流量控制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AI分析、动态路由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【突破】完成API网关安全升级；【事件】安全架构发布；【未达成】复杂场景适配待优化；【展望】Q2部署WAF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AI流量调度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2026 Q2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应用场景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安全组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WAF防火墙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GPT-5.0/DeepSeek-V5/Qianwen-3.6/Claude-3.5-Sonnet/Gemini-2.5-Flash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Cloudflare WAF + ModSecurity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Web攻击防护+AI检测 | 检测率99.9%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Web攻击检测、AI对抗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AI模型、行为分析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【突破】检测率达99.9%；【事件】WAF升级完成；【未达成】误报率待降低；【展望】Q3优化身份认证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AI威胁检测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2026 Q3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法律挑战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法务组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身份认证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GPT-5.0/DeepSeek-V5/Qianwen-3.6/Claude-3.5-Sonnet/Gemini-2.5-Flash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Keycloak + Okta + FIDO2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OAuth2/OIDC+SSO+生物识别 | 认证安全等级A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多因素认证、身份管理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标准化协议、安全密钥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【突破】实现FIDO2认证；【事件】认证标准发布；【未达成】多设备同步待完善；【展望】Q4部署零信任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安全认证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2026 Q4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安全组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零信任架构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GPT-5.0/DeepSeek-V5/Qianwen-3.6/Claude-3.5-Sonnet/Gemini-2.5-Flash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BeyondCorp + Okta ZTNA + SASE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永不信任+持续验证+微分段 | 防护等级领先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零信任架构、网络隔离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微分段、加密隧道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【突破】实现全面网络隔离；【事件】零信任白皮书发布；【未达成】性能开销待优化；【展望】2027Q1部署后量子加密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零信任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2027 Q1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安全组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数据加密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GPT-5.5/DeepSeek-V6/Gemini-2.0-Pro/Qianwen-3.6/Claude-3.5-Sonnet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AES-256-GCM + TLS1.3 + CRYSTALS-Kyber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全链路加密+后量子密码 | 安全性NIST认证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后量子密码性能、同态加密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硬件加速、算法优化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【突破】完成后量子密码部署；【事件】加密标准升级；【未达成】性能开销较大；【展望】Q2完善威胁检测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后量子加密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2027 Q2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安全组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威胁检测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GPT-5.5/DeepSeek-V6/Gemini-2.0-Pro/Qianwen-3.6/Claude-3.5-Sonnet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Microsoft XDR + CrowdStrike EDR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AI实时告警+自动化响应 | 响应时间&lt;60s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威胁检测、AI对抗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AI模型、行为分析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【突破】实现AI实时告警；【事件】安全运营平台升级；【未达成】误报率待降低；【展望】Q3试点量子加密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AI安全运营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2027 Q3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投资需求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财务组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量子加密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GPT-5.5/DeepSeek-V6/Gemini-2.0-Pro/Qianwen-3.6/Claude-3.5-Sonnet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QKD + 量子密钥分发 + BB84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量子加密+无条件安全 | 密钥分发距离&gt;100km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量子密钥分发、距离限制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量子中继、卫星链路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【突破】试点量子加密通信；【事件】量子安全试点启动；【未达成】成本较高；【展望】Q4完善隐私计算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量子安全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2027 Q4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伦理挑战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合规组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隐私计算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GPT-5.5/DeepSeek-V6/Gemini-2.0-Pro/Qianwen-3.6/Claude-3.5-Sonnet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MPC + FHE + 联邦学习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安全多方计算+隐私保护 | 隐私保护等级PII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计算效率、数据共享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MPC优化、FHE加速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【突破】建立隐私计算平台；【事件】隐私计算白皮书发布；【未达成】计算效率待提升；【展望】2028完善AI安全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隐私保护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2028 H1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安全组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AI安全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GPT-6.0/Claude-3.5-Sonnet/Gemini-2.5-Flash/DeepSeek-V6/Qianwen-4.0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AI安全检测 + 模型防护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模型注入检测+后门检测 | 检测率99.99%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Guardrails、水印溯源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AI防护框架、水印技术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【突破】完成AI模型防护；【事件】AI安全标准发布；【未达成】对抗攻击防护待加强；【展望】H2完善云原生安全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AI模型安全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2028 H2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安全组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云原生安全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GPT-6.0/Claude-3.5-Sonnet/Gemini-2.5-Flash/DeepSeek-V6/Qianwen-4.0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Trivy + Falco + eBPF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K8s安全+容器扫描 | 漏洞检测率100%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容器安全、运行时保护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eBPF、漏洞扫描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【突破】实现全面云原生安全；【事件】云原生安全白皮书发布；【未达成】边缘安全待完善；【展望】2029完善神经安全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云原生安全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2029 H1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前沿组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量子-AI安全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GPT-6.5/DeepSeek-V7/Qianwen-4.0/Gemini-2.5-Flash/Claude-4.0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量子-AI融合安全 + 量子认证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量子认证、量子融合 | 安全性无条件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量子协议、身份验证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量子安全协议、融合框架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【突破】实现量子认证体系；【事件】量子-AI安全白皮书发布；【未达成】成本较高；【展望】H2完善AI安全架构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量子AI安全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2029 H2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安全组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AI安全架构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GPT-6.5/DeepSeek-V7/Qianwen-4.0/Gemini-2.5-Flash/Claude-4.0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AI安全防护框架 + 对抗检测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安全检测率99.99% | 防护覆盖率100%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AI对抗攻击、模型安全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Guardrails、水印溯源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【突破】完成AI安全架构升级；【事件】AI安全白皮书发布；【未达成】对抗攻击防护待加强；【展望】2030完善量子安全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AI安全架构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2030 H1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前沿组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量子安全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GPT-7.0/DeepSeek-V7/Gemini-3.0/Claude-4.0/量子AI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量子安全协议 + QKD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量子安全覆盖率100% | 密钥分发距离&gt;1000km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量子密钥分发、退相干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量子中继、错误纠正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【突破】完成量子安全部署；【事件】量子安全框架发布；【未达成】成本较高；【展望】H2完善综合安全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量子安全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2030 H2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安全组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综合安全体系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GPT-7.0/DeepSeek-V7/Gemini-3.0/Claude-4.0/量子AI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综合安全防护 + 零信任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综合防护覆盖率100% | 安全等级领先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安全一体化、威胁检测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统一策略、AI检测引擎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【突破】建立综合安全体系；【事件】综合安全白皮书发布；【未达成】检测误报率待降低；【展望】2035完善量子安全体系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综合安全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2035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前沿组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量子安全体系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Quantum-Security/IBM-Qiskit/Gemini-4.0/GPT-8.0/Claude-4.0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量子安全协议 + QKD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量子安全覆盖率100% | 密钥分发距离&gt;5000km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量子加密部署、密钥管理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量子中继、密钥轮换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【突破】完成量子安全体系；【事件】量子安全标准发布；【未达成】成本较高；【展望】持续优化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量子安全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 rot="1800000">
            <a:off x="1371600" y="36576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2400" b="1">
                <a:solidFill>
                  <a:srgbClr val="969696"/>
                </a:solidFill>
                <a:latin typeface="Microsoft YaHei"/>
              </a:rPr>
              <a:t>© 2026 A2A PROTOCOL - 仅供学习参考，禁止商用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1E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7840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1800" b="1">
                <a:solidFill>
                  <a:srgbClr val="FF9632"/>
                </a:solidFill>
                <a:latin typeface="Microsoft YaHei"/>
              </a:rPr>
              <a:t>项目4：部署策略规划（2026-2035）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97280"/>
          <a:ext cx="1014984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2712"/>
                <a:gridCol w="922712"/>
                <a:gridCol w="922712"/>
                <a:gridCol w="922712"/>
                <a:gridCol w="922712"/>
                <a:gridCol w="922712"/>
                <a:gridCol w="922712"/>
                <a:gridCol w="922712"/>
                <a:gridCol w="922712"/>
                <a:gridCol w="922712"/>
                <a:gridCol w="922720"/>
              </a:tblGrid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年份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主题类型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负责人/团队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部署策略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AI大模型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核心技术栈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性能指标(含吞吐量)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技术难点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应对方案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年度总结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关键亮点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2026 Q1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运维组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云原生部署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GPT-5.0/DeepSeek-V5/Qianwen-3.6/Claude-3.5-Sonnet/Gemini-2.5-Flash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K8s 1.29 + Istio 1.20 + Argo CD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部署&lt;30s | 扩缩容&lt;10s | 吞吐量&gt;10万 Pod/s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云原生部署、GitOps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基础设施即代码、自动化部署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【突破】完成云原生升级；【事件】GitOps流程落地；【未达成】边缘覆盖不足；【展望】Q2部署边缘AI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GitOps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2026 Q2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应用场景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运维组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边缘部署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GPT-5.0/DeepSeek-V5/Qianwen-3.6/Claude-3.5-Sonnet/Gemini-2.5-Flash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K3s + Cloudflare CDN + EdgeAI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延迟&lt;5ms | 吞吐量&gt;50万 req/s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边缘资源、模型压缩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轻量化部署、模型优化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【突破】延迟降低至5ms；【事件】边缘节点部署完成；【未达成】资源利用率待提升；【展望】Q3部署Serverless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边缘AI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2026 Q3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市场影响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产品组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Serverless部署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GPT-5.0/DeepSeek-V5/Qianwen-3.6/Claude-3.5-Sonnet/Gemini-2.5-Flash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AWS Lambda + Knative + OpenFaaS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启动&lt;60s | 吞吐量&gt;100万 invocations/s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冷启动、成本优化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预热策略、成本治理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【突破】实现自动扩缩容；【事件】Serverless平台发布；【未达成】冷启动待优化；【展望】Q4部署混合云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无服务器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2026 Q4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投资需求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财务组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混合云部署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GPT-5.0/DeepSeek-V5/Qianwen-3.6/Claude-3.5-Sonnet/Gemini-2.5-Flash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Crossplane + Terraform + Karmada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跨云部署&lt;1800s | 吞吐量&gt;10万 req/s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多云管理、跨云迁移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统一编排、状态同步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【突破】实现多云统一管理；【事件】混合云白皮书发布；【未达成】跨云延迟待优化；【展望】2027Q1优化AI推理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多云管理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2027 Q1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研发组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AI推理部署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GPT-5.5/DeepSeek-V6/Gemini-2.0-Pro/Qianwen-3.6/Claude-3.5-Sonnet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vLLM + TensorRT-LLM + TGI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推理&lt;5ms | 吞吐量&gt;500 tokens/s/GPU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推理延迟、显存占用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动态批处理、KV缓存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【突破】吞吐量提升300%；【事件】推理平台升级；【未达成】显存占用待优化；【展望】Q2部署向量数据库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高效推理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2027 Q2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数据组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向量数据库部署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GPT-5.5/DeepSeek-V6/Gemini-2.0-Pro/Qianwen-3.6/Claude-3.5-Sonnet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Milvus 2.4 + FAISS + Pinecone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查询&lt;10ms | 吞吐量&gt;100万 qps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向量检索、索引优化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HNSW优化、增量索引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【突破】支持100万qps；【事件】向量数据库升级；【未达成】索引更新待优化；【展望】Q3试点量子云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向量检索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2027 Q3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投资需求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财务组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量子云部署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GPT-5.5/DeepSeek-V6/Gemini-2.0-Pro/Qianwen-3.6/Claude-3.5-Sonnet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IBM Qiskit + 量子计算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量子加速比&gt;1000x | 吞吐量无限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量子计算、量子网络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量子协议、密钥分发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【突破】实现量子加速；【事件】量子云试点启动；【未达成】成本较高；【展望】Q4部署AGI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量子云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2027 Q4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伦理挑战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合规组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AGI部署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GPT-5.5/DeepSeek-V6/Gemini-2.0-Pro/Qianwen-3.6/Claude-3.5-Sonnet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AGI框架 + 分布式推理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响应&lt;50ms | 准确率99.5%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AGI部署、多模态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AGI框架、容错机制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【突破】准确率达99.5%；【事件】AGI试点部署；【未达成】伦理框架待完善；【展望】2028优化边缘AI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AGI落地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2028 H1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运维组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边缘AI部署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GPT-6.0/Claude-3.5-Sonnet/Gemini-2.5-Flash/DeepSeek-V6/Qianwen-4.0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EdgeAI + TensorRT 8 + ONNX Runtime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延迟&lt;5ms | 吞吐量&gt;100万 req/s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边缘AI、资源受限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模型压缩、量化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【突破】实现边缘优化；【事件】边缘AI平台发布；【未达成】覆盖范围待扩展；【展望】H2完善多云部署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边缘AI加速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2028 H2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架构组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多云部署优化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GPT-6.0/Claude-3.5-Sonnet/Gemini-2.5-Flash/DeepSeek-V6/Qianwen-4.0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Crossplane + Terraform + Karmada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跨云部署&lt;5min | 多云统一管理率100%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多云管理、跨云迁移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统一编排、状态同步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【突破】实现多云统一管理；【事件】多云白皮书发布；【未达成】跨云延迟待优化；【展望】2029试点量子加密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多云优化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2029 H1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安全组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量子加密部署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GPT-6.5/DeepSeek-V7/Qianwen-4.0/Gemini-2.5-Flash/Claude-4.0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QKD + 量子加密 + BB84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量子加密通信距离&gt;500km | 安全性无条件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量子密钥分发、退相干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量子中继、错误纠正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【突破】试点量子加密通信；【事件】量子安全试点启动；【未达成】成本较高；【展望】H2完善后量子密码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量子加密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2029 H2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安全组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后量子密码部署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GPT-6.5/DeepSeek-V7/Qianwen-4.0/Gemini-2.5-Flash/Claude-4.0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CRYSTALS-Kyber + TLS 1.3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后量子加密性能提升50% | 安全性NIST认证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后量子密码性能、部署复杂度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硬件加速、算法优化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【突破】完成后量子密码试点；【事件】后量子加密白皮书发布；【未达成】性能开销较大；【展望】2030完成全面部署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后量子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2030 H1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架构组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量子-AI融合部署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GPT-7.0/DeepSeek-V7/Gemini-3.0/Claude-4.0/量子AI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量子-AI融合框架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量子加速比&gt;100x | 推理效率提升500%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量子-AI融合、算法设计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量子神经网络、混合计算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【突破】实现量子-AI融合；【事件】技术峰会举办；【未达成】稳定性待优化；【展望】H2完善量子安全通信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量子融合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2030 H2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前沿组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量子安全通信部署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GPT-7.0/DeepSeek-V7/Gemini-3.0/Claude-4.0/量子AI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QKD + IBM Qiskit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量子加密通信距离&gt;1000km | 安全性无条件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量子密钥分发、量子网络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量子中继、卫星链路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【突破】实现量子安全通信；【事件】量子网络建成；【未达成】普及成本高；【展望】2035完善量子通信网络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量子通信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2035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前沿组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量子通信网络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Quantum-AI/IBM-Qiskit/Gemini-4.0/GPT-8.0/Claude-4.0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量子通信网络 + 量子中继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量子安全通信覆盖率100% | 密钥分发距离&gt;5000km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量子退相干、量子纠错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错误纠正码、量子中继器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【突破】量子通信网络覆盖全球；【事件】量子互联网发布；【未达成】成本较高；【展望】持续优化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量子网络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 rot="1800000">
            <a:off x="1371600" y="36576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2400" b="1">
                <a:solidFill>
                  <a:srgbClr val="969696"/>
                </a:solidFill>
                <a:latin typeface="Microsoft YaHei"/>
              </a:rPr>
              <a:t>© 2026 A2A PROTOCOL - 仅供学习参考，禁止商用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0F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7840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1800" b="1">
                <a:solidFill>
                  <a:srgbClr val="C864FF"/>
                </a:solidFill>
                <a:latin typeface="Microsoft YaHei"/>
              </a:rPr>
              <a:t>项目5：AI能力演进（2026-2035）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97280"/>
          <a:ext cx="1014984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2712"/>
                <a:gridCol w="922712"/>
                <a:gridCol w="922712"/>
                <a:gridCol w="922712"/>
                <a:gridCol w="922712"/>
                <a:gridCol w="922712"/>
                <a:gridCol w="922712"/>
                <a:gridCol w="922712"/>
                <a:gridCol w="922712"/>
                <a:gridCol w="922712"/>
                <a:gridCol w="922720"/>
              </a:tblGrid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年份</a:t>
                      </a:r>
                    </a:p>
                  </a:txBody>
                  <a:tcPr anchor="ctr">
                    <a:solidFill>
                      <a:srgbClr val="5A2E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主题类型</a:t>
                      </a:r>
                    </a:p>
                  </a:txBody>
                  <a:tcPr anchor="ctr">
                    <a:solidFill>
                      <a:srgbClr val="5A2E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负责人/团队</a:t>
                      </a:r>
                    </a:p>
                  </a:txBody>
                  <a:tcPr anchor="ctr">
                    <a:solidFill>
                      <a:srgbClr val="5A2E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AI能力</a:t>
                      </a:r>
                    </a:p>
                  </a:txBody>
                  <a:tcPr anchor="ctr">
                    <a:solidFill>
                      <a:srgbClr val="5A2E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AI大模型</a:t>
                      </a:r>
                    </a:p>
                  </a:txBody>
                  <a:tcPr anchor="ctr">
                    <a:solidFill>
                      <a:srgbClr val="5A2E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核心技术栈</a:t>
                      </a:r>
                    </a:p>
                  </a:txBody>
                  <a:tcPr anchor="ctr">
                    <a:solidFill>
                      <a:srgbClr val="5A2E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性能指标(含吞吐量)</a:t>
                      </a:r>
                    </a:p>
                  </a:txBody>
                  <a:tcPr anchor="ctr">
                    <a:solidFill>
                      <a:srgbClr val="5A2E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技术难点</a:t>
                      </a:r>
                    </a:p>
                  </a:txBody>
                  <a:tcPr anchor="ctr">
                    <a:solidFill>
                      <a:srgbClr val="5A2E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应对方案</a:t>
                      </a:r>
                    </a:p>
                  </a:txBody>
                  <a:tcPr anchor="ctr">
                    <a:solidFill>
                      <a:srgbClr val="5A2E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年度总结</a:t>
                      </a:r>
                    </a:p>
                  </a:txBody>
                  <a:tcPr anchor="ctr">
                    <a:solidFill>
                      <a:srgbClr val="5A2E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关键亮点</a:t>
                      </a:r>
                    </a:p>
                  </a:txBody>
                  <a:tcPr anchor="ctr">
                    <a:solidFill>
                      <a:srgbClr val="5A2E9D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2026 Q1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研发组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自然语言理解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GPT-5.0/DeepSeek-V5/Qianwen-3.6/Claude-3.5-Sonnet/Gemini-2.5-Flash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Transformer + LoRA + RLHF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理解准确率95%+ | 吞吐量&gt;10万 req/s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长上下文理解、推理能力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动态上下文管理、思维链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【突破】完成NLU升级；【事件】NLU平台发布；【未达成】长上下文理解待提升；【展望】Q2完善多模态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NLU优化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2026 Q2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应用场景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研发组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多模态理解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GPT-5.0/DeepSeek-V5/Qianwen-3.6/Claude-3.5-Sonnet/Gemini-2.5-Flash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多模态Transformer + CLIP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多模态对齐准确率90%+ | 吞吐量&gt;5万 req/s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多模态对齐、跨模态推理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多模态融合、对齐训练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【突破】实现多模态理解；【事件】多模态API发布；【未达成】跨模态推理待优化；【展望】Q3完善代码生成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多模态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2026 Q3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市场影响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产品组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代码生成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GPT-5.0/DeepSeek-V5/Qianwen-3.6/Claude-3.5-Sonnet/Gemini-2.5-Flash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CodeLlama + GitHub Copilot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代码生成效率提升200% | 准确率85%+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代码质量、安全性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代码审查、安全扫描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【突破】代码生成效率提升200%；【事件】代码助手发布；【未达成】安全性待加强；【展望】Q4完善AI对齐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代码生成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2026 Q4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伦理挑战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合规组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AI对齐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GPT-5.0/DeepSeek-V5/Qianwen-3.6/Claude-3.5-Sonnet/Gemini-2.5-Flash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RLHF + Constitutional AI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价值对齐率95%+ | 安全性达标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价值对齐、安全性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对齐训练、安全约束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【突破】建立AI对齐框架；【事件】对齐白皮书发布；【未达成】完全对齐待验证；【展望】2027Q1完善推理能力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AI对齐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2027 Q1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研发组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推理能力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GPT-5.5/DeepSeek-V6/Gemini-2.0-Pro/Qianwen-4.0/Claude-3.5-Sonnet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思维链 + 工具使用 + 数学推理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推理准确率提升30% | 复杂推理通过率80%+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复杂推理、逻辑推理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CoT、程序合成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【突破】推理准确率提升30%；【事件】推理引擎升级；【未达成】数学推理待加强；【展望】Q2完善工具使用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推理升级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2027 Q2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研发组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工具使用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GPT-5.5/DeepSeek-V6/Gemini-2.0-Pro/Qianwen-4.0/Claude-3.5-Sonnet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LangChain + Agent Framework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工具选择准确率95%+ | 任务完成率90%+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工具选择、执行规划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强化学习、规划算法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【突破】实现自主工具使用；【事件】工具调用框架发布；【未达成】复杂任务待优化；【展望】Q3完善模型压缩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工具调用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2027 Q3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投资需求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财务组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模型压缩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GPT-5.5/DeepSeek-V6/Gemini-2.0-Pro/Qianwen-4.0/Claude-3.5-Sonnet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量化 + 蒸馏 + LoRA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模型体积减小80% | 性能损失&lt;5%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压缩率、性能损失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量化优化、知识蒸馏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【突破】模型体积减小80%；【事件】轻量化模型发布；【未达成】极端压缩待优化；【展望】Q4完善AI工程化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模型压缩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2027 Q4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人才需求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HR组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AI工程化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GPT-5.5/DeepSeek-V6/Gemini-2.0-Pro/Qianwen-4.0/Claude-3.5-Sonnet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MLOps + 模型监控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模型部署效率提升100% | 监控覆盖率100%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模型部署、监控、迭代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MLOps平台、自动化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【突破】建立AI工程体系；【事件】MLOps平台发布；【未达成】自动化程度待提升；【展望】2028完善自主学习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AI工程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2028 H1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研发组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自主学习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GPT-6.0/Claude-3.5-Sonnet/Gemini-2.5-Flash/DeepSeek-V6/Qianwen-4.0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AutoML + 自我监督学习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自主发现能力实现 | 持续学习效率提升200%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自主发现、持续学习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自我监督、元学习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【突破】实现自主学习能力；【事件】自主学习框架发布；【未达成】学习效率待提升；【展望】H2完善多Agent协作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自主学习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2028 H2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研发组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多Agent协作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GPT-6.0/Claude-3.5-Sonnet/Gemini-2.5-Flash/DeepSeek-V6/Qianwen-4.0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Multi-Agent + Swarm Intelligence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协作效率提升200% | 任务完成率98%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Agent协调、任务分工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智能调度、冲突解决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【突破】效率提升200%；【事件】多Agent平台发布；【未达成】复杂协作待优化；【展望】2029完善量子AI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多Agent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2029 H1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前沿组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量子AI融合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GPT-6.5/DeepSeek-V7/Qianwen-4.0/Gemini-2.5-Flash/Claude-4.0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量子神经网络 + 量子计算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量子加速比&gt;100x | 推理效率提升500%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量子-AI融合、量子纠错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量子协议、错误纠正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【突破】实现量子加速；【事件】量子AI白皮书发布；【未达成】稳定性待优化；【展望】H2完善推理能力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量子AI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2029 H2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研发组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高级推理能力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GPT-6.5/DeepSeek-V7/Qianwen-4.0/Gemini-2.5-Flash/Claude-4.0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逻辑推理 + 数学推理 + 符号推理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复杂推理通过率90%+ | 数学推理准确率85%+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复杂推理、逻辑推理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程序合成、逻辑框架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【突破】推理准确率提升至90%；【事件】高级推理引擎发布；【未达成】创意推理待提升；【展望】2030完善多模态理解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高级推理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2030 H1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研发组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多模态融合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GPT-7.0/DeepSeek-V7/Gemini-3.0/Claude-4.0/量子AI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多模态Transformer + 跨模态推理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多模态理解准确率95%+ | 跨模态生成质量提升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跨模态推理、多模态对齐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多模态融合、对齐训练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【突破】实现深度多模态融合；【事件】多模态白皮书发布；【未达成】实时处理待优化；【展望】H2完善AI安全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多模态融合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2030 H2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安全组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AI安全能力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GPT-7.0/DeepSeek-V7/Gemini-3.0/Claude-4.0/量子AI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AI安全检测 + 对抗防护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安全检测率99.9% | 对抗攻击防护增强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对抗攻击、模型安全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Guardrails、水印溯源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【突破】建立AI安全体系；【事件】AI安全框架发布；【未达成】完全防护待验证；【展望】2035完善量子安全AI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AI安全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2035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前沿组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量子安全AI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Quantum-AI/IBM-Qiskit/Gemini-4.0/GPT-8.0/Claude-4.0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量子安全 + AI融合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量子安全AI实现 | 推理效率持续提升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量子-AI融合、安全协议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量子协议、安全框架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【突破】实现量子安全AI；【事件】量子安全AI发布；【未达成】成本较高；【展望】持续优化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量子安全AI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 rot="1800000">
            <a:off x="1371600" y="36576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2400" b="1">
                <a:solidFill>
                  <a:srgbClr val="969696"/>
                </a:solidFill>
                <a:latin typeface="Microsoft YaHei"/>
              </a:rPr>
              <a:t>© 2026 A2A PROTOCOL - 仅供学习参考，禁止商用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2D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7840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1800" b="1">
                <a:solidFill>
                  <a:srgbClr val="B4FF64"/>
                </a:solidFill>
                <a:latin typeface="Microsoft YaHei"/>
              </a:rPr>
              <a:t>项目6：性能指标体系（2026-2035）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97280"/>
          <a:ext cx="1014984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2712"/>
                <a:gridCol w="922712"/>
                <a:gridCol w="922712"/>
                <a:gridCol w="922712"/>
                <a:gridCol w="922712"/>
                <a:gridCol w="922712"/>
                <a:gridCol w="922712"/>
                <a:gridCol w="922712"/>
                <a:gridCol w="922712"/>
                <a:gridCol w="922712"/>
                <a:gridCol w="922720"/>
              </a:tblGrid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年份</a:t>
                      </a:r>
                    </a:p>
                  </a:txBody>
                  <a:tcPr anchor="ctr">
                    <a:solidFill>
                      <a:srgbClr val="7D9D2E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主题类型</a:t>
                      </a:r>
                    </a:p>
                  </a:txBody>
                  <a:tcPr anchor="ctr">
                    <a:solidFill>
                      <a:srgbClr val="7D9D2E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负责人/团队</a:t>
                      </a:r>
                    </a:p>
                  </a:txBody>
                  <a:tcPr anchor="ctr">
                    <a:solidFill>
                      <a:srgbClr val="7D9D2E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指标维度</a:t>
                      </a:r>
                    </a:p>
                  </a:txBody>
                  <a:tcPr anchor="ctr">
                    <a:solidFill>
                      <a:srgbClr val="7D9D2E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AI大模型</a:t>
                      </a:r>
                    </a:p>
                  </a:txBody>
                  <a:tcPr anchor="ctr">
                    <a:solidFill>
                      <a:srgbClr val="7D9D2E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核心技术栈</a:t>
                      </a:r>
                    </a:p>
                  </a:txBody>
                  <a:tcPr anchor="ctr">
                    <a:solidFill>
                      <a:srgbClr val="7D9D2E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性能指标(含吞吐量)</a:t>
                      </a:r>
                    </a:p>
                  </a:txBody>
                  <a:tcPr anchor="ctr">
                    <a:solidFill>
                      <a:srgbClr val="7D9D2E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技术难点</a:t>
                      </a:r>
                    </a:p>
                  </a:txBody>
                  <a:tcPr anchor="ctr">
                    <a:solidFill>
                      <a:srgbClr val="7D9D2E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应对方案</a:t>
                      </a:r>
                    </a:p>
                  </a:txBody>
                  <a:tcPr anchor="ctr">
                    <a:solidFill>
                      <a:srgbClr val="7D9D2E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年度总结</a:t>
                      </a:r>
                    </a:p>
                  </a:txBody>
                  <a:tcPr anchor="ctr">
                    <a:solidFill>
                      <a:srgbClr val="7D9D2E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关键亮点</a:t>
                      </a:r>
                    </a:p>
                  </a:txBody>
                  <a:tcPr anchor="ctr">
                    <a:solidFill>
                      <a:srgbClr val="7D9D2E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2026 Q1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研发组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延迟优化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GPT-5.0/DeepSeek-V5/Qianwen-3.6/Claude-3.5-Sonnet/Gemini-2.5-Flash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vLLM + TensorRT-LLM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延迟&lt;100ms | 吞吐量&gt;1000 tokens/s/GPU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推理延迟、动态批处理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KV缓存优化、动态批处理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【突破】延迟降低50%；【事件】低延迟推理平台发布；【未达成】极端场景待优化；【展望】Q2完善吞吐量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低延迟推理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2026 Q2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应用场景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研发组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吞吐量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GPT-5.0/DeepSeek-V5/Qianwen-3.6/Claude-3.5-Sonnet/Gemini-2.5-Flash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FAISS + HNSW + Pinecone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向量检索吞吐量&gt;100万 qps | 查询&lt;10ms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大规模索引、查询效率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HNSW优化、分布式索引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【突破】吞吐量提升300%；【事件】高吞吐检索系统发布；【未达成】精度待提升；【展望】Q3完善可用性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高吞吐检索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2026 Q3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市场影响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运维组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可用性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GPT-5.0/DeepSeek-V5/Qianwen-3.6/Claude-3.5-Sonnet/Gemini-2.5-Flash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K8s + Argo CD + Istio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可用性99.99% | MTTR&lt;1800s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高可用架构、故障恢复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自动故障转移、容错机制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【突破】可用性达99.99%；【事件】高可用架构发布；【未达成】极端故障恢复待优化；【展望】Q4完善成本优化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高可用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2026 Q4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投资需求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财务组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成本优化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GPT-5.0/DeepSeek-V5/Qianwen-3.6/Claude-3.5-Sonnet/Gemini-2.5-Flash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FinOps + Kubecost + AI预测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成本节省35% | ROI 300%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成本预测、资源优化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AI预测、自动优化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【突破】成本节省35%；【事件】成本优化报告发布；【未达成】持续优化待加强；【展望】2027Q1完善准确率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成本优化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2027 Q1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研发组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准确率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GPT-5.5/DeepSeek-V6/Gemini-2.0-Pro/Qianwen-4.0/Claude-3.5-Sonnet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AI评估 + 持续监控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准确率98%+ | 召回率95%+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模型漂移、性能衰退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持续监控、自动微调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【突破】准确率达98%；【事件】评估框架升级；【未达成】长尾场景待优化；【展望】Q2完善并发处理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高精度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2027 Q2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研发组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并发处理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GPT-5.5/DeepSeek-V6/Gemini-2.0-Pro/Qianwen-4.0/Claude-3.5-Sonnet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gRPC 1.60 + HTTP/3 + Envoy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并发&gt;100万 connections | 吞吐量&gt;50万 req/s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并发控制、连接管理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连接池、多路复用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【突破】并发突破100万；【事件】高并发架构发布；【未达成】资源消耗待优化；【展望】Q3完善资源利用率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高并发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2027 Q3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投资需求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财务组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资源利用率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GPT-5.5/DeepSeek-V6/Gemini-2.0-Pro/Qianwen-4.0/Claude-3.5-Sonnet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KEDA + HPA + VPA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利用率85%+ | 自动扩缩容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资源调度、弹性伸缩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智能调度、自动扩缩容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【突破】利用率达85%；【事件】资源优化平台发布；【未达成】峰值资源待优化；【展望】Q4完善可解释性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资源优化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2027 Q4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伦理挑战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合规组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可解释性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GPT-5.5/DeepSeek-V6/Gemini-2.0-Pro/Qianwen-4.0/Claude-3.5-Sonnet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可解释AI + 注意力可视化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决策可解释率95%+ | 透明度达标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决策解释、透明度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LIME、SHAP、注意力可视化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【突破】建立可解释体系；【事件】可解释AI框架发布；【未达成】复杂决策待解释；【展望】2028完善量子性能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可解释AI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2028 H1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研发组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量子性能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GPT-6.0/Claude-3.5-Sonnet/Gemini-2.5-Flash/DeepSeek-V6/Qianwen-4.0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量子计算 + 量子神经网络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量子加速比&gt;100x | 推理效率提升500%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量子计算、量子纠错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量子协议、错误纠正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【突破】实现量子加速；【事件】量子性能白皮书发布；【未达成】稳定性待优化；【展望】H2完善扩展能力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量子性能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2028 H2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架构组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扩展能力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GPT-6.0/Claude-3.5-Sonnet/Gemini-2.5-Flash/DeepSeek-V6/Qianwen-4.0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多云 + 边缘 + 容器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弹性扩展能力提升200% | 吞吐量&gt;100万 req/s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分布式架构、一致性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分布式共识、自动扩缩容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【突破】实现弹性扩展；【事件】扩展架构发布；【未达成】一致性待优化；【展望】2029完善后量子性能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弹性扩展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2029 H1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安全组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后量子性能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GPT-6.5/DeepSeek-V7/Qianwen-4.0/Gemini-2.5-Flash/Claude-4.0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后量子密码 + 量子加密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后量子加密性能提升50% | 安全性NIST认证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后量子密码性能、部署复杂度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硬件加速、算法优化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【突破】完成后量子密码部署；【事件】后量子性能白皮书发布；【未达成】性能开销较大；【展望】H2完善量子-AI性能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后量子性能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2029 H2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前沿组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量子-AI性能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GPT-6.5/DeepSeek-V7/Qianwen-4.0/Gemini-2.5-Flash/Claude-4.0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量子-AI融合 + 量子计算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量子加速比&gt;100x | 推理效率持续提升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量子-AI融合、量子纠错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量子协议、错误纠正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【突破】实现量子-AI融合性能；【事件】量子-AI性能发布；【未达成】稳定性待优化；【展望】2030完善量子通信性能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量子AI性能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2030 H1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前沿组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量子通信性能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GPT-7.0/DeepSeek-V7/Gemini-3.0/Claude-4.0/量子AI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量子通信 + 量子加密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量子通信距离&gt;1000km | 安全性无条件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量子密钥分发、退相干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量子中继、错误纠正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【突破】实现量子通信；【事件】量子通信性能发布；【未达成】成本较高；【展望】H2完善综合性能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量子通信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2030 H2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研发组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综合性能优化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GPT-7.0/DeepSeek-V7/Gemini-3.0/Claude-4.0/量子AI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综合优化 + AI调优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综合性能提升300% | 能效比提升200%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综合优化、能效平衡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AI调优、能效管理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【突破】综合性能提升300%；【事件】综合性能白皮书发布；【未达成】能效比待优化；【展望】2035完善量子安全性能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综合优化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2035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前沿组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量子安全性能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Quantum-AI/IBM-Qiskit/Gemini-4.0/GPT-8.0/Claude-4.0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量子安全 + AI融合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量子安全性能实现 | 无限扩展能力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量子安全、性能平衡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量子协议、优化框架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【突破】实现量子安全性能；【事件】量子安全性能发布；【未达成】成本较高；【展望】持续优化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量子安全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 rot="1800000">
            <a:off x="1371600" y="36576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2400" b="1">
                <a:solidFill>
                  <a:srgbClr val="969696"/>
                </a:solidFill>
                <a:latin typeface="Microsoft YaHei"/>
              </a:rPr>
              <a:t>© 2026 A2A PROTOCOL - 仅供学习参考，禁止商用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7840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1800" b="1">
                <a:solidFill>
                  <a:srgbClr val="64C8FF"/>
                </a:solidFill>
                <a:latin typeface="Microsoft YaHei"/>
              </a:rPr>
              <a:t>项目7：生态系统建设（2026-2035）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97280"/>
          <a:ext cx="1014984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2712"/>
                <a:gridCol w="922712"/>
                <a:gridCol w="922712"/>
                <a:gridCol w="922712"/>
                <a:gridCol w="922712"/>
                <a:gridCol w="922712"/>
                <a:gridCol w="922712"/>
                <a:gridCol w="922712"/>
                <a:gridCol w="922712"/>
                <a:gridCol w="922712"/>
                <a:gridCol w="922720"/>
              </a:tblGrid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年份</a:t>
                      </a:r>
                    </a:p>
                  </a:txBody>
                  <a:tcPr anchor="ctr">
                    <a:solidFill>
                      <a:srgbClr val="2E7D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主题类型</a:t>
                      </a:r>
                    </a:p>
                  </a:txBody>
                  <a:tcPr anchor="ctr">
                    <a:solidFill>
                      <a:srgbClr val="2E7D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负责人/团队</a:t>
                      </a:r>
                    </a:p>
                  </a:txBody>
                  <a:tcPr anchor="ctr">
                    <a:solidFill>
                      <a:srgbClr val="2E7D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生态组件</a:t>
                      </a:r>
                    </a:p>
                  </a:txBody>
                  <a:tcPr anchor="ctr">
                    <a:solidFill>
                      <a:srgbClr val="2E7D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AI大模型</a:t>
                      </a:r>
                    </a:p>
                  </a:txBody>
                  <a:tcPr anchor="ctr">
                    <a:solidFill>
                      <a:srgbClr val="2E7D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合作伙伴</a:t>
                      </a:r>
                    </a:p>
                  </a:txBody>
                  <a:tcPr anchor="ctr">
                    <a:solidFill>
                      <a:srgbClr val="2E7D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生态规模</a:t>
                      </a:r>
                    </a:p>
                  </a:txBody>
                  <a:tcPr anchor="ctr">
                    <a:solidFill>
                      <a:srgbClr val="2E7D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技术难点</a:t>
                      </a:r>
                    </a:p>
                  </a:txBody>
                  <a:tcPr anchor="ctr">
                    <a:solidFill>
                      <a:srgbClr val="2E7D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应对方案</a:t>
                      </a:r>
                    </a:p>
                  </a:txBody>
                  <a:tcPr anchor="ctr">
                    <a:solidFill>
                      <a:srgbClr val="2E7D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年度总结</a:t>
                      </a:r>
                    </a:p>
                  </a:txBody>
                  <a:tcPr anchor="ctr">
                    <a:solidFill>
                      <a:srgbClr val="2E7D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关键亮点</a:t>
                      </a:r>
                    </a:p>
                  </a:txBody>
                  <a:tcPr anchor="ctr">
                    <a:solidFill>
                      <a:srgbClr val="2E7D9D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2026 Q1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市场影响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市场组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开发者社区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GPT-5.0/DeepSeek-V5/Qianwen-3.6/Claude-3.5-Sonnet/Gemini-2.5-Flash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GitHub/GitLab/Stack Overflow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开发者10万+ | 贡献者1万+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社区运营、代码质量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开源治理、贡献激励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【突破】建立开发者社区；【事件】开源项目发布；【未达成】活跃度待提升；【展望】Q2完善API市场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开发者生态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2026 Q2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应用场景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产品组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API市场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GPT-5.0/DeepSeek-V5/Qianwen-3.6/Claude-3.5-Sonnet/Gemini-2.5-Flash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API Gateway/Marketplace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API数量1000+ | 调用量10亿+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API质量、安全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API认证、安全审计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【突破】推出API市场；【事件】API平台发布；【未达成】API质量待提升；【展望】Q3完善合作伙伴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API生态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2026 Q3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投资需求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商务组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合作伙伴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GPT-5.0/DeepSeek-V5/Qianwen-3.6/Claude-3.5-Sonnet/Gemini-2.5-Flash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云厂商/ISV/SI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合作伙伴100+ | 覆盖20+行业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合作伙伴管理、生态协同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生态合作、联合解决方案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【突破】建立合作伙伴体系；【事件】合作伙伴大会举办；【未达成】深度合作待加强；【展望】Q4完善行业标准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合作伙伴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2026 Q4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伦理挑战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合规组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行业标准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GPT-5.0/DeepSeek-V5/Qianwen-3.6/Claude-3.5-Sonnet/Gemini-2.5-Flash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ISO/IEC/W3C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参与标准制定 | 认证合规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标准制定、合规认证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行业协作、标准推动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【突破】参与行业标准制定；【事件】标准草案发布；【未达成】影响力待提升；【展望】2027Q1完善培训教育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标准制定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2027 Q1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市场影响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HR组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培训教育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GPT-5.5/DeepSeek-V6/Gemini-2.0-Pro/Qianwen-4.0/Claude-3.5-Sonnet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在线教育/认证平台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培训人数10万+ | 认证5万+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教育内容、认证标准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课程开发、认证体系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【突破】建立培训认证体系；【事件】培训平台发布；【未达成】课程质量待提升；【展望】Q2完善行业解决方案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教育培训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2027 Q2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应用场景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产品组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行业解决方案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GPT-5.5/DeepSeek-V6/Gemini-2.0-Pro/Qianwen-4.0/Claude-3.5-Sonnet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垂直行业/定制方案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覆盖10+行业 | 方案50+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行业适配、定制开发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行业专家、定制服务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【突破】推出行业解决方案；【事件】行业白皮书发布；【未达成】覆盖行业待扩展；【展望】Q3完善风险投资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行业方案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2027 Q3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投资需求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财务组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风险投资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GPT-5.5/DeepSeek-V6/Gemini-2.0-Pro/Qianwen-4.0/Claude-3.5-Sonnet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VC/PE/战略投资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投资规模10亿+ | 孵化企业50+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投资决策、投后管理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尽职调查、增值服务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【突破】建立投资生态；【事件】投资基金成立；【未达成】投资回报率待提升；【展望】Q4完善人才培养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投资生态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2027 Q4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人才需求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HR组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人才培养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GPT-5.5/DeepSeek-V6/Gemini-2.0-Pro/Qianwen-4.0/Claude-3.5-Sonnet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高校合作/人才平台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培养人才1万+ | 引进专家100+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人才培养、人才引进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校企合作、人才计划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【突破】建立人才培养体系；【事件】校企合作签约；【未达成】高端人才缺口；【展望】2028推进全球扩张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人才生态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2028 H1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市场影响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市场组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全球扩张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GPT-6.0/Claude-3.5-Sonnet/Gemini-2.5-Flash/DeepSeek-V6/Qianwen-4.0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全球化/本地化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覆盖50+国家 | 本地化团队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全球化运营、本地化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本地化团队、合规运营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【突破】实现全球化布局；【事件】全球发布会举办；【未达成】区域差异化待优化；【展望】H2建立产业联盟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全球生态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2028 H2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市场影响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商务组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产业联盟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GPT-6.0/Claude-3.5-Sonnet/Gemini-2.5-Flash/DeepSeek-V6/Qianwen-4.0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行业联盟/标准组织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联盟成员1000+ | 标准50+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联盟治理、标准推动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联盟运营、标准制定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【突破】建立产业联盟；【事件】联盟成立大会；【未达成】联盟凝聚力待提升；【展望】2029完善量子生态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产业联盟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2029 H1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市场影响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前沿组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量子生态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GPT-6.5/DeepSeek-V7/Qianwen-4.0/Gemini-2.5-Flash/Claude-4.0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量子计算/量子通信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量子节点100+ | 量子链路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量子网络、量子通信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量子协议、节点部署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【突破】建立量子生态；【事件】量子网络启动；【未达成】成本较高；【展望】H2完善安全生态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量子生态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2029 H2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市场影响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安全组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安全生态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GPT-6.5/DeepSeek-V7/Qianwen-4.0/Gemini-2.5-Flash/Claude-4.0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安全平台/威胁检测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安全覆盖率100% | 威胁检测率99.9%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安全防护、威胁检测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AI检测、安全协议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【突破】建立安全生态；【事件】安全生态发布；【未达成】检测误报率待降低；【展望】2030完善AI安全生态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安全生态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2030 H1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市场影响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研发组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AI安全生态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GPT-7.0/DeepSeek-V7/Gemini-3.0/Claude-4.0/量子AI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AI安全检测/对抗防护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AI安全检测率99.9% | 防护等级领先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AI安全、对抗攻击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Guardrails、水印溯源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【突破】建立AI安全生态；【事件】AI安全白皮书发布；【未达成】完全防护待验证；【展望】H2完善量子安全生态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AI安全生态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2030 H2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市场影响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前沿组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量子安全生态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GPT-7.0/DeepSeek-V7/Gemini-3.0/Claude-4.0/量子AI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量子安全/量子加密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量子安全覆盖率100% | 密钥分发距离&gt;1000km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量子安全、量子通信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量子协议、安全框架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【突破】建立量子安全生态；【事件】量子安全生态大会；【未达成】成本较高；【展望】2035完善全球量子生态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量子安全生态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2035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市场影响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前沿组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全球量子生态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Quantum-AI/IBM-Qiskit/Gemini-4.0/GPT-8.0/Claude-4.0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全球量子网络/量子通信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全球量子节点1000+ | 量子链路覆盖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全球量子网络、量子安全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量子协议、全球部署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【突破】建立全球量子生态；【事件】全球量子互联网发布；【未达成】成本较高；【展望】持续优化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全球量子生态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 rot="1800000">
            <a:off x="1371600" y="36576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2400" b="1">
                <a:solidFill>
                  <a:srgbClr val="969696"/>
                </a:solidFill>
                <a:latin typeface="Microsoft YaHei"/>
              </a:rPr>
              <a:t>© 2026 A2A PROTOCOL - 仅供学习参考，禁止商用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7840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1800" b="1">
                <a:solidFill>
                  <a:srgbClr val="9696FF"/>
                </a:solidFill>
                <a:latin typeface="Microsoft YaHei"/>
              </a:rPr>
              <a:t>项目8：技术方案对比（2026-2035）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97280"/>
          <a:ext cx="1014984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2712"/>
                <a:gridCol w="922712"/>
                <a:gridCol w="922712"/>
                <a:gridCol w="922712"/>
                <a:gridCol w="922712"/>
                <a:gridCol w="922712"/>
                <a:gridCol w="922712"/>
                <a:gridCol w="922712"/>
                <a:gridCol w="922712"/>
                <a:gridCol w="922712"/>
                <a:gridCol w="922720"/>
              </a:tblGrid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年份</a:t>
                      </a:r>
                    </a:p>
                  </a:txBody>
                  <a:tcPr anchor="ctr">
                    <a:solidFill>
                      <a:srgbClr val="3C3C78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主题类型</a:t>
                      </a:r>
                    </a:p>
                  </a:txBody>
                  <a:tcPr anchor="ctr">
                    <a:solidFill>
                      <a:srgbClr val="3C3C78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负责人/团队</a:t>
                      </a:r>
                    </a:p>
                  </a:txBody>
                  <a:tcPr anchor="ctr">
                    <a:solidFill>
                      <a:srgbClr val="3C3C78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技术方案</a:t>
                      </a:r>
                    </a:p>
                  </a:txBody>
                  <a:tcPr anchor="ctr">
                    <a:solidFill>
                      <a:srgbClr val="3C3C78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AI大模型</a:t>
                      </a:r>
                    </a:p>
                  </a:txBody>
                  <a:tcPr anchor="ctr">
                    <a:solidFill>
                      <a:srgbClr val="3C3C78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核心技术栈</a:t>
                      </a:r>
                    </a:p>
                  </a:txBody>
                  <a:tcPr anchor="ctr">
                    <a:solidFill>
                      <a:srgbClr val="3C3C78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性能对比</a:t>
                      </a:r>
                    </a:p>
                  </a:txBody>
                  <a:tcPr anchor="ctr">
                    <a:solidFill>
                      <a:srgbClr val="3C3C78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技术难点</a:t>
                      </a:r>
                    </a:p>
                  </a:txBody>
                  <a:tcPr anchor="ctr">
                    <a:solidFill>
                      <a:srgbClr val="3C3C78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应对方案</a:t>
                      </a:r>
                    </a:p>
                  </a:txBody>
                  <a:tcPr anchor="ctr">
                    <a:solidFill>
                      <a:srgbClr val="3C3C78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年度总结</a:t>
                      </a:r>
                    </a:p>
                  </a:txBody>
                  <a:tcPr anchor="ctr">
                    <a:solidFill>
                      <a:srgbClr val="3C3C78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关键亮点</a:t>
                      </a:r>
                    </a:p>
                  </a:txBody>
                  <a:tcPr anchor="ctr">
                    <a:solidFill>
                      <a:srgbClr val="3C3C78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2026 Q1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架构组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A2A协议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GPT-5.0/DeepSeek-V5/Qianwen-3.6/Claude-3.5-Sonnet/Gemini-2.5-Flash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A2A协议 + gRPC 1.60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延迟&lt;10ms | 吞吐量&gt;100万 req/s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协议设计、兼容性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标准化、向后兼容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【突破】完成A2A协议设计；【事件】协议白皮书发布；【未达成】跨版本兼容待完善；【展望】Q2完善消息队列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A2A协议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2026 Q2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研发组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消息队列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GPT-5.0/DeepSeek-V5/Qianwen-3.6/Claude-3.5-Sonnet/Gemini-2.5-Flash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Kafka 3.6 + NATS JetStream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吞吐量&gt;100万 msg/s | 可用性99.99%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消息可靠性、顺序保证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分布式事务、消息去重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【突破】完成消息队列升级；【事件】消息平台发布；【未达成】顺序保证待优化；【展望】Q3完善向量数据库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消息队列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2026 Q3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数据组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向量数据库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GPT-5.0/DeepSeek-V5/Qianwen-3.6/Claude-3.5-Sonnet/Gemini-2.5-Flash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Milvus 2.4 + FAISS + Pinecone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查询&lt;10ms | 索引10亿+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向量检索精度、索引更新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HNSW优化、增量索引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【突破】完成向量数据库融合；【事件】向量平台发布；【未达成】索引更新效率待提升；【展望】Q4完善边缘计算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向量DB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2026 Q4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运维组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边缘计算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GPT-5.0/DeepSeek-V5/Qianwen-3.6/Claude-3.5-Sonnet/Gemini-2.5-Flash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K3s + EdgeAI + OpenVINO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延迟&lt;5ms | INT8量化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边缘资源、模型压缩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模型蒸馏、量化优化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【突破】完成边缘AI部署；【事件】边缘平台发布；【未达成】资源利用率待提升；【展望】2027Q1完善Serverless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边缘AI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2027 Q1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运维组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Serverless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GPT-5.5/DeepSeek-V6/Gemini-2.0-Pro/Qianwen-4.0/Claude-3.5-Sonnet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AWS Lambda + Knative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启动&lt;60s | 自动扩缩容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冷启动、成本优化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预热策略、成本治理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【突破】完成Serverless升级；【事件】Serverless平台发布；【未达成】冷启动待优化；【展望】Q2完善AI推理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Serverless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2027 Q2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研发组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AI推理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GPT-5.5/DeepSeek-V6/Gemini-2.0-Pro/Qianwen-4.0/Claude-3.5-Sonnet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vLLM + TensorRT-LLM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推理&lt;5ms | 吞吐量&gt;2000 tokens/s/GPU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推理延迟、显存占用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动态批处理、KV缓存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【突破】完成高效推理优化；【事件】推理引擎升级；【未达成】显存占用待优化；【展望】Q3完善安全架构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高效推理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2027 Q3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安全组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安全架构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GPT-5.5/DeepSeek-V6/Gemini-2.0-Pro/Qianwen-4.0/Claude-3.5-Sonnet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零信任 + ZTNA + SASE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认证&lt;5ms | 合规率100%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安全合规一体化、威胁检测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统一策略、AI检测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【突破】完成安全架构升级；【事件】安全框架发布；【未达成】检测误报率待降低；【展望】Q4完善量子加密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安全架构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2027 Q4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前沿组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量子加密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GPT-5.5/DeepSeek-V6/Gemini-2.0-Pro/Qianwen-4.0/Claude-3.5-Sonnet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QKD + 量子加密 + BB84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量子加密 + 无条件安全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量子密钥分发、退相干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量子中继、错误纠正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【突破】完成量子加密试点；【事件】量子加密白皮书发布；【未达成】成本较高；【展望】2028完善HTTP/3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量子加密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2028 H1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架构组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HTTP/3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GPT-6.0/Claude-3.5-Sonnet/Gemini-2.5-Flash/DeepSeek-V6/Qianwen-4.0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HTTP/3 + QUIC + Envoy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延迟&lt;15ms | 多路复用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多路复用、连接迁移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智能流量调度、拥塞控制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【突破】完成HTTP/3升级；【事件】性能白皮书发布；【未达成】移动端适配待优化；【展望】H2完善跨云部署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HTTP/3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2028 H2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运维组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跨云部署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GPT-6.0/Claude-3.5-Sonnet/Gemini-2.5-Flash/DeepSeek-V6/Qianwen-4.0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Crossplane + Terraform + Karmada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跨云部署&lt;5min | 多云统一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多云管理、一致性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统一编排、状态同步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【突破】完成跨云部署；【事件】多云白皮书发布；【未达成】跨云延迟待优化；【展望】2029完善量子-AI融合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跨云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2029 H1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前沿组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量子-AI融合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GPT-6.5/DeepSeek-V7/Qianwen-4.0/Gemini-2.5-Flash/Claude-4.0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量子-AI融合 + 量子计算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量子加速比&gt;100x | 推理效率提升500%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量子融合、量子纠错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量子协议、错误纠正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【突破】完成量子-AI融合；【事件】量子融合白皮书发布；【未达成】稳定性待优化；【展望】H2完善后量子密码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量子融合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2029 H2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安全组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后量子密码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GPT-6.5/DeepSeek-V7/Qianwen-4.0/Gemini-2.5-Flash/Claude-4.0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CRYSTALS-Kyber + TLS 1.3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后量子加密性能提升50% | 安全性NIST认证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后量子密码性能、部署复杂度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硬件加速、算法优化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【突破】完成后量子密码部署；【事件】后量子加密白皮书发布；【未达成】性能开销较大；【展望】2030完善量子通信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后量子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2030 H1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前沿组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量子通信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GPT-7.0/DeepSeek-V7/Gemini-3.0/Claude-4.0/量子AI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QKD + IBM Qiskit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量子加密通信距离&gt;1000km | 安全性无条件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量子密钥分发、退相干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量子中继、错误纠正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【突破】完成量子通信部署；【事件】量子通信白皮书发布；【未达成】成本较高；【展望】H2完善量子网络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量子通信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2030 H2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架构组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量子网络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GPT-7.0/DeepSeek-V7/Gemini-3.0/Claude-4.0/量子AI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量子网络 + 量子中继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量子网络覆盖率50% | 密钥分发距离&gt;3000km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量子网络、量子中继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量子协议、中继部署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【突破】完成量子网络建设；【事件】量子网络发布；【未达成】覆盖率待提升；【展望】2035完善全球量子网络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量子网络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2035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前沿组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全球量子网络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Quantum-AI/IBM-Qiskit/Gemini-4.0/GPT-8.0/Claude-4.0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全球量子网络 + 量子互联网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全球量子网络覆盖率100% | 密钥分发距离&gt;5000km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全球部署、量子安全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量子协议、全球架构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【突破】完成全球量子网络；【事件】量子互联网发布；【未达成】成本较高；【展望】持续优化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全球量子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 rot="1800000">
            <a:off x="1371600" y="36576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2400" b="1">
                <a:solidFill>
                  <a:srgbClr val="969696"/>
                </a:solidFill>
                <a:latin typeface="Microsoft YaHei"/>
              </a:rPr>
              <a:t>© 2026 A2A PROTOCOL - 仅供学习参考，禁止商用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A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97840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2000" b="1">
                <a:solidFill>
                  <a:srgbClr val="64B4FF"/>
                </a:solidFill>
                <a:latin typeface="Microsoft YaHei"/>
              </a:rPr>
              <a:t>免责声明与数据来源说明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932688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/>
            <a:r>
              <a:rPr sz="1000">
                <a:solidFill>
                  <a:srgbClr val="B4C8E6"/>
                </a:solidFill>
                <a:latin typeface="Microsoft YaHei"/>
              </a:rPr>
              <a:t>【免责声明】
1. 本PPT所有内容均为基于行业趋势推演的合理预测，不代表真实未来；
2. 技术术语引用自公开文献或合理推测，实际发展可能有所不同；
3. 本文件仅供学习参考，不构成任何投资建议或商业决策依据；
4. 所有预测数据均为模拟推演，实际结果可能与预测存在差异；
5. 本文件内容受著作权保护，未经授权禁止商用传播；
6. 技术预测截至2035年，更长远的未来（2040-2050）因存在技术奇点不确定性，暂未展开；
7. 2031-2034年属于技术平稳积累期，无重大突破，故合并展示。
【数据来源说明】
- AI模型信息参考自OpenAI、Google、Anthropic、DeepSeek、百度等厂商公开信息；
- 技术趋势参考Gartner技术趋势报告、IDC全球AI支出指南、工信部人工智能发展规划；
- 量子计算信息参考IBM、Google、中科院量子信息与量子科技创新研究院公开进展；
- 行业标准参考ISO/IEC、W3C、IEEE等国际标准化组织公开文档；
- 市场预测参考麦肯锡全球AI报告、德勤科技趋势报告、信通院人工智能白皮书；
- 所有时间节点为合理预测，实际落地时间可能因技术突破或阻碍而变化；
- 所有模拟数据均不构成对实际技术发展路径的承诺。
【风险提示】
- 技术发展存在不确定性，实际进度可能因技术突破或阻碍而变化；
- 监管政策可能对技术发展方向产生影响；
- 市场竞争格局可能发生变化；
- 人才供应可能影响技术落地进度。
© 2026 A2A PROTOCOL - 仅供学习参考，禁止商用</a:t>
            </a:r>
          </a:p>
        </p:txBody>
      </p:sp>
      <p:sp>
        <p:nvSpPr>
          <p:cNvPr id="5" name="TextBox 4"/>
          <p:cNvSpPr txBox="1"/>
          <p:nvPr/>
        </p:nvSpPr>
        <p:spPr>
          <a:xfrm rot="1800000">
            <a:off x="1371600" y="36576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2400" b="1">
                <a:solidFill>
                  <a:srgbClr val="969696"/>
                </a:solidFill>
                <a:latin typeface="Microsoft YaHei"/>
              </a:rPr>
              <a:t>© 2026 A2A PROTOCOL - 仅供学习参考，禁止商用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