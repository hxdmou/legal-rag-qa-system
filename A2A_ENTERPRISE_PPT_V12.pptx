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Oval 2"/>
          <p:cNvSpPr/>
          <p:nvPr/>
        </p:nvSpPr>
        <p:spPr>
          <a:xfrm>
            <a:off x="4572000" y="-3657600"/>
            <a:ext cx="14630400" cy="12801600"/>
          </a:xfrm>
          <a:prstGeom prst="ellipse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xagon 3"/>
          <p:cNvSpPr/>
          <p:nvPr/>
        </p:nvSpPr>
        <p:spPr>
          <a:xfrm>
            <a:off x="10972800" y="274320"/>
            <a:ext cx="1371600" cy="1371600"/>
          </a:xfrm>
          <a:prstGeom prst="hexagon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xagon 4"/>
          <p:cNvSpPr/>
          <p:nvPr/>
        </p:nvSpPr>
        <p:spPr>
          <a:xfrm>
            <a:off x="11178540" y="480060"/>
            <a:ext cx="960119" cy="960119"/>
          </a:xfrm>
          <a:prstGeom prst="hexagon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452860" y="754380"/>
            <a:ext cx="411480" cy="4114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10515600" y="640080"/>
            <a:ext cx="1645920" cy="1645920"/>
          </a:xfrm>
          <a:prstGeom prst="hexagon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exagon 7"/>
          <p:cNvSpPr/>
          <p:nvPr/>
        </p:nvSpPr>
        <p:spPr>
          <a:xfrm>
            <a:off x="10762488" y="886968"/>
            <a:ext cx="1152144" cy="1152144"/>
          </a:xfrm>
          <a:prstGeom prst="hexagon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91672" y="1216152"/>
            <a:ext cx="493776" cy="4937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exagon 9"/>
          <p:cNvSpPr/>
          <p:nvPr/>
        </p:nvSpPr>
        <p:spPr>
          <a:xfrm>
            <a:off x="10058400" y="1005840"/>
            <a:ext cx="1920240" cy="1920240"/>
          </a:xfrm>
          <a:prstGeom prst="hexagon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xagon 10"/>
          <p:cNvSpPr/>
          <p:nvPr/>
        </p:nvSpPr>
        <p:spPr>
          <a:xfrm>
            <a:off x="10346436" y="1293876"/>
            <a:ext cx="1344168" cy="1344168"/>
          </a:xfrm>
          <a:prstGeom prst="hexagon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30484" y="1677924"/>
            <a:ext cx="576072" cy="5760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Hexagon 12"/>
          <p:cNvSpPr/>
          <p:nvPr/>
        </p:nvSpPr>
        <p:spPr>
          <a:xfrm>
            <a:off x="9601200" y="1371600"/>
            <a:ext cx="2194560" cy="2194560"/>
          </a:xfrm>
          <a:prstGeom prst="hexagon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exagon 13"/>
          <p:cNvSpPr/>
          <p:nvPr/>
        </p:nvSpPr>
        <p:spPr>
          <a:xfrm>
            <a:off x="9930384" y="1700784"/>
            <a:ext cx="1536192" cy="1536192"/>
          </a:xfrm>
          <a:prstGeom prst="hexagon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69296" y="2139696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74320" y="6400800"/>
            <a:ext cx="365760" cy="365760"/>
          </a:xfrm>
          <a:prstGeom prst="ellipse">
            <a:avLst/>
          </a:prstGeom>
          <a:solidFill>
            <a:srgbClr val="0096DC"/>
          </a:solidFill>
          <a:ln w="19050">
            <a:solidFill>
              <a:srgbClr val="009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47472" y="6473952"/>
            <a:ext cx="219456" cy="219456"/>
          </a:xfrm>
          <a:prstGeom prst="ellipse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02336" y="6528816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560320" y="7132320"/>
            <a:ext cx="365760" cy="365760"/>
          </a:xfrm>
          <a:prstGeom prst="ellipse">
            <a:avLst/>
          </a:prstGeom>
          <a:solidFill>
            <a:srgbClr val="0096DC"/>
          </a:solidFill>
          <a:ln w="19050">
            <a:solidFill>
              <a:srgbClr val="009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633472" y="7205472"/>
            <a:ext cx="219456" cy="219456"/>
          </a:xfrm>
          <a:prstGeom prst="ellipse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88336" y="7260336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46320" y="6400800"/>
            <a:ext cx="365760" cy="365760"/>
          </a:xfrm>
          <a:prstGeom prst="ellipse">
            <a:avLst/>
          </a:prstGeom>
          <a:solidFill>
            <a:srgbClr val="0096DC"/>
          </a:solidFill>
          <a:ln w="19050">
            <a:solidFill>
              <a:srgbClr val="009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919472" y="6473952"/>
            <a:ext cx="219456" cy="219456"/>
          </a:xfrm>
          <a:prstGeom prst="ellipse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974336" y="6528816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132320" y="7132320"/>
            <a:ext cx="365760" cy="365760"/>
          </a:xfrm>
          <a:prstGeom prst="ellipse">
            <a:avLst/>
          </a:prstGeom>
          <a:solidFill>
            <a:srgbClr val="0096DC"/>
          </a:solidFill>
          <a:ln w="19050">
            <a:solidFill>
              <a:srgbClr val="009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205472" y="7205472"/>
            <a:ext cx="219456" cy="219456"/>
          </a:xfrm>
          <a:prstGeom prst="ellipse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260336" y="7260336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418320" y="6400800"/>
            <a:ext cx="365760" cy="365760"/>
          </a:xfrm>
          <a:prstGeom prst="ellipse">
            <a:avLst/>
          </a:prstGeom>
          <a:solidFill>
            <a:srgbClr val="0096DC"/>
          </a:solidFill>
          <a:ln w="19050">
            <a:solidFill>
              <a:srgbClr val="009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91472" y="6473952"/>
            <a:ext cx="219456" cy="219456"/>
          </a:xfrm>
          <a:prstGeom prst="ellipse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546336" y="6528816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704320" y="7132320"/>
            <a:ext cx="365760" cy="365760"/>
          </a:xfrm>
          <a:prstGeom prst="ellipse">
            <a:avLst/>
          </a:prstGeom>
          <a:solidFill>
            <a:srgbClr val="0096DC"/>
          </a:solidFill>
          <a:ln w="19050">
            <a:solidFill>
              <a:srgbClr val="009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777472" y="7205472"/>
            <a:ext cx="219456" cy="219456"/>
          </a:xfrm>
          <a:prstGeom prst="ellipse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832336" y="7260336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74320" y="1371600"/>
            <a:ext cx="219456" cy="219456"/>
          </a:xfrm>
          <a:prstGeom prst="ellipse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4048" y="1467612"/>
            <a:ext cx="548640" cy="27432"/>
          </a:xfrm>
          <a:prstGeom prst="rect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60120" y="1371600"/>
            <a:ext cx="219456" cy="219456"/>
          </a:xfrm>
          <a:prstGeom prst="ellipse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69848" y="1467612"/>
            <a:ext cx="548640" cy="27432"/>
          </a:xfrm>
          <a:prstGeom prst="rect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645920" y="1371600"/>
            <a:ext cx="219456" cy="219456"/>
          </a:xfrm>
          <a:prstGeom prst="ellipse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755648" y="1467612"/>
            <a:ext cx="548640" cy="27432"/>
          </a:xfrm>
          <a:prstGeom prst="rect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331720" y="1371600"/>
            <a:ext cx="219456" cy="219456"/>
          </a:xfrm>
          <a:prstGeom prst="ellipse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441448" y="1467612"/>
            <a:ext cx="548640" cy="27432"/>
          </a:xfrm>
          <a:prstGeom prst="rect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017520" y="1371600"/>
            <a:ext cx="219456" cy="219456"/>
          </a:xfrm>
          <a:prstGeom prst="ellipse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74320" y="2468880"/>
            <a:ext cx="219456" cy="219456"/>
          </a:xfrm>
          <a:prstGeom prst="ellipse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84048" y="2564892"/>
            <a:ext cx="548640" cy="27432"/>
          </a:xfrm>
          <a:prstGeom prst="rect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60120" y="2468880"/>
            <a:ext cx="219456" cy="219456"/>
          </a:xfrm>
          <a:prstGeom prst="ellipse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69848" y="2564892"/>
            <a:ext cx="548640" cy="27432"/>
          </a:xfrm>
          <a:prstGeom prst="rect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645920" y="2468880"/>
            <a:ext cx="219456" cy="219456"/>
          </a:xfrm>
          <a:prstGeom prst="ellipse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755648" y="2564892"/>
            <a:ext cx="548640" cy="27432"/>
          </a:xfrm>
          <a:prstGeom prst="rect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331720" y="2468880"/>
            <a:ext cx="219456" cy="219456"/>
          </a:xfrm>
          <a:prstGeom prst="ellipse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441448" y="2564892"/>
            <a:ext cx="548640" cy="27432"/>
          </a:xfrm>
          <a:prstGeom prst="rect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017520" y="2468880"/>
            <a:ext cx="219456" cy="219456"/>
          </a:xfrm>
          <a:prstGeom prst="ellipse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74320" y="3566160"/>
            <a:ext cx="219456" cy="219456"/>
          </a:xfrm>
          <a:prstGeom prst="ellipse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84048" y="3662172"/>
            <a:ext cx="548640" cy="27432"/>
          </a:xfrm>
          <a:prstGeom prst="rect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60120" y="3566160"/>
            <a:ext cx="219456" cy="219456"/>
          </a:xfrm>
          <a:prstGeom prst="ellipse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69848" y="3662172"/>
            <a:ext cx="548640" cy="27432"/>
          </a:xfrm>
          <a:prstGeom prst="rect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645920" y="3566160"/>
            <a:ext cx="219456" cy="219456"/>
          </a:xfrm>
          <a:prstGeom prst="ellipse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755648" y="3662172"/>
            <a:ext cx="548640" cy="27432"/>
          </a:xfrm>
          <a:prstGeom prst="rect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331720" y="3566160"/>
            <a:ext cx="219456" cy="219456"/>
          </a:xfrm>
          <a:prstGeom prst="ellipse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441448" y="3662172"/>
            <a:ext cx="548640" cy="27432"/>
          </a:xfrm>
          <a:prstGeom prst="rect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3017520" y="3566160"/>
            <a:ext cx="219456" cy="219456"/>
          </a:xfrm>
          <a:prstGeom prst="ellipse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371600" y="2011680"/>
            <a:ext cx="118872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A2A协议与AI智能体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371600" y="3474720"/>
            <a:ext cx="11887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200">
                <a:solidFill>
                  <a:srgbClr val="00C8FF"/>
                </a:solidFill>
              </a:defRPr>
            </a:pPr>
            <a:r>
              <a:t>技术架构 · 安全合规 · 部署运维 · 大模型趋势 · 人才战略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57600" y="4206240"/>
            <a:ext cx="7315200" cy="45720"/>
          </a:xfrm>
          <a:prstGeom prst="rect">
            <a:avLst/>
          </a:prstGeom>
          <a:solidFill>
            <a:srgbClr val="00B4FF"/>
          </a:solidFill>
        </p:spPr>
        <p:txBody>
          <a:bodyPr wrap="none">
            <a:spAutoFit/>
          </a:bodyPr>
          <a:lstStyle/>
          <a:p/>
          <a:p>
            <a:pPr>
              <a:defRPr sz="200"/>
            </a:pPr>
          </a:p>
        </p:txBody>
      </p:sp>
      <p:sp>
        <p:nvSpPr>
          <p:cNvPr id="64" name="TextBox 63"/>
          <p:cNvSpPr txBox="1"/>
          <p:nvPr/>
        </p:nvSpPr>
        <p:spPr>
          <a:xfrm>
            <a:off x="2743200" y="502920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600">
                <a:solidFill>
                  <a:srgbClr val="96AABE"/>
                </a:solidFill>
              </a:defRPr>
            </a:pPr>
            <a:r>
              <a:t>A2A协议与AI智能体学习笔记</a:t>
            </a:r>
          </a:p>
          <a:p>
            <a:pPr algn="ctr">
              <a:defRPr sz="1200">
                <a:solidFill>
                  <a:srgbClr val="788CA0"/>
                </a:solidFill>
              </a:defRPr>
            </a:pPr>
            <a:r>
              <a:t>2026年5月 · 个人学习总结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" y="768096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900">
                <a:solidFill>
                  <a:srgbClr val="788CA0"/>
                </a:solidFill>
              </a:defRPr>
            </a:pPr>
            <a:r>
              <a:t>©2026个人学习笔记，非商用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Oval 2"/>
          <p:cNvSpPr/>
          <p:nvPr/>
        </p:nvSpPr>
        <p:spPr>
          <a:xfrm>
            <a:off x="9144000" y="-1828800"/>
            <a:ext cx="10972800" cy="9144000"/>
          </a:xfrm>
          <a:prstGeom prst="ellipse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 rot="20700000">
            <a:off x="1371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学习笔记</a:t>
            </a:r>
          </a:p>
        </p:txBody>
      </p:sp>
      <p:sp>
        <p:nvSpPr>
          <p:cNvPr id="6" name="TextBox 5"/>
          <p:cNvSpPr txBox="1"/>
          <p:nvPr/>
        </p:nvSpPr>
        <p:spPr>
          <a:xfrm rot="20700000">
            <a:off x="1371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学习笔记</a:t>
            </a:r>
          </a:p>
        </p:txBody>
      </p:sp>
      <p:sp>
        <p:nvSpPr>
          <p:cNvPr id="7" name="TextBox 6"/>
          <p:cNvSpPr txBox="1"/>
          <p:nvPr/>
        </p:nvSpPr>
        <p:spPr>
          <a:xfrm rot="20700000">
            <a:off x="1371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学习笔记</a:t>
            </a:r>
          </a:p>
        </p:txBody>
      </p:sp>
      <p:sp>
        <p:nvSpPr>
          <p:cNvPr id="8" name="TextBox 7"/>
          <p:cNvSpPr txBox="1"/>
          <p:nvPr/>
        </p:nvSpPr>
        <p:spPr>
          <a:xfrm rot="20700000">
            <a:off x="1371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学习笔记</a:t>
            </a:r>
          </a:p>
        </p:txBody>
      </p:sp>
      <p:sp>
        <p:nvSpPr>
          <p:cNvPr id="9" name="TextBox 8"/>
          <p:cNvSpPr txBox="1"/>
          <p:nvPr/>
        </p:nvSpPr>
        <p:spPr>
          <a:xfrm rot="20700000">
            <a:off x="5943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学习笔记</a:t>
            </a:r>
          </a:p>
        </p:txBody>
      </p:sp>
      <p:sp>
        <p:nvSpPr>
          <p:cNvPr id="10" name="TextBox 9"/>
          <p:cNvSpPr txBox="1"/>
          <p:nvPr/>
        </p:nvSpPr>
        <p:spPr>
          <a:xfrm rot="20700000">
            <a:off x="5943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学习笔记</a:t>
            </a:r>
          </a:p>
        </p:txBody>
      </p:sp>
      <p:sp>
        <p:nvSpPr>
          <p:cNvPr id="11" name="TextBox 10"/>
          <p:cNvSpPr txBox="1"/>
          <p:nvPr/>
        </p:nvSpPr>
        <p:spPr>
          <a:xfrm rot="20700000">
            <a:off x="5943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学习笔记</a:t>
            </a:r>
          </a:p>
        </p:txBody>
      </p:sp>
      <p:sp>
        <p:nvSpPr>
          <p:cNvPr id="12" name="TextBox 11"/>
          <p:cNvSpPr txBox="1"/>
          <p:nvPr/>
        </p:nvSpPr>
        <p:spPr>
          <a:xfrm rot="20700000">
            <a:off x="5943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学习笔记</a:t>
            </a:r>
          </a:p>
        </p:txBody>
      </p:sp>
      <p:sp>
        <p:nvSpPr>
          <p:cNvPr id="13" name="TextBox 12"/>
          <p:cNvSpPr txBox="1"/>
          <p:nvPr/>
        </p:nvSpPr>
        <p:spPr>
          <a:xfrm rot="20700000">
            <a:off x="10515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学习笔记</a:t>
            </a:r>
          </a:p>
        </p:txBody>
      </p:sp>
      <p:sp>
        <p:nvSpPr>
          <p:cNvPr id="14" name="TextBox 13"/>
          <p:cNvSpPr txBox="1"/>
          <p:nvPr/>
        </p:nvSpPr>
        <p:spPr>
          <a:xfrm rot="20700000">
            <a:off x="10515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学习笔记</a:t>
            </a:r>
          </a:p>
        </p:txBody>
      </p:sp>
      <p:sp>
        <p:nvSpPr>
          <p:cNvPr id="15" name="TextBox 14"/>
          <p:cNvSpPr txBox="1"/>
          <p:nvPr/>
        </p:nvSpPr>
        <p:spPr>
          <a:xfrm rot="20700000">
            <a:off x="10515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学习笔记</a:t>
            </a:r>
          </a:p>
        </p:txBody>
      </p:sp>
      <p:sp>
        <p:nvSpPr>
          <p:cNvPr id="16" name="TextBox 15"/>
          <p:cNvSpPr txBox="1"/>
          <p:nvPr/>
        </p:nvSpPr>
        <p:spPr>
          <a:xfrm rot="20700000">
            <a:off x="10515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学习笔记</a:t>
            </a:r>
          </a:p>
        </p:txBody>
      </p:sp>
      <p:sp>
        <p:nvSpPr>
          <p:cNvPr id="17" name="Hexagon 16"/>
          <p:cNvSpPr/>
          <p:nvPr/>
        </p:nvSpPr>
        <p:spPr>
          <a:xfrm>
            <a:off x="12344400" y="274320"/>
            <a:ext cx="1645920" cy="1645920"/>
          </a:xfrm>
          <a:prstGeom prst="hexagon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exagon 17"/>
          <p:cNvSpPr/>
          <p:nvPr/>
        </p:nvSpPr>
        <p:spPr>
          <a:xfrm>
            <a:off x="12591288" y="521208"/>
            <a:ext cx="1152144" cy="1152144"/>
          </a:xfrm>
          <a:prstGeom prst="hexagon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920472" y="850392"/>
            <a:ext cx="493776" cy="4937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2618720" y="2286000"/>
            <a:ext cx="457200" cy="457200"/>
          </a:xfrm>
          <a:prstGeom prst="ellipse">
            <a:avLst/>
          </a:prstGeom>
          <a:solidFill>
            <a:srgbClr val="00B4FF"/>
          </a:solidFill>
          <a:ln w="1905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2710160" y="2377440"/>
            <a:ext cx="274320" cy="274320"/>
          </a:xfrm>
          <a:prstGeom prst="ellipse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2778740" y="2446020"/>
            <a:ext cx="137160" cy="1371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344400" y="2926080"/>
            <a:ext cx="146304" cy="146304"/>
          </a:xfrm>
          <a:prstGeom prst="ellipse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2417552" y="2990088"/>
            <a:ext cx="365760" cy="18288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2801600" y="2926080"/>
            <a:ext cx="146304" cy="146304"/>
          </a:xfrm>
          <a:prstGeom prst="ellipse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2874752" y="2990088"/>
            <a:ext cx="365760" cy="18288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258800" y="2926080"/>
            <a:ext cx="146304" cy="146304"/>
          </a:xfrm>
          <a:prstGeom prst="ellipse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3331952" y="2990088"/>
            <a:ext cx="365760" cy="18288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716000" y="2926080"/>
            <a:ext cx="146304" cy="146304"/>
          </a:xfrm>
          <a:prstGeom prst="ellipse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3789152" y="2990088"/>
            <a:ext cx="365760" cy="18288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4173200" y="2926080"/>
            <a:ext cx="146304" cy="146304"/>
          </a:xfrm>
          <a:prstGeom prst="ellipse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400" b="1">
                <a:solidFill>
                  <a:srgbClr val="00B4FF"/>
                </a:solidFill>
              </a:defRPr>
            </a:pPr>
            <a:r>
              <a:t>第一章：A2A协议架构与核心价值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100">
                <a:solidFill>
                  <a:srgbClr val="E6F0FA"/>
                </a:solidFill>
              </a:defRPr>
            </a:pPr>
            <a:r>
              <a:t>A2A协议是下一代Agent-to-Agent通信标准，实现异构AI Agent之间的无缝协作，打破平台壁垒，构建开放的AI生态系统。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365760" y="1828800"/>
          <a:ext cx="135331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3680"/>
                <a:gridCol w="1503680"/>
                <a:gridCol w="1503680"/>
                <a:gridCol w="1503680"/>
                <a:gridCol w="1503680"/>
                <a:gridCol w="1503680"/>
                <a:gridCol w="1503680"/>
                <a:gridCol w="1503680"/>
                <a:gridCol w="1503680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价值维度</a:t>
                      </a:r>
                    </a:p>
                  </a:txBody>
                  <a:tcPr>
                    <a:solidFill>
                      <a:srgbClr val="00B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业务收益</a:t>
                      </a:r>
                    </a:p>
                  </a:txBody>
                  <a:tcPr>
                    <a:solidFill>
                      <a:srgbClr val="00B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技术实现</a:t>
                      </a:r>
                    </a:p>
                  </a:txBody>
                  <a:tcPr>
                    <a:solidFill>
                      <a:srgbClr val="00B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成功指标</a:t>
                      </a:r>
                    </a:p>
                  </a:txBody>
                  <a:tcPr>
                    <a:solidFill>
                      <a:srgbClr val="00B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适用场景</a:t>
                      </a:r>
                    </a:p>
                  </a:txBody>
                  <a:tcPr>
                    <a:solidFill>
                      <a:srgbClr val="00B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成熟度</a:t>
                      </a:r>
                    </a:p>
                  </a:txBody>
                  <a:tcPr>
                    <a:solidFill>
                      <a:srgbClr val="00B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投资回报</a:t>
                      </a:r>
                    </a:p>
                  </a:txBody>
                  <a:tcPr>
                    <a:solidFill>
                      <a:srgbClr val="00B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技术架构</a:t>
                      </a:r>
                    </a:p>
                  </a:txBody>
                  <a:tcPr>
                    <a:solidFill>
                      <a:srgbClr val="00B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关键挑战</a:t>
                      </a:r>
                    </a:p>
                  </a:txBody>
                  <a:tcPr>
                    <a:solidFill>
                      <a:srgbClr val="00B4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互操作性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5050"/>
                          </a:solidFill>
                        </a:defRPr>
                      </a:pPr>
                      <a:r>
                        <a:t>降低集成成本显著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标准化消息格式+Agent Cards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集成时间明显缩短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跨平台协作、生态整合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A2A协议栈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协议版本兼容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弹性扩展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支持大规模并发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去中心化架构+K8s调度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5050"/>
                          </a:solidFill>
                        </a:defRPr>
                      </a:pPr>
                      <a:r>
                        <a:t>吞吐量显著提升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大规模部署、弹性业务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12个月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K8s+Istio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资源调度优化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安全合规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5050"/>
                          </a:solidFill>
                        </a:defRPr>
                      </a:pPr>
                      <a:r>
                        <a:t>通过SOC2/ISO27001认证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端到端加密+零信任架构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5050"/>
                          </a:solidFill>
                        </a:defRPr>
                      </a:pPr>
                      <a:r>
                        <a:t>合规成本明显降低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金融级应用、医疗数据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24个月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零信任架构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证书管理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可观测性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全链路追踪+实时监控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OpenTelemetry+Prometheus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5050"/>
                          </a:solidFill>
                        </a:defRPr>
                      </a:pPr>
                      <a:r>
                        <a:t>MTTR明显降低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运维监控、故障排查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O11y Stack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监控告警风暴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智能协作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Agent自主协同+技能发现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A2A技能发现协议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5050"/>
                          </a:solidFill>
                        </a:defRPr>
                      </a:pPr>
                      <a:r>
                        <a:t>任务完成率有所提升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多Agent系统、任务分工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24个月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多Agent架构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协调一致性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跨云部署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多云无缝迁移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K8s原生支持+CNCF认证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迁移时间明显缩短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混合云架构、多云战略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36个月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混合云架构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数据同步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成本优化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5050"/>
                          </a:solidFill>
                        </a:defRPr>
                      </a:pPr>
                      <a:r>
                        <a:t>降低运维成本显著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自动化运维+Serverless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5050"/>
                          </a:solidFill>
                        </a:defRPr>
                      </a:pPr>
                      <a:r>
                        <a:t>TCO有所降低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中大型企业、成本敏感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24个月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Serverless架构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冷启动延迟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快速迭代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缩短开发周期显著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模块化设计+API优先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上市时间有所缩短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敏捷团队、快速上市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12个月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API优先架构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版本兼容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生态扩展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第三方Agent接入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标准化API+开发者SDK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生态伙伴明显增长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平台生态、合作伙伴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30个月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开放平台架构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生态治理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数据价值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数据资产变现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隐私计算+联邦学习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5050"/>
                          </a:solidFill>
                        </a:defRPr>
                      </a:pPr>
                      <a:r>
                        <a:t>数据价值有所提升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数据合作、合规共享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48个月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隐私计算架构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合规边界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边缘计算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5050"/>
                          </a:solidFill>
                        </a:defRPr>
                      </a:pPr>
                      <a:r>
                        <a:t>边缘延迟显著降低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K3s+边缘节点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快速响应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边缘场景、低延迟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24个月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边缘架构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边缘管理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AI协同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5050"/>
                          </a:solidFill>
                        </a:defRPr>
                      </a:pPr>
                      <a:r>
                        <a:t>AI任务效率显著提升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Agent技能组合+编排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5050"/>
                          </a:solidFill>
                        </a:defRPr>
                      </a:pPr>
                      <a:r>
                        <a:t>复杂任务完成率提升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AI应用、智能系统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30个月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AI Agent架构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技能组合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Agent自主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5050"/>
                          </a:solidFill>
                        </a:defRPr>
                      </a:pPr>
                      <a:r>
                        <a:t>自主决策能力显著提升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强化学习+决策引擎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人工干预减少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自主系统、智能决策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24个月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自主Agent架构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决策准确性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多模态交互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5050"/>
                          </a:solidFill>
                        </a:defRPr>
                      </a:pPr>
                      <a:r>
                        <a:t>交互体验显著提升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文本+语音+视觉融合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5050"/>
                          </a:solidFill>
                        </a:defRPr>
                      </a:pPr>
                      <a:r>
                        <a:t>用户满意度提升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智能客服、虚拟助手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多模态Agent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模态融合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640080" y="5943600"/>
            <a:ext cx="12801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 b="1">
                <a:solidFill>
                  <a:srgbClr val="64DCFF"/>
                </a:solidFill>
              </a:defRPr>
            </a:pPr>
            <a:r>
              <a:t>📚 拓展学习资源</a:t>
            </a:r>
          </a:p>
          <a:p>
            <a:pPr>
              <a:defRPr sz="800">
                <a:solidFill>
                  <a:srgbClr val="AAB9C8"/>
                </a:solidFill>
              </a:defRPr>
            </a:pPr>
            <a:r>
              <a:t>Linux Foundation: https://linuxfoundation.org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713232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900">
                <a:solidFill>
                  <a:srgbClr val="788CA0"/>
                </a:solidFill>
              </a:defRPr>
            </a:pPr>
            <a:r>
              <a:t>本内容为学习示例，不构成专业建议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768096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900">
                <a:solidFill>
                  <a:srgbClr val="788CA0"/>
                </a:solidFill>
              </a:defRPr>
            </a:pPr>
            <a:r>
              <a:t>©2026个人学习笔记，非商用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Oval 2"/>
          <p:cNvSpPr/>
          <p:nvPr/>
        </p:nvSpPr>
        <p:spPr>
          <a:xfrm>
            <a:off x="9144000" y="-1828800"/>
            <a:ext cx="10972800" cy="9144000"/>
          </a:xfrm>
          <a:prstGeom prst="ellipse">
            <a:avLst/>
          </a:prstGeom>
          <a:solidFill>
            <a:srgbClr val="00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 rot="20700000">
            <a:off x="1371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学习笔记</a:t>
            </a:r>
          </a:p>
        </p:txBody>
      </p:sp>
      <p:sp>
        <p:nvSpPr>
          <p:cNvPr id="6" name="TextBox 5"/>
          <p:cNvSpPr txBox="1"/>
          <p:nvPr/>
        </p:nvSpPr>
        <p:spPr>
          <a:xfrm rot="20700000">
            <a:off x="1371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学习笔记</a:t>
            </a:r>
          </a:p>
        </p:txBody>
      </p:sp>
      <p:sp>
        <p:nvSpPr>
          <p:cNvPr id="7" name="TextBox 6"/>
          <p:cNvSpPr txBox="1"/>
          <p:nvPr/>
        </p:nvSpPr>
        <p:spPr>
          <a:xfrm rot="20700000">
            <a:off x="1371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学习笔记</a:t>
            </a:r>
          </a:p>
        </p:txBody>
      </p:sp>
      <p:sp>
        <p:nvSpPr>
          <p:cNvPr id="8" name="TextBox 7"/>
          <p:cNvSpPr txBox="1"/>
          <p:nvPr/>
        </p:nvSpPr>
        <p:spPr>
          <a:xfrm rot="20700000">
            <a:off x="1371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学习笔记</a:t>
            </a:r>
          </a:p>
        </p:txBody>
      </p:sp>
      <p:sp>
        <p:nvSpPr>
          <p:cNvPr id="9" name="TextBox 8"/>
          <p:cNvSpPr txBox="1"/>
          <p:nvPr/>
        </p:nvSpPr>
        <p:spPr>
          <a:xfrm rot="20700000">
            <a:off x="5943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学习笔记</a:t>
            </a:r>
          </a:p>
        </p:txBody>
      </p:sp>
      <p:sp>
        <p:nvSpPr>
          <p:cNvPr id="10" name="TextBox 9"/>
          <p:cNvSpPr txBox="1"/>
          <p:nvPr/>
        </p:nvSpPr>
        <p:spPr>
          <a:xfrm rot="20700000">
            <a:off x="5943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学习笔记</a:t>
            </a:r>
          </a:p>
        </p:txBody>
      </p:sp>
      <p:sp>
        <p:nvSpPr>
          <p:cNvPr id="11" name="TextBox 10"/>
          <p:cNvSpPr txBox="1"/>
          <p:nvPr/>
        </p:nvSpPr>
        <p:spPr>
          <a:xfrm rot="20700000">
            <a:off x="5943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学习笔记</a:t>
            </a:r>
          </a:p>
        </p:txBody>
      </p:sp>
      <p:sp>
        <p:nvSpPr>
          <p:cNvPr id="12" name="TextBox 11"/>
          <p:cNvSpPr txBox="1"/>
          <p:nvPr/>
        </p:nvSpPr>
        <p:spPr>
          <a:xfrm rot="20700000">
            <a:off x="5943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学习笔记</a:t>
            </a:r>
          </a:p>
        </p:txBody>
      </p:sp>
      <p:sp>
        <p:nvSpPr>
          <p:cNvPr id="13" name="TextBox 12"/>
          <p:cNvSpPr txBox="1"/>
          <p:nvPr/>
        </p:nvSpPr>
        <p:spPr>
          <a:xfrm rot="20700000">
            <a:off x="10515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学习笔记</a:t>
            </a:r>
          </a:p>
        </p:txBody>
      </p:sp>
      <p:sp>
        <p:nvSpPr>
          <p:cNvPr id="14" name="TextBox 13"/>
          <p:cNvSpPr txBox="1"/>
          <p:nvPr/>
        </p:nvSpPr>
        <p:spPr>
          <a:xfrm rot="20700000">
            <a:off x="10515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学习笔记</a:t>
            </a:r>
          </a:p>
        </p:txBody>
      </p:sp>
      <p:sp>
        <p:nvSpPr>
          <p:cNvPr id="15" name="TextBox 14"/>
          <p:cNvSpPr txBox="1"/>
          <p:nvPr/>
        </p:nvSpPr>
        <p:spPr>
          <a:xfrm rot="20700000">
            <a:off x="10515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学习笔记</a:t>
            </a:r>
          </a:p>
        </p:txBody>
      </p:sp>
      <p:sp>
        <p:nvSpPr>
          <p:cNvPr id="16" name="TextBox 15"/>
          <p:cNvSpPr txBox="1"/>
          <p:nvPr/>
        </p:nvSpPr>
        <p:spPr>
          <a:xfrm rot="20700000">
            <a:off x="10515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学习笔记</a:t>
            </a:r>
          </a:p>
        </p:txBody>
      </p:sp>
      <p:sp>
        <p:nvSpPr>
          <p:cNvPr id="17" name="Hexagon 16"/>
          <p:cNvSpPr/>
          <p:nvPr/>
        </p:nvSpPr>
        <p:spPr>
          <a:xfrm>
            <a:off x="12344400" y="274320"/>
            <a:ext cx="1645920" cy="1645920"/>
          </a:xfrm>
          <a:prstGeom prst="hexagon">
            <a:avLst/>
          </a:prstGeom>
          <a:solidFill>
            <a:srgbClr val="00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exagon 17"/>
          <p:cNvSpPr/>
          <p:nvPr/>
        </p:nvSpPr>
        <p:spPr>
          <a:xfrm>
            <a:off x="12591288" y="521208"/>
            <a:ext cx="1152144" cy="1152144"/>
          </a:xfrm>
          <a:prstGeom prst="hexagon">
            <a:avLst/>
          </a:prstGeom>
          <a:solidFill>
            <a:srgbClr val="1E9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920472" y="850392"/>
            <a:ext cx="493776" cy="4937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2618720" y="2286000"/>
            <a:ext cx="457200" cy="457200"/>
          </a:xfrm>
          <a:prstGeom prst="ellipse">
            <a:avLst/>
          </a:prstGeom>
          <a:solidFill>
            <a:srgbClr val="00DCB4"/>
          </a:solidFill>
          <a:ln w="19050">
            <a:solidFill>
              <a:srgbClr val="00D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2710160" y="2377440"/>
            <a:ext cx="274320" cy="274320"/>
          </a:xfrm>
          <a:prstGeom prst="ellipse">
            <a:avLst/>
          </a:prstGeom>
          <a:solidFill>
            <a:srgbClr val="1E9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2778740" y="2446020"/>
            <a:ext cx="137160" cy="1371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344400" y="2926080"/>
            <a:ext cx="146304" cy="146304"/>
          </a:xfrm>
          <a:prstGeom prst="ellipse">
            <a:avLst/>
          </a:prstGeom>
          <a:solidFill>
            <a:srgbClr val="00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2417552" y="2990088"/>
            <a:ext cx="365760" cy="18288"/>
          </a:xfrm>
          <a:prstGeom prst="rect">
            <a:avLst/>
          </a:prstGeom>
          <a:solidFill>
            <a:srgbClr val="00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2801600" y="2926080"/>
            <a:ext cx="146304" cy="146304"/>
          </a:xfrm>
          <a:prstGeom prst="ellipse">
            <a:avLst/>
          </a:prstGeom>
          <a:solidFill>
            <a:srgbClr val="00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2874752" y="2990088"/>
            <a:ext cx="365760" cy="18288"/>
          </a:xfrm>
          <a:prstGeom prst="rect">
            <a:avLst/>
          </a:prstGeom>
          <a:solidFill>
            <a:srgbClr val="00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258800" y="2926080"/>
            <a:ext cx="146304" cy="146304"/>
          </a:xfrm>
          <a:prstGeom prst="ellipse">
            <a:avLst/>
          </a:prstGeom>
          <a:solidFill>
            <a:srgbClr val="00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3331952" y="2990088"/>
            <a:ext cx="365760" cy="18288"/>
          </a:xfrm>
          <a:prstGeom prst="rect">
            <a:avLst/>
          </a:prstGeom>
          <a:solidFill>
            <a:srgbClr val="00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716000" y="2926080"/>
            <a:ext cx="146304" cy="146304"/>
          </a:xfrm>
          <a:prstGeom prst="ellipse">
            <a:avLst/>
          </a:prstGeom>
          <a:solidFill>
            <a:srgbClr val="00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3789152" y="2990088"/>
            <a:ext cx="365760" cy="18288"/>
          </a:xfrm>
          <a:prstGeom prst="rect">
            <a:avLst/>
          </a:prstGeom>
          <a:solidFill>
            <a:srgbClr val="00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4173200" y="2926080"/>
            <a:ext cx="146304" cy="146304"/>
          </a:xfrm>
          <a:prstGeom prst="ellipse">
            <a:avLst/>
          </a:prstGeom>
          <a:solidFill>
            <a:srgbClr val="00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400" b="1">
                <a:solidFill>
                  <a:srgbClr val="00DCB4"/>
                </a:solidFill>
              </a:defRPr>
            </a:pPr>
            <a:r>
              <a:t>第二章：协议规范与技术细节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100">
                <a:solidFill>
                  <a:srgbClr val="DCF0E6"/>
                </a:solidFill>
              </a:defRPr>
            </a:pPr>
            <a:r>
              <a:t>协议规范定义了Agent间通信的标准化消息格式和交互模式，基于JSON-RPC 2.0实现跨平台、跨语言的互操作性。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365760" y="1828800"/>
          <a:ext cx="135331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3680"/>
                <a:gridCol w="1503680"/>
                <a:gridCol w="1503680"/>
                <a:gridCol w="1503680"/>
                <a:gridCol w="1503680"/>
                <a:gridCol w="1503680"/>
                <a:gridCol w="1503680"/>
                <a:gridCol w="1503680"/>
                <a:gridCol w="1503680"/>
              </a:tblGrid>
              <a:tr h="295421"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协议层级</a:t>
                      </a:r>
                    </a:p>
                  </a:txBody>
                  <a:tcPr>
                    <a:solidFill>
                      <a:srgbClr val="00DC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业务价值</a:t>
                      </a:r>
                    </a:p>
                  </a:txBody>
                  <a:tcPr>
                    <a:solidFill>
                      <a:srgbClr val="00DC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技术亮点</a:t>
                      </a:r>
                    </a:p>
                  </a:txBody>
                  <a:tcPr>
                    <a:solidFill>
                      <a:srgbClr val="00DC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成功指标</a:t>
                      </a:r>
                    </a:p>
                  </a:txBody>
                  <a:tcPr>
                    <a:solidFill>
                      <a:srgbClr val="00DC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适用场景</a:t>
                      </a:r>
                    </a:p>
                  </a:txBody>
                  <a:tcPr>
                    <a:solidFill>
                      <a:srgbClr val="00DC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性能指标</a:t>
                      </a:r>
                    </a:p>
                  </a:txBody>
                  <a:tcPr>
                    <a:solidFill>
                      <a:srgbClr val="00DC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投资回报</a:t>
                      </a:r>
                    </a:p>
                  </a:txBody>
                  <a:tcPr>
                    <a:solidFill>
                      <a:srgbClr val="00DC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技术架构</a:t>
                      </a:r>
                    </a:p>
                  </a:txBody>
                  <a:tcPr>
                    <a:solidFill>
                      <a:srgbClr val="00DC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关键挑战</a:t>
                      </a:r>
                    </a:p>
                  </a:txBody>
                  <a:tcPr>
                    <a:solidFill>
                      <a:srgbClr val="00DCB4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应用层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技能发现效率显著提升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Agent Cards/ADR规范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快速技能发现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Agent协作、技能共享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快速响应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12个月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REST+GraphQL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技能描述标准化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消息层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消息吞吐量显著提升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JSON-RPC 2.0/JSON-LD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高吞吐量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异步通信、事件驱动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高吞吐量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Kafka/Pulsar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消息顺序保证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传输层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延迟显著降低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HTTP/2、gRPC、QUIC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低延迟通信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低延迟通信、实时交互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低延迟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12个月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gRPC+QUIC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协议协商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安全层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安全合规成本显著降低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OAuth2、mTLS、JWT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零信任架构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身份认证、数据加密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零信任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24个月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PKI+OAuth2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密钥轮换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发现层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服务发现效率显著提升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服务注册中心/ETCD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快速更新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动态服务、微服务架构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快速更新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ETCD+Consul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一致性保证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事件层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实时推送延迟显著降低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WebSocket、SSE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低延迟推送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实时通知、状态同步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低延迟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12个月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WebSocket集群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连接管理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数据层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序列化效率显著提升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Protobuf/JSON/BSON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高效压缩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数据交换、存储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高效压缩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Protobuf+Schema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版本演进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控制层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路由灵活性显著提升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gRPC/REST/gRPC-Web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弹性路由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API网关、流量控制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弹性路由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12个月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Envoy/Kong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配置复杂度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编排层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工作流效率显著提升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Dapr/Knative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灵活流程编排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业务流程自动化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灵活编排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24个月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Dapr+Airflow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状态管理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语义层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知识理解能力显著提升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RDF/OWL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语义推理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知识图谱、AI理解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语义理解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36个月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知识图谱引擎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推理性能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Agent通信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Agent间通信效率显著提升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A2A消息格式+协议栈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低延迟通信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多Agent协作、消息传递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低延迟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12个月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A2A协议栈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消息可靠性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95428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Agent发现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Agent发现效率显著提升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服务发现+Agent注册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快速发现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动态Agent网络、自动发现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快速发现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Agent注册中心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注册一致性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640080" y="5943600"/>
            <a:ext cx="12801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 b="1">
                <a:solidFill>
                  <a:srgbClr val="64DCFF"/>
                </a:solidFill>
              </a:defRPr>
            </a:pPr>
            <a:r>
              <a:t>📚 拓展学习资源</a:t>
            </a:r>
          </a:p>
          <a:p>
            <a:pPr>
              <a:defRPr sz="800">
                <a:solidFill>
                  <a:srgbClr val="AAB9C8"/>
                </a:solidFill>
              </a:defRPr>
            </a:pPr>
            <a:r>
              <a:t>JSON-RPC 2.0: https://www.jsonrpc.org/specification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768096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900">
                <a:solidFill>
                  <a:srgbClr val="788CA0"/>
                </a:solidFill>
              </a:defRPr>
            </a:pPr>
            <a:r>
              <a:t>©2026个人学习笔记，非商用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Oval 2"/>
          <p:cNvSpPr/>
          <p:nvPr/>
        </p:nvSpPr>
        <p:spPr>
          <a:xfrm>
            <a:off x="9144000" y="-1828800"/>
            <a:ext cx="10972800" cy="9144000"/>
          </a:xfrm>
          <a:prstGeom prst="ellipse">
            <a:avLst/>
          </a:prstGeom>
          <a:solidFill>
            <a:srgbClr val="DC6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DC6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 rot="20700000">
            <a:off x="1371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学习笔记</a:t>
            </a:r>
          </a:p>
        </p:txBody>
      </p:sp>
      <p:sp>
        <p:nvSpPr>
          <p:cNvPr id="6" name="TextBox 5"/>
          <p:cNvSpPr txBox="1"/>
          <p:nvPr/>
        </p:nvSpPr>
        <p:spPr>
          <a:xfrm rot="20700000">
            <a:off x="1371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学习笔记</a:t>
            </a:r>
          </a:p>
        </p:txBody>
      </p:sp>
      <p:sp>
        <p:nvSpPr>
          <p:cNvPr id="7" name="TextBox 6"/>
          <p:cNvSpPr txBox="1"/>
          <p:nvPr/>
        </p:nvSpPr>
        <p:spPr>
          <a:xfrm rot="20700000">
            <a:off x="1371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学习笔记</a:t>
            </a:r>
          </a:p>
        </p:txBody>
      </p:sp>
      <p:sp>
        <p:nvSpPr>
          <p:cNvPr id="8" name="TextBox 7"/>
          <p:cNvSpPr txBox="1"/>
          <p:nvPr/>
        </p:nvSpPr>
        <p:spPr>
          <a:xfrm rot="20700000">
            <a:off x="1371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学习笔记</a:t>
            </a:r>
          </a:p>
        </p:txBody>
      </p:sp>
      <p:sp>
        <p:nvSpPr>
          <p:cNvPr id="9" name="TextBox 8"/>
          <p:cNvSpPr txBox="1"/>
          <p:nvPr/>
        </p:nvSpPr>
        <p:spPr>
          <a:xfrm rot="20700000">
            <a:off x="5943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学习笔记</a:t>
            </a:r>
          </a:p>
        </p:txBody>
      </p:sp>
      <p:sp>
        <p:nvSpPr>
          <p:cNvPr id="10" name="TextBox 9"/>
          <p:cNvSpPr txBox="1"/>
          <p:nvPr/>
        </p:nvSpPr>
        <p:spPr>
          <a:xfrm rot="20700000">
            <a:off x="5943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学习笔记</a:t>
            </a:r>
          </a:p>
        </p:txBody>
      </p:sp>
      <p:sp>
        <p:nvSpPr>
          <p:cNvPr id="11" name="TextBox 10"/>
          <p:cNvSpPr txBox="1"/>
          <p:nvPr/>
        </p:nvSpPr>
        <p:spPr>
          <a:xfrm rot="20700000">
            <a:off x="5943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学习笔记</a:t>
            </a:r>
          </a:p>
        </p:txBody>
      </p:sp>
      <p:sp>
        <p:nvSpPr>
          <p:cNvPr id="12" name="TextBox 11"/>
          <p:cNvSpPr txBox="1"/>
          <p:nvPr/>
        </p:nvSpPr>
        <p:spPr>
          <a:xfrm rot="20700000">
            <a:off x="5943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学习笔记</a:t>
            </a:r>
          </a:p>
        </p:txBody>
      </p:sp>
      <p:sp>
        <p:nvSpPr>
          <p:cNvPr id="13" name="TextBox 12"/>
          <p:cNvSpPr txBox="1"/>
          <p:nvPr/>
        </p:nvSpPr>
        <p:spPr>
          <a:xfrm rot="20700000">
            <a:off x="10515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学习笔记</a:t>
            </a:r>
          </a:p>
        </p:txBody>
      </p:sp>
      <p:sp>
        <p:nvSpPr>
          <p:cNvPr id="14" name="TextBox 13"/>
          <p:cNvSpPr txBox="1"/>
          <p:nvPr/>
        </p:nvSpPr>
        <p:spPr>
          <a:xfrm rot="20700000">
            <a:off x="10515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学习笔记</a:t>
            </a:r>
          </a:p>
        </p:txBody>
      </p:sp>
      <p:sp>
        <p:nvSpPr>
          <p:cNvPr id="15" name="TextBox 14"/>
          <p:cNvSpPr txBox="1"/>
          <p:nvPr/>
        </p:nvSpPr>
        <p:spPr>
          <a:xfrm rot="20700000">
            <a:off x="10515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学习笔记</a:t>
            </a:r>
          </a:p>
        </p:txBody>
      </p:sp>
      <p:sp>
        <p:nvSpPr>
          <p:cNvPr id="16" name="TextBox 15"/>
          <p:cNvSpPr txBox="1"/>
          <p:nvPr/>
        </p:nvSpPr>
        <p:spPr>
          <a:xfrm rot="20700000">
            <a:off x="10515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学习笔记</a:t>
            </a:r>
          </a:p>
        </p:txBody>
      </p:sp>
      <p:sp>
        <p:nvSpPr>
          <p:cNvPr id="17" name="Hexagon 16"/>
          <p:cNvSpPr/>
          <p:nvPr/>
        </p:nvSpPr>
        <p:spPr>
          <a:xfrm>
            <a:off x="12344400" y="274320"/>
            <a:ext cx="1645920" cy="1645920"/>
          </a:xfrm>
          <a:prstGeom prst="hexagon">
            <a:avLst/>
          </a:prstGeom>
          <a:solidFill>
            <a:srgbClr val="DC6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exagon 17"/>
          <p:cNvSpPr/>
          <p:nvPr/>
        </p:nvSpPr>
        <p:spPr>
          <a:xfrm>
            <a:off x="12591288" y="521208"/>
            <a:ext cx="1152144" cy="1152144"/>
          </a:xfrm>
          <a:prstGeom prst="hexagon">
            <a:avLst/>
          </a:prstGeom>
          <a:solidFill>
            <a:srgbClr val="96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920472" y="850392"/>
            <a:ext cx="493776" cy="4937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2618720" y="2286000"/>
            <a:ext cx="457200" cy="457200"/>
          </a:xfrm>
          <a:prstGeom prst="ellipse">
            <a:avLst/>
          </a:prstGeom>
          <a:solidFill>
            <a:srgbClr val="DC64C8"/>
          </a:solidFill>
          <a:ln w="19050">
            <a:solidFill>
              <a:srgbClr val="DC6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2710160" y="2377440"/>
            <a:ext cx="274320" cy="274320"/>
          </a:xfrm>
          <a:prstGeom prst="ellipse">
            <a:avLst/>
          </a:prstGeom>
          <a:solidFill>
            <a:srgbClr val="96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2778740" y="2446020"/>
            <a:ext cx="137160" cy="1371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344400" y="2926080"/>
            <a:ext cx="146304" cy="146304"/>
          </a:xfrm>
          <a:prstGeom prst="ellipse">
            <a:avLst/>
          </a:prstGeom>
          <a:solidFill>
            <a:srgbClr val="DC6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2417552" y="2990088"/>
            <a:ext cx="365760" cy="18288"/>
          </a:xfrm>
          <a:prstGeom prst="rect">
            <a:avLst/>
          </a:prstGeom>
          <a:solidFill>
            <a:srgbClr val="DC6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2801600" y="2926080"/>
            <a:ext cx="146304" cy="146304"/>
          </a:xfrm>
          <a:prstGeom prst="ellipse">
            <a:avLst/>
          </a:prstGeom>
          <a:solidFill>
            <a:srgbClr val="DC6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2874752" y="2990088"/>
            <a:ext cx="365760" cy="18288"/>
          </a:xfrm>
          <a:prstGeom prst="rect">
            <a:avLst/>
          </a:prstGeom>
          <a:solidFill>
            <a:srgbClr val="DC6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258800" y="2926080"/>
            <a:ext cx="146304" cy="146304"/>
          </a:xfrm>
          <a:prstGeom prst="ellipse">
            <a:avLst/>
          </a:prstGeom>
          <a:solidFill>
            <a:srgbClr val="DC6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3331952" y="2990088"/>
            <a:ext cx="365760" cy="18288"/>
          </a:xfrm>
          <a:prstGeom prst="rect">
            <a:avLst/>
          </a:prstGeom>
          <a:solidFill>
            <a:srgbClr val="DC6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716000" y="2926080"/>
            <a:ext cx="146304" cy="146304"/>
          </a:xfrm>
          <a:prstGeom prst="ellipse">
            <a:avLst/>
          </a:prstGeom>
          <a:solidFill>
            <a:srgbClr val="DC6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3789152" y="2990088"/>
            <a:ext cx="365760" cy="18288"/>
          </a:xfrm>
          <a:prstGeom prst="rect">
            <a:avLst/>
          </a:prstGeom>
          <a:solidFill>
            <a:srgbClr val="DC6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4173200" y="2926080"/>
            <a:ext cx="146304" cy="146304"/>
          </a:xfrm>
          <a:prstGeom prst="ellipse">
            <a:avLst/>
          </a:prstGeom>
          <a:solidFill>
            <a:srgbClr val="DC6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400" b="1">
                <a:solidFill>
                  <a:srgbClr val="DC64C8"/>
                </a:solidFill>
              </a:defRPr>
            </a:pPr>
            <a:r>
              <a:t>第三章：安全与合规体系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100">
                <a:solidFill>
                  <a:srgbClr val="F0DCF5"/>
                </a:solidFill>
              </a:defRPr>
            </a:pPr>
            <a:r>
              <a:t>企业级安全架构包括API网关、WAF防火墙、OAuth 2.0认证、mTLS加密等多层防护，确保数据安全和合规要求。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365760" y="1828800"/>
          <a:ext cx="135331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3680"/>
                <a:gridCol w="1503680"/>
                <a:gridCol w="1503680"/>
                <a:gridCol w="1503680"/>
                <a:gridCol w="1503680"/>
                <a:gridCol w="1503680"/>
                <a:gridCol w="1503680"/>
                <a:gridCol w="1503680"/>
                <a:gridCol w="1503680"/>
              </a:tblGrid>
              <a:tr h="182880"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安全组件</a:t>
                      </a:r>
                    </a:p>
                  </a:txBody>
                  <a:tcPr>
                    <a:solidFill>
                      <a:srgbClr val="DC64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业务价值</a:t>
                      </a:r>
                    </a:p>
                  </a:txBody>
                  <a:tcPr>
                    <a:solidFill>
                      <a:srgbClr val="DC64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技术亮点</a:t>
                      </a:r>
                    </a:p>
                  </a:txBody>
                  <a:tcPr>
                    <a:solidFill>
                      <a:srgbClr val="DC64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成功指标</a:t>
                      </a:r>
                    </a:p>
                  </a:txBody>
                  <a:tcPr>
                    <a:solidFill>
                      <a:srgbClr val="DC64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适用场景</a:t>
                      </a:r>
                    </a:p>
                  </a:txBody>
                  <a:tcPr>
                    <a:solidFill>
                      <a:srgbClr val="DC64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防护级别</a:t>
                      </a:r>
                    </a:p>
                  </a:txBody>
                  <a:tcPr>
                    <a:solidFill>
                      <a:srgbClr val="DC64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投资回报</a:t>
                      </a:r>
                    </a:p>
                  </a:txBody>
                  <a:tcPr>
                    <a:solidFill>
                      <a:srgbClr val="DC64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技术架构</a:t>
                      </a:r>
                    </a:p>
                  </a:txBody>
                  <a:tcPr>
                    <a:solidFill>
                      <a:srgbClr val="DC64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关键挑战</a:t>
                      </a:r>
                    </a:p>
                  </a:txBody>
                  <a:tcPr>
                    <a:solidFill>
                      <a:srgbClr val="DC64C8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API网关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API安全成本显著降低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Kong/APISIX/Envoy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高攻击拦截率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API安全、流量控制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API网关集群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性能损耗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WAF防火墙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Web攻击防护显著提升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ModSecurity/Akamai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OWASP Top10防护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Web应用、API保护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极高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24个月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WAF+CDN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规则误报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OAuth 2.0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认证效率显著提升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授权码/PKCE/JWT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快速认证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身份管理、SSO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12个月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OAuth2+OIDC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令牌管理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mTLS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通道安全高防护级别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双向证书+证书轮换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零中间人攻击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敏感数据传输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极高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24个月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PKI+SPIFFE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证书分发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RBAC/ABAC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权限管理效率显著提升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角色/属性权限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细粒度控制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企业级访问控制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IAM系统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权限爆炸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DDoS防护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DDoS攻击防护显著提升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Cloudflare/Akamai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高流量清洗率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大规模流量攻击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极高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24个月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多层防护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成本投入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数据加密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数据安全高防护级别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AES-256/GPG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全面加密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数据存储、传输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极高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加密服务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性能影响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审计日志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合规审计效率显著提升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ELK/Splunk/Datadog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日志不可篡改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合规审计、行为追踪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24个月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SIEM系统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存储成本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威胁检测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威胁发现显著加快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SIEM/EDR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快速攻击发现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高级威胁检测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30个月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AI检测引擎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误报率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密钥管理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密钥安全高防护级别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HSM/Cloud KMS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密钥高安全性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密钥存储、轮换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极高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24个月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HSM集群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可用性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数据脱敏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数据隐私高防护级别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动态脱敏+静态脱敏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敏感数据保护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数据共享、合规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24个月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脱敏引擎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精度平衡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访问审计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合规审计能力显著提升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行为分析+操作记录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全面审计覆盖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合规检查、安全审计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审计系统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日志存储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Agent安全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Agent间通信高防护级别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A2A安全协议+加密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通信安全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多Agent协作、数据传输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极高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A2A安全栈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协议兼容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AI伦理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AI行为高防护级别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伦理框架+审计机制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违规行为预防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AI应用、智能决策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24个月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伦理治理系统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伦理标准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安全审计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安全评估能力显著提升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渗透测试+安全扫描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高漏洞发现率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安全评估、合规检查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安全审计平台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审计深度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安全培训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安全意识显著提升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模拟演练+在线课程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安全事件减少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员工培训、安全意识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12个月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培训平台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培训效果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安全测试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代码安全显著提升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SAST/DAST/IAST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高漏洞修复率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开发安全、CI/CD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DevSecOps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误报处理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零信任架构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安全防护高防护级别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身份验证+最小权限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内部攻击防护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企业安全、边界消除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极高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24个月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零信任平台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实施复杂度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隐私计算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数据价值高防护级别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联邦学习+安全多方计算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数据可用不可见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数据协作、隐私保护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36个月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隐私计算平台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性能开销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SOC2合规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合规高防护级别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安全运营中心+审计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高合规通过率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企业级SaaS、金融服务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24个月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SOC2体系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持续合规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640080" y="5943600"/>
            <a:ext cx="12801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 b="1">
                <a:solidFill>
                  <a:srgbClr val="64DCFF"/>
                </a:solidFill>
              </a:defRPr>
            </a:pPr>
            <a:r>
              <a:t>📚 拓展学习资源</a:t>
            </a:r>
          </a:p>
          <a:p>
            <a:pPr>
              <a:defRPr sz="800">
                <a:solidFill>
                  <a:srgbClr val="AAB9C8"/>
                </a:solidFill>
              </a:defRPr>
            </a:pPr>
            <a:r>
              <a:t>OAuth 2.0: https://oauth.net/2/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713232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900">
                <a:solidFill>
                  <a:srgbClr val="788CA0"/>
                </a:solidFill>
              </a:defRPr>
            </a:pPr>
            <a:r>
              <a:t>本内容为学习示例，不构成专业建议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768096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900">
                <a:solidFill>
                  <a:srgbClr val="788CA0"/>
                </a:solidFill>
              </a:defRPr>
            </a:pPr>
            <a:r>
              <a:t>©2026个人学习笔记，非商用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Oval 2"/>
          <p:cNvSpPr/>
          <p:nvPr/>
        </p:nvSpPr>
        <p:spPr>
          <a:xfrm>
            <a:off x="9144000" y="-1828800"/>
            <a:ext cx="10972800" cy="9144000"/>
          </a:xfrm>
          <a:prstGeom prst="ellipse">
            <a:avLst/>
          </a:prstGeom>
          <a:solidFill>
            <a:srgbClr val="FFC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FFC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 rot="20700000">
            <a:off x="1371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学习笔记</a:t>
            </a:r>
          </a:p>
        </p:txBody>
      </p:sp>
      <p:sp>
        <p:nvSpPr>
          <p:cNvPr id="6" name="TextBox 5"/>
          <p:cNvSpPr txBox="1"/>
          <p:nvPr/>
        </p:nvSpPr>
        <p:spPr>
          <a:xfrm rot="20700000">
            <a:off x="1371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学习笔记</a:t>
            </a:r>
          </a:p>
        </p:txBody>
      </p:sp>
      <p:sp>
        <p:nvSpPr>
          <p:cNvPr id="7" name="TextBox 6"/>
          <p:cNvSpPr txBox="1"/>
          <p:nvPr/>
        </p:nvSpPr>
        <p:spPr>
          <a:xfrm rot="20700000">
            <a:off x="1371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学习笔记</a:t>
            </a:r>
          </a:p>
        </p:txBody>
      </p:sp>
      <p:sp>
        <p:nvSpPr>
          <p:cNvPr id="8" name="TextBox 7"/>
          <p:cNvSpPr txBox="1"/>
          <p:nvPr/>
        </p:nvSpPr>
        <p:spPr>
          <a:xfrm rot="20700000">
            <a:off x="1371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学习笔记</a:t>
            </a:r>
          </a:p>
        </p:txBody>
      </p:sp>
      <p:sp>
        <p:nvSpPr>
          <p:cNvPr id="9" name="TextBox 8"/>
          <p:cNvSpPr txBox="1"/>
          <p:nvPr/>
        </p:nvSpPr>
        <p:spPr>
          <a:xfrm rot="20700000">
            <a:off x="5943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学习笔记</a:t>
            </a:r>
          </a:p>
        </p:txBody>
      </p:sp>
      <p:sp>
        <p:nvSpPr>
          <p:cNvPr id="10" name="TextBox 9"/>
          <p:cNvSpPr txBox="1"/>
          <p:nvPr/>
        </p:nvSpPr>
        <p:spPr>
          <a:xfrm rot="20700000">
            <a:off x="5943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学习笔记</a:t>
            </a:r>
          </a:p>
        </p:txBody>
      </p:sp>
      <p:sp>
        <p:nvSpPr>
          <p:cNvPr id="11" name="TextBox 10"/>
          <p:cNvSpPr txBox="1"/>
          <p:nvPr/>
        </p:nvSpPr>
        <p:spPr>
          <a:xfrm rot="20700000">
            <a:off x="5943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学习笔记</a:t>
            </a:r>
          </a:p>
        </p:txBody>
      </p:sp>
      <p:sp>
        <p:nvSpPr>
          <p:cNvPr id="12" name="TextBox 11"/>
          <p:cNvSpPr txBox="1"/>
          <p:nvPr/>
        </p:nvSpPr>
        <p:spPr>
          <a:xfrm rot="20700000">
            <a:off x="5943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学习笔记</a:t>
            </a:r>
          </a:p>
        </p:txBody>
      </p:sp>
      <p:sp>
        <p:nvSpPr>
          <p:cNvPr id="13" name="TextBox 12"/>
          <p:cNvSpPr txBox="1"/>
          <p:nvPr/>
        </p:nvSpPr>
        <p:spPr>
          <a:xfrm rot="20700000">
            <a:off x="10515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学习笔记</a:t>
            </a:r>
          </a:p>
        </p:txBody>
      </p:sp>
      <p:sp>
        <p:nvSpPr>
          <p:cNvPr id="14" name="TextBox 13"/>
          <p:cNvSpPr txBox="1"/>
          <p:nvPr/>
        </p:nvSpPr>
        <p:spPr>
          <a:xfrm rot="20700000">
            <a:off x="10515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学习笔记</a:t>
            </a:r>
          </a:p>
        </p:txBody>
      </p:sp>
      <p:sp>
        <p:nvSpPr>
          <p:cNvPr id="15" name="TextBox 14"/>
          <p:cNvSpPr txBox="1"/>
          <p:nvPr/>
        </p:nvSpPr>
        <p:spPr>
          <a:xfrm rot="20700000">
            <a:off x="10515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学习笔记</a:t>
            </a:r>
          </a:p>
        </p:txBody>
      </p:sp>
      <p:sp>
        <p:nvSpPr>
          <p:cNvPr id="16" name="TextBox 15"/>
          <p:cNvSpPr txBox="1"/>
          <p:nvPr/>
        </p:nvSpPr>
        <p:spPr>
          <a:xfrm rot="20700000">
            <a:off x="10515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学习笔记</a:t>
            </a:r>
          </a:p>
        </p:txBody>
      </p:sp>
      <p:sp>
        <p:nvSpPr>
          <p:cNvPr id="17" name="Hexagon 16"/>
          <p:cNvSpPr/>
          <p:nvPr/>
        </p:nvSpPr>
        <p:spPr>
          <a:xfrm>
            <a:off x="12344400" y="274320"/>
            <a:ext cx="1645920" cy="1645920"/>
          </a:xfrm>
          <a:prstGeom prst="hexagon">
            <a:avLst/>
          </a:prstGeom>
          <a:solidFill>
            <a:srgbClr val="FFC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exagon 17"/>
          <p:cNvSpPr/>
          <p:nvPr/>
        </p:nvSpPr>
        <p:spPr>
          <a:xfrm>
            <a:off x="12591288" y="521208"/>
            <a:ext cx="1152144" cy="1152144"/>
          </a:xfrm>
          <a:prstGeom prst="hexagon">
            <a:avLst/>
          </a:prstGeom>
          <a:solidFill>
            <a:srgbClr val="B4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920472" y="850392"/>
            <a:ext cx="493776" cy="4937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2618720" y="2286000"/>
            <a:ext cx="457200" cy="457200"/>
          </a:xfrm>
          <a:prstGeom prst="ellipse">
            <a:avLst/>
          </a:prstGeom>
          <a:solidFill>
            <a:srgbClr val="FFC83C"/>
          </a:solidFill>
          <a:ln w="19050">
            <a:solidFill>
              <a:srgbClr val="FFC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2710160" y="2377440"/>
            <a:ext cx="274320" cy="274320"/>
          </a:xfrm>
          <a:prstGeom prst="ellipse">
            <a:avLst/>
          </a:prstGeom>
          <a:solidFill>
            <a:srgbClr val="B4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2778740" y="2446020"/>
            <a:ext cx="137160" cy="1371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344400" y="2926080"/>
            <a:ext cx="146304" cy="146304"/>
          </a:xfrm>
          <a:prstGeom prst="ellipse">
            <a:avLst/>
          </a:prstGeom>
          <a:solidFill>
            <a:srgbClr val="FFC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2417552" y="2990088"/>
            <a:ext cx="365760" cy="18288"/>
          </a:xfrm>
          <a:prstGeom prst="rect">
            <a:avLst/>
          </a:prstGeom>
          <a:solidFill>
            <a:srgbClr val="FFC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2801600" y="2926080"/>
            <a:ext cx="146304" cy="146304"/>
          </a:xfrm>
          <a:prstGeom prst="ellipse">
            <a:avLst/>
          </a:prstGeom>
          <a:solidFill>
            <a:srgbClr val="FFC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2874752" y="2990088"/>
            <a:ext cx="365760" cy="18288"/>
          </a:xfrm>
          <a:prstGeom prst="rect">
            <a:avLst/>
          </a:prstGeom>
          <a:solidFill>
            <a:srgbClr val="FFC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258800" y="2926080"/>
            <a:ext cx="146304" cy="146304"/>
          </a:xfrm>
          <a:prstGeom prst="ellipse">
            <a:avLst/>
          </a:prstGeom>
          <a:solidFill>
            <a:srgbClr val="FFC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3331952" y="2990088"/>
            <a:ext cx="365760" cy="18288"/>
          </a:xfrm>
          <a:prstGeom prst="rect">
            <a:avLst/>
          </a:prstGeom>
          <a:solidFill>
            <a:srgbClr val="FFC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716000" y="2926080"/>
            <a:ext cx="146304" cy="146304"/>
          </a:xfrm>
          <a:prstGeom prst="ellipse">
            <a:avLst/>
          </a:prstGeom>
          <a:solidFill>
            <a:srgbClr val="FFC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3789152" y="2990088"/>
            <a:ext cx="365760" cy="18288"/>
          </a:xfrm>
          <a:prstGeom prst="rect">
            <a:avLst/>
          </a:prstGeom>
          <a:solidFill>
            <a:srgbClr val="FFC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4173200" y="2926080"/>
            <a:ext cx="146304" cy="146304"/>
          </a:xfrm>
          <a:prstGeom prst="ellipse">
            <a:avLst/>
          </a:prstGeom>
          <a:solidFill>
            <a:srgbClr val="FFC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400" b="1">
                <a:solidFill>
                  <a:srgbClr val="FFC83C"/>
                </a:solidFill>
              </a:defRPr>
            </a:pPr>
            <a:r>
              <a:t>第四章：部署与运维实践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100">
                <a:solidFill>
                  <a:srgbClr val="FAF5DC"/>
                </a:solidFill>
              </a:defRPr>
            </a:pPr>
            <a:r>
              <a:t>基于Kubernetes的高可用部署方案，支持自动扩缩容、健康检查、蓝绿发布等运维能力，保障业务连续性。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365760" y="1828800"/>
          <a:ext cx="135331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3680"/>
                <a:gridCol w="1503680"/>
                <a:gridCol w="1503680"/>
                <a:gridCol w="1503680"/>
                <a:gridCol w="1503680"/>
                <a:gridCol w="1503680"/>
                <a:gridCol w="1503680"/>
                <a:gridCol w="1503680"/>
                <a:gridCol w="1503680"/>
              </a:tblGrid>
              <a:tr h="160020"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部署策略</a:t>
                      </a:r>
                    </a:p>
                  </a:txBody>
                  <a:tcPr>
                    <a:solidFill>
                      <a:srgbClr val="FFC8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业务价值</a:t>
                      </a:r>
                    </a:p>
                  </a:txBody>
                  <a:tcPr>
                    <a:solidFill>
                      <a:srgbClr val="FFC8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技术亮点</a:t>
                      </a:r>
                    </a:p>
                  </a:txBody>
                  <a:tcPr>
                    <a:solidFill>
                      <a:srgbClr val="FFC8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成功指标</a:t>
                      </a:r>
                    </a:p>
                  </a:txBody>
                  <a:tcPr>
                    <a:solidFill>
                      <a:srgbClr val="FFC8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适用场景</a:t>
                      </a:r>
                    </a:p>
                  </a:txBody>
                  <a:tcPr>
                    <a:solidFill>
                      <a:srgbClr val="FFC8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可用性</a:t>
                      </a:r>
                    </a:p>
                  </a:txBody>
                  <a:tcPr>
                    <a:solidFill>
                      <a:srgbClr val="FFC8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投资回报</a:t>
                      </a:r>
                    </a:p>
                  </a:txBody>
                  <a:tcPr>
                    <a:solidFill>
                      <a:srgbClr val="FFC8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技术架构</a:t>
                      </a:r>
                    </a:p>
                  </a:txBody>
                  <a:tcPr>
                    <a:solidFill>
                      <a:srgbClr val="FFC8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关键挑战</a:t>
                      </a:r>
                    </a:p>
                  </a:txBody>
                  <a:tcPr>
                    <a:solidFill>
                      <a:srgbClr val="FFC83C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多活部署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高业务可用性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K8s StatefulSet+DNS轮询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秒级故障转移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核心业务、高可用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24个月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多活K8s集群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数据一致性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自动扩缩容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资源利用率显著提升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HPA/VPA+KEDA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快速弹性响应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波动流量、弹性业务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弹性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12个月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K8s自动伸缩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冷启动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健康检查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故障自愈能力显著提升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Liveness/Readiness/Startup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快速故障恢复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微服务、高可用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6个月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K8s健康检查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探针配置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蓝绿发布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发布风险显著降低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Istio/Argo Rollouts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零停机升级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生产环境、频繁发布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零停机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Istio+Argo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流量切分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异地容灾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高灾难恢复能力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跨区域K8s集群+DRBD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快速恢复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金融系统、核心数据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极高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36个月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跨区集群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数据同步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边缘部署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边缘延迟显著降低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K3s/KubeEdge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快速响应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边缘计算、就近访问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低延迟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24个月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边缘K8s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边缘管理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金丝雀发布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发布风险显著降低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Argo Rollouts/Flagger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渐进式发布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核心服务、风险控制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渐进式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Argo+Prometheus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指标评估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Serverless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运维成本显著降低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KEDA+Knative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按需扩缩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非核心服务、突发流量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按需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12个月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KEDA+Knative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冷启动延迟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混合云部署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多云支持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Anthos/Azure Arc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多云统一管理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企业级、多云战略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多云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30个月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混合云管理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跨云网络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GitOps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部署效率显著提升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Argo CD/Flux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声明式配置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CI/CD、版本控制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GitOps工具链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配置漂移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服务网格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服务间通信效率显著提升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Istio/Linkerd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零信任网络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微服务架构、安全通信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服务网格架构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配置复杂度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自动化运维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运维效率显著提升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Ansible/Terraform+CI/CD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快速部署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DevOps、持续交付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12个月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自动化工具链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学习曲线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日志管理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问题定位效率显著提升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ELK/Grafana Loki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快速日志检索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运维监控、故障排查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日志平台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存储成本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指标监控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可观测性显著提升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Prometheus+Grafana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快速实时告警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性能监控、容量规划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极高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12个月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监控体系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告警风暴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分布式追踪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故障定位显著加快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Jaeger/Zipkin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快速全链路追踪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微服务、分布式系统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追踪系统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采样率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配置管理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配置变更效率显著提升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ConfigMap+Secret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快速热更新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配置管理、敏感数据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6个月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K8s配置管理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密钥轮换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存储编排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存储效率显著提升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CSI+LocalPV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数据持久化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有状态应用、数据库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24个月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存储架构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存储类型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网络策略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网络安全显著提升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NetworkPolicy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微分段隔离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多租户、安全边界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12个月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网络隔离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策略复杂度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自动化测试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测试覆盖率显著提升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Pytest+Selenium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高代码覆盖率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持续集成、质量保障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测试框架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测试数据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容量规划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资源利用率显著提升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Prometheus+VPA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高资源预测准确率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资源管理、成本优化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24个月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容量管理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预测准确性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安全扫描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漏洞发现显著加快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Trivy/Grype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快速镜像扫描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安全合规、CI/CD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12个月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安全工具链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误报处理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Agent部署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Agent部署效率显著提升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Agent镜像+自动编排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部署时间缩短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多Agent系统、自动化部署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12个月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Agent编排平台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版本兼容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Agent监控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Agent监控能力显著提升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分布式追踪+指标采集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快速故障发现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Agent集群、智能监控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极高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O11y+Agent监控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监控告警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457200" y="768096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900">
                <a:solidFill>
                  <a:srgbClr val="788CA0"/>
                </a:solidFill>
              </a:defRPr>
            </a:pPr>
            <a:r>
              <a:t>©2026个人学习笔记，非商用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Oval 2"/>
          <p:cNvSpPr/>
          <p:nvPr/>
        </p:nvSpPr>
        <p:spPr>
          <a:xfrm>
            <a:off x="9144000" y="-1828800"/>
            <a:ext cx="10972800" cy="9144000"/>
          </a:xfrm>
          <a:prstGeom prst="ellipse">
            <a:avLst/>
          </a:prstGeom>
          <a:solidFill>
            <a:srgbClr val="A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A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 rot="20700000">
            <a:off x="1371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学习笔记</a:t>
            </a:r>
          </a:p>
        </p:txBody>
      </p:sp>
      <p:sp>
        <p:nvSpPr>
          <p:cNvPr id="6" name="TextBox 5"/>
          <p:cNvSpPr txBox="1"/>
          <p:nvPr/>
        </p:nvSpPr>
        <p:spPr>
          <a:xfrm rot="20700000">
            <a:off x="1371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学习笔记</a:t>
            </a:r>
          </a:p>
        </p:txBody>
      </p:sp>
      <p:sp>
        <p:nvSpPr>
          <p:cNvPr id="7" name="TextBox 6"/>
          <p:cNvSpPr txBox="1"/>
          <p:nvPr/>
        </p:nvSpPr>
        <p:spPr>
          <a:xfrm rot="20700000">
            <a:off x="1371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学习笔记</a:t>
            </a:r>
          </a:p>
        </p:txBody>
      </p:sp>
      <p:sp>
        <p:nvSpPr>
          <p:cNvPr id="8" name="TextBox 7"/>
          <p:cNvSpPr txBox="1"/>
          <p:nvPr/>
        </p:nvSpPr>
        <p:spPr>
          <a:xfrm rot="20700000">
            <a:off x="1371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学习笔记</a:t>
            </a:r>
          </a:p>
        </p:txBody>
      </p:sp>
      <p:sp>
        <p:nvSpPr>
          <p:cNvPr id="9" name="TextBox 8"/>
          <p:cNvSpPr txBox="1"/>
          <p:nvPr/>
        </p:nvSpPr>
        <p:spPr>
          <a:xfrm rot="20700000">
            <a:off x="5943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学习笔记</a:t>
            </a:r>
          </a:p>
        </p:txBody>
      </p:sp>
      <p:sp>
        <p:nvSpPr>
          <p:cNvPr id="10" name="TextBox 9"/>
          <p:cNvSpPr txBox="1"/>
          <p:nvPr/>
        </p:nvSpPr>
        <p:spPr>
          <a:xfrm rot="20700000">
            <a:off x="5943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学习笔记</a:t>
            </a:r>
          </a:p>
        </p:txBody>
      </p:sp>
      <p:sp>
        <p:nvSpPr>
          <p:cNvPr id="11" name="TextBox 10"/>
          <p:cNvSpPr txBox="1"/>
          <p:nvPr/>
        </p:nvSpPr>
        <p:spPr>
          <a:xfrm rot="20700000">
            <a:off x="5943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学习笔记</a:t>
            </a:r>
          </a:p>
        </p:txBody>
      </p:sp>
      <p:sp>
        <p:nvSpPr>
          <p:cNvPr id="12" name="TextBox 11"/>
          <p:cNvSpPr txBox="1"/>
          <p:nvPr/>
        </p:nvSpPr>
        <p:spPr>
          <a:xfrm rot="20700000">
            <a:off x="5943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学习笔记</a:t>
            </a:r>
          </a:p>
        </p:txBody>
      </p:sp>
      <p:sp>
        <p:nvSpPr>
          <p:cNvPr id="13" name="TextBox 12"/>
          <p:cNvSpPr txBox="1"/>
          <p:nvPr/>
        </p:nvSpPr>
        <p:spPr>
          <a:xfrm rot="20700000">
            <a:off x="10515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学习笔记</a:t>
            </a:r>
          </a:p>
        </p:txBody>
      </p:sp>
      <p:sp>
        <p:nvSpPr>
          <p:cNvPr id="14" name="TextBox 13"/>
          <p:cNvSpPr txBox="1"/>
          <p:nvPr/>
        </p:nvSpPr>
        <p:spPr>
          <a:xfrm rot="20700000">
            <a:off x="10515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学习笔记</a:t>
            </a:r>
          </a:p>
        </p:txBody>
      </p:sp>
      <p:sp>
        <p:nvSpPr>
          <p:cNvPr id="15" name="TextBox 14"/>
          <p:cNvSpPr txBox="1"/>
          <p:nvPr/>
        </p:nvSpPr>
        <p:spPr>
          <a:xfrm rot="20700000">
            <a:off x="10515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学习笔记</a:t>
            </a:r>
          </a:p>
        </p:txBody>
      </p:sp>
      <p:sp>
        <p:nvSpPr>
          <p:cNvPr id="16" name="TextBox 15"/>
          <p:cNvSpPr txBox="1"/>
          <p:nvPr/>
        </p:nvSpPr>
        <p:spPr>
          <a:xfrm rot="20700000">
            <a:off x="10515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学习笔记</a:t>
            </a:r>
          </a:p>
        </p:txBody>
      </p:sp>
      <p:sp>
        <p:nvSpPr>
          <p:cNvPr id="17" name="Hexagon 16"/>
          <p:cNvSpPr/>
          <p:nvPr/>
        </p:nvSpPr>
        <p:spPr>
          <a:xfrm>
            <a:off x="12344400" y="274320"/>
            <a:ext cx="1645920" cy="1645920"/>
          </a:xfrm>
          <a:prstGeom prst="hexagon">
            <a:avLst/>
          </a:prstGeom>
          <a:solidFill>
            <a:srgbClr val="A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exagon 17"/>
          <p:cNvSpPr/>
          <p:nvPr/>
        </p:nvSpPr>
        <p:spPr>
          <a:xfrm>
            <a:off x="12591288" y="521208"/>
            <a:ext cx="1152144" cy="1152144"/>
          </a:xfrm>
          <a:prstGeom prst="hexagon">
            <a:avLst/>
          </a:prstGeom>
          <a:solidFill>
            <a:srgbClr val="645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920472" y="850392"/>
            <a:ext cx="493776" cy="4937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2618720" y="2286000"/>
            <a:ext cx="457200" cy="457200"/>
          </a:xfrm>
          <a:prstGeom prst="ellipse">
            <a:avLst/>
          </a:prstGeom>
          <a:solidFill>
            <a:srgbClr val="A078FF"/>
          </a:solidFill>
          <a:ln w="19050">
            <a:solidFill>
              <a:srgbClr val="A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2710160" y="2377440"/>
            <a:ext cx="274320" cy="274320"/>
          </a:xfrm>
          <a:prstGeom prst="ellipse">
            <a:avLst/>
          </a:prstGeom>
          <a:solidFill>
            <a:srgbClr val="645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2778740" y="2446020"/>
            <a:ext cx="137160" cy="1371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344400" y="2926080"/>
            <a:ext cx="146304" cy="146304"/>
          </a:xfrm>
          <a:prstGeom prst="ellipse">
            <a:avLst/>
          </a:prstGeom>
          <a:solidFill>
            <a:srgbClr val="A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2417552" y="2990088"/>
            <a:ext cx="365760" cy="18288"/>
          </a:xfrm>
          <a:prstGeom prst="rect">
            <a:avLst/>
          </a:prstGeom>
          <a:solidFill>
            <a:srgbClr val="A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2801600" y="2926080"/>
            <a:ext cx="146304" cy="146304"/>
          </a:xfrm>
          <a:prstGeom prst="ellipse">
            <a:avLst/>
          </a:prstGeom>
          <a:solidFill>
            <a:srgbClr val="A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2874752" y="2990088"/>
            <a:ext cx="365760" cy="18288"/>
          </a:xfrm>
          <a:prstGeom prst="rect">
            <a:avLst/>
          </a:prstGeom>
          <a:solidFill>
            <a:srgbClr val="A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258800" y="2926080"/>
            <a:ext cx="146304" cy="146304"/>
          </a:xfrm>
          <a:prstGeom prst="ellipse">
            <a:avLst/>
          </a:prstGeom>
          <a:solidFill>
            <a:srgbClr val="A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3331952" y="2990088"/>
            <a:ext cx="365760" cy="18288"/>
          </a:xfrm>
          <a:prstGeom prst="rect">
            <a:avLst/>
          </a:prstGeom>
          <a:solidFill>
            <a:srgbClr val="A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716000" y="2926080"/>
            <a:ext cx="146304" cy="146304"/>
          </a:xfrm>
          <a:prstGeom prst="ellipse">
            <a:avLst/>
          </a:prstGeom>
          <a:solidFill>
            <a:srgbClr val="A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3789152" y="2990088"/>
            <a:ext cx="365760" cy="18288"/>
          </a:xfrm>
          <a:prstGeom prst="rect">
            <a:avLst/>
          </a:prstGeom>
          <a:solidFill>
            <a:srgbClr val="A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4173200" y="2926080"/>
            <a:ext cx="146304" cy="146304"/>
          </a:xfrm>
          <a:prstGeom prst="ellipse">
            <a:avLst/>
          </a:prstGeom>
          <a:solidFill>
            <a:srgbClr val="A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400" b="1">
                <a:solidFill>
                  <a:srgbClr val="A078FF"/>
                </a:solidFill>
              </a:defRPr>
            </a:pPr>
            <a:r>
              <a:t>第五章：性能优化策略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100">
                <a:solidFill>
                  <a:srgbClr val="DCEBFA"/>
                </a:solidFill>
              </a:defRPr>
            </a:pPr>
            <a:r>
              <a:t>通过网络优化、消息批量、缓存策略、并发处理等手段，实现系统性能的全方位提升。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365760" y="1828800"/>
          <a:ext cx="135331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3680"/>
                <a:gridCol w="1503680"/>
                <a:gridCol w="1503680"/>
                <a:gridCol w="1503680"/>
                <a:gridCol w="1503680"/>
                <a:gridCol w="1503680"/>
                <a:gridCol w="1503680"/>
                <a:gridCol w="1503680"/>
                <a:gridCol w="1503680"/>
              </a:tblGrid>
              <a:tr h="166977"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优化维度</a:t>
                      </a:r>
                    </a:p>
                  </a:txBody>
                  <a:tcPr>
                    <a:solidFill>
                      <a:srgbClr val="A07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业务价值</a:t>
                      </a:r>
                    </a:p>
                  </a:txBody>
                  <a:tcPr>
                    <a:solidFill>
                      <a:srgbClr val="A07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技术亮点</a:t>
                      </a:r>
                    </a:p>
                  </a:txBody>
                  <a:tcPr>
                    <a:solidFill>
                      <a:srgbClr val="A07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成功指标</a:t>
                      </a:r>
                    </a:p>
                  </a:txBody>
                  <a:tcPr>
                    <a:solidFill>
                      <a:srgbClr val="A07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适用场景</a:t>
                      </a:r>
                    </a:p>
                  </a:txBody>
                  <a:tcPr>
                    <a:solidFill>
                      <a:srgbClr val="A07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预期收益</a:t>
                      </a:r>
                    </a:p>
                  </a:txBody>
                  <a:tcPr>
                    <a:solidFill>
                      <a:srgbClr val="A07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投资回报</a:t>
                      </a:r>
                    </a:p>
                  </a:txBody>
                  <a:tcPr>
                    <a:solidFill>
                      <a:srgbClr val="A07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技术架构</a:t>
                      </a:r>
                    </a:p>
                  </a:txBody>
                  <a:tcPr>
                    <a:solidFill>
                      <a:srgbClr val="A07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关键挑战</a:t>
                      </a:r>
                    </a:p>
                  </a:txBody>
                  <a:tcPr>
                    <a:solidFill>
                      <a:srgbClr val="A078FF"/>
                    </a:solidFill>
                  </a:tcPr>
                </a:tc>
              </a:tr>
              <a:tr h="166977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网络优化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延迟显著降低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HTTP/2、gRPC、QUIC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RTT显著降低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低延迟通信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延迟降低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6个月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gRPC+QUIC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客户端兼容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6977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消息批量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吞吐量显著提升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批量聚合+背压控制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QPS显著提升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高吞吐量场景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QPS提升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12个月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Kafka+batching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消息顺序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6977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缓存策略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响应速度显著提升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Redis集群+多级缓存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P95延迟显著降低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读多写少场景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延迟降低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6个月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Redis+LocalCache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数据一致性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6977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并发处理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容量显著提升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异步队列+线程池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并发能力显著提升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高并发场景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并发提升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Vert.x/Netty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线程安全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6977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序列化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数据体积显著减少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Protobuf/FlatBuffers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序列化体积显著减少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数据传输、存储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体积减少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12个月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Protobuf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版本兼容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6977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CDN加速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边缘延迟显著降低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边缘缓存+预热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P95延迟显著降低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静态资源、全球用户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延迟降低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6个月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CDN+预热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缓存失效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6977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数据库优化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查询速度显著提升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读写分离+分库分表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查询延迟显著降低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大数据量场景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延迟降低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12个月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Sharding+读写分离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事务一致性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6977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代码优化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性能显著提升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算法改进+JIT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CPU使用率显著降低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计算密集场景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性能提升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24个月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Profiling+优化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回归风险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6977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资源调度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资源利用率显著提升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K8s QoS+资源预留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资源利用率显著提升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容器集群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利用率提升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K8s调度优化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Pod驱逐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6977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连接池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连接效率显著提升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HikariCP/OkHttp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连接复用率显著提升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高连接场景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复用率提升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3个月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连接池优化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连接泄漏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6977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内存优化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内存使用显著降低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对象池+GC调优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内存占用显著降低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内存敏感场景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内存降低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12个月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内存管理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GC停顿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6977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异步IO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IO效率显著提升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Reactor/CompletableFuture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吞吐量显著提升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IO密集场景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吞吐量提升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异步框架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复杂度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6977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Agent优化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Agent性能显著提升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Agent缓存+预加载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响应时间显著降低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多Agent系统、智能协作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12个月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Agent性能优化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缓存一致性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6977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AI推理优化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推理速度显著提升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模型量化+TensorRT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推理延迟显著降低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AI应用、边缘部署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AI推理引擎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精度损失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6977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索引优化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查询速度显著提升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B+树/倒排索引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查询时间显著降低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大数据查询、全文搜索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查询提升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6个月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索引引擎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索引维护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6977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负载均衡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流量分配显著优化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Nginx/LVS/云LB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请求均匀分布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高并发、多节点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均匀分布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6个月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LB集群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会话保持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6977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预热机制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首次响应显著加快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缓存预热+预加载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冷启动延迟显著降低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系统启动、热点数据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延迟降低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3个月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预热服务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资源占用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6977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熔断降级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故障隔离高防护级别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Resilience4j/Hystrix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故障影响范围控制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微服务、高可用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故障隔离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6个月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熔断框架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阈值配置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6977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读写优化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数据库压力显著降低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读写分离+主从复制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主库压力显著降低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高并发读写、大数据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压力降低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12个月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主从架构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数据同步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6977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边缘计算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边缘延迟显著降低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K3s/KubeEdge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快速响应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边缘场景、IoT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延迟降低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24个月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边缘架构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边缘管理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6977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GPU加速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计算性能显著提升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CUDA/TensorRT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AI推理加速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AI训练、推理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性能提升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GPU集群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成本投入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6986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压缩优化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传输效率显著提升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GZIP/Brotli/Snappy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传输体积显著减少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网络传输、存储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体积减少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3个月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压缩服务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CPU开销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457200" y="768096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900">
                <a:solidFill>
                  <a:srgbClr val="788CA0"/>
                </a:solidFill>
              </a:defRPr>
            </a:pPr>
            <a:r>
              <a:t>©2026个人学习笔记，非商用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Oval 2"/>
          <p:cNvSpPr/>
          <p:nvPr/>
        </p:nvSpPr>
        <p:spPr>
          <a:xfrm>
            <a:off x="9144000" y="-1828800"/>
            <a:ext cx="10972800" cy="9144000"/>
          </a:xfrm>
          <a:prstGeom prst="ellipse">
            <a:avLst/>
          </a:prstGeom>
          <a:solidFill>
            <a:srgbClr val="FF7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FF7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 rot="20700000">
            <a:off x="1371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学习笔记</a:t>
            </a:r>
          </a:p>
        </p:txBody>
      </p:sp>
      <p:sp>
        <p:nvSpPr>
          <p:cNvPr id="6" name="TextBox 5"/>
          <p:cNvSpPr txBox="1"/>
          <p:nvPr/>
        </p:nvSpPr>
        <p:spPr>
          <a:xfrm rot="20700000">
            <a:off x="1371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学习笔记</a:t>
            </a:r>
          </a:p>
        </p:txBody>
      </p:sp>
      <p:sp>
        <p:nvSpPr>
          <p:cNvPr id="7" name="TextBox 6"/>
          <p:cNvSpPr txBox="1"/>
          <p:nvPr/>
        </p:nvSpPr>
        <p:spPr>
          <a:xfrm rot="20700000">
            <a:off x="1371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学习笔记</a:t>
            </a:r>
          </a:p>
        </p:txBody>
      </p:sp>
      <p:sp>
        <p:nvSpPr>
          <p:cNvPr id="8" name="TextBox 7"/>
          <p:cNvSpPr txBox="1"/>
          <p:nvPr/>
        </p:nvSpPr>
        <p:spPr>
          <a:xfrm rot="20700000">
            <a:off x="1371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学习笔记</a:t>
            </a:r>
          </a:p>
        </p:txBody>
      </p:sp>
      <p:sp>
        <p:nvSpPr>
          <p:cNvPr id="9" name="TextBox 8"/>
          <p:cNvSpPr txBox="1"/>
          <p:nvPr/>
        </p:nvSpPr>
        <p:spPr>
          <a:xfrm rot="20700000">
            <a:off x="5943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学习笔记</a:t>
            </a:r>
          </a:p>
        </p:txBody>
      </p:sp>
      <p:sp>
        <p:nvSpPr>
          <p:cNvPr id="10" name="TextBox 9"/>
          <p:cNvSpPr txBox="1"/>
          <p:nvPr/>
        </p:nvSpPr>
        <p:spPr>
          <a:xfrm rot="20700000">
            <a:off x="5943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学习笔记</a:t>
            </a:r>
          </a:p>
        </p:txBody>
      </p:sp>
      <p:sp>
        <p:nvSpPr>
          <p:cNvPr id="11" name="TextBox 10"/>
          <p:cNvSpPr txBox="1"/>
          <p:nvPr/>
        </p:nvSpPr>
        <p:spPr>
          <a:xfrm rot="20700000">
            <a:off x="5943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学习笔记</a:t>
            </a:r>
          </a:p>
        </p:txBody>
      </p:sp>
      <p:sp>
        <p:nvSpPr>
          <p:cNvPr id="12" name="TextBox 11"/>
          <p:cNvSpPr txBox="1"/>
          <p:nvPr/>
        </p:nvSpPr>
        <p:spPr>
          <a:xfrm rot="20700000">
            <a:off x="5943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学习笔记</a:t>
            </a:r>
          </a:p>
        </p:txBody>
      </p:sp>
      <p:sp>
        <p:nvSpPr>
          <p:cNvPr id="13" name="TextBox 12"/>
          <p:cNvSpPr txBox="1"/>
          <p:nvPr/>
        </p:nvSpPr>
        <p:spPr>
          <a:xfrm rot="20700000">
            <a:off x="10515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学习笔记</a:t>
            </a:r>
          </a:p>
        </p:txBody>
      </p:sp>
      <p:sp>
        <p:nvSpPr>
          <p:cNvPr id="14" name="TextBox 13"/>
          <p:cNvSpPr txBox="1"/>
          <p:nvPr/>
        </p:nvSpPr>
        <p:spPr>
          <a:xfrm rot="20700000">
            <a:off x="10515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学习笔记</a:t>
            </a:r>
          </a:p>
        </p:txBody>
      </p:sp>
      <p:sp>
        <p:nvSpPr>
          <p:cNvPr id="15" name="TextBox 14"/>
          <p:cNvSpPr txBox="1"/>
          <p:nvPr/>
        </p:nvSpPr>
        <p:spPr>
          <a:xfrm rot="20700000">
            <a:off x="10515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学习笔记</a:t>
            </a:r>
          </a:p>
        </p:txBody>
      </p:sp>
      <p:sp>
        <p:nvSpPr>
          <p:cNvPr id="16" name="TextBox 15"/>
          <p:cNvSpPr txBox="1"/>
          <p:nvPr/>
        </p:nvSpPr>
        <p:spPr>
          <a:xfrm rot="20700000">
            <a:off x="10515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学习笔记</a:t>
            </a:r>
          </a:p>
        </p:txBody>
      </p:sp>
      <p:sp>
        <p:nvSpPr>
          <p:cNvPr id="17" name="Hexagon 16"/>
          <p:cNvSpPr/>
          <p:nvPr/>
        </p:nvSpPr>
        <p:spPr>
          <a:xfrm>
            <a:off x="12344400" y="274320"/>
            <a:ext cx="1645920" cy="1645920"/>
          </a:xfrm>
          <a:prstGeom prst="hexagon">
            <a:avLst/>
          </a:prstGeom>
          <a:solidFill>
            <a:srgbClr val="FF7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exagon 17"/>
          <p:cNvSpPr/>
          <p:nvPr/>
        </p:nvSpPr>
        <p:spPr>
          <a:xfrm>
            <a:off x="12591288" y="521208"/>
            <a:ext cx="1152144" cy="1152144"/>
          </a:xfrm>
          <a:prstGeom prst="hexagon">
            <a:avLst/>
          </a:prstGeom>
          <a:solidFill>
            <a:srgbClr val="B45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920472" y="850392"/>
            <a:ext cx="493776" cy="4937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2618720" y="2286000"/>
            <a:ext cx="457200" cy="457200"/>
          </a:xfrm>
          <a:prstGeom prst="ellipse">
            <a:avLst/>
          </a:prstGeom>
          <a:solidFill>
            <a:srgbClr val="FF78A0"/>
          </a:solidFill>
          <a:ln w="19050">
            <a:solidFill>
              <a:srgbClr val="FF7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2710160" y="2377440"/>
            <a:ext cx="274320" cy="274320"/>
          </a:xfrm>
          <a:prstGeom prst="ellipse">
            <a:avLst/>
          </a:prstGeom>
          <a:solidFill>
            <a:srgbClr val="B45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2778740" y="2446020"/>
            <a:ext cx="137160" cy="1371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344400" y="2926080"/>
            <a:ext cx="146304" cy="146304"/>
          </a:xfrm>
          <a:prstGeom prst="ellipse">
            <a:avLst/>
          </a:prstGeom>
          <a:solidFill>
            <a:srgbClr val="FF7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2417552" y="2990088"/>
            <a:ext cx="365760" cy="18288"/>
          </a:xfrm>
          <a:prstGeom prst="rect">
            <a:avLst/>
          </a:prstGeom>
          <a:solidFill>
            <a:srgbClr val="FF7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2801600" y="2926080"/>
            <a:ext cx="146304" cy="146304"/>
          </a:xfrm>
          <a:prstGeom prst="ellipse">
            <a:avLst/>
          </a:prstGeom>
          <a:solidFill>
            <a:srgbClr val="FF7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2874752" y="2990088"/>
            <a:ext cx="365760" cy="18288"/>
          </a:xfrm>
          <a:prstGeom prst="rect">
            <a:avLst/>
          </a:prstGeom>
          <a:solidFill>
            <a:srgbClr val="FF7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258800" y="2926080"/>
            <a:ext cx="146304" cy="146304"/>
          </a:xfrm>
          <a:prstGeom prst="ellipse">
            <a:avLst/>
          </a:prstGeom>
          <a:solidFill>
            <a:srgbClr val="FF7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3331952" y="2990088"/>
            <a:ext cx="365760" cy="18288"/>
          </a:xfrm>
          <a:prstGeom prst="rect">
            <a:avLst/>
          </a:prstGeom>
          <a:solidFill>
            <a:srgbClr val="FF7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716000" y="2926080"/>
            <a:ext cx="146304" cy="146304"/>
          </a:xfrm>
          <a:prstGeom prst="ellipse">
            <a:avLst/>
          </a:prstGeom>
          <a:solidFill>
            <a:srgbClr val="FF7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3789152" y="2990088"/>
            <a:ext cx="365760" cy="18288"/>
          </a:xfrm>
          <a:prstGeom prst="rect">
            <a:avLst/>
          </a:prstGeom>
          <a:solidFill>
            <a:srgbClr val="FF7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4173200" y="2926080"/>
            <a:ext cx="146304" cy="146304"/>
          </a:xfrm>
          <a:prstGeom prst="ellipse">
            <a:avLst/>
          </a:prstGeom>
          <a:solidFill>
            <a:srgbClr val="FF7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400" b="1">
                <a:solidFill>
                  <a:srgbClr val="FF78A0"/>
                </a:solidFill>
              </a:defRPr>
            </a:pPr>
            <a:r>
              <a:t>第六章：实战案例与最佳实践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100">
                <a:solidFill>
                  <a:srgbClr val="FAEBDC"/>
                </a:solidFill>
              </a:defRPr>
            </a:pPr>
            <a:r>
              <a:t>通过供应链管理、金融风控、智能办公、医疗诊断等真实案例，验证A2A协议的业务价值和技术可行性。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365760" y="1828800"/>
          <a:ext cx="135331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3680"/>
                <a:gridCol w="1503680"/>
                <a:gridCol w="1503680"/>
                <a:gridCol w="1503680"/>
                <a:gridCol w="1503680"/>
                <a:gridCol w="1503680"/>
                <a:gridCol w="1503680"/>
                <a:gridCol w="1503680"/>
                <a:gridCol w="150368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案例场景</a:t>
                      </a:r>
                    </a:p>
                  </a:txBody>
                  <a:tcPr>
                    <a:solidFill>
                      <a:srgbClr val="FF78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业务价值</a:t>
                      </a:r>
                    </a:p>
                  </a:txBody>
                  <a:tcPr>
                    <a:solidFill>
                      <a:srgbClr val="FF78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技术亮点</a:t>
                      </a:r>
                    </a:p>
                  </a:txBody>
                  <a:tcPr>
                    <a:solidFill>
                      <a:srgbClr val="FF78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成功指标</a:t>
                      </a:r>
                    </a:p>
                  </a:txBody>
                  <a:tcPr>
                    <a:solidFill>
                      <a:srgbClr val="FF78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行业领域</a:t>
                      </a:r>
                    </a:p>
                  </a:txBody>
                  <a:tcPr>
                    <a:solidFill>
                      <a:srgbClr val="FF78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规模</a:t>
                      </a:r>
                    </a:p>
                  </a:txBody>
                  <a:tcPr>
                    <a:solidFill>
                      <a:srgbClr val="FF78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投资回报</a:t>
                      </a:r>
                    </a:p>
                  </a:txBody>
                  <a:tcPr>
                    <a:solidFill>
                      <a:srgbClr val="FF78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技术架构</a:t>
                      </a:r>
                    </a:p>
                  </a:txBody>
                  <a:tcPr>
                    <a:solidFill>
                      <a:srgbClr val="FF78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关键挑战</a:t>
                      </a:r>
                    </a:p>
                  </a:txBody>
                  <a:tcPr>
                    <a:solidFill>
                      <a:srgbClr val="FF78A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供应链管理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效率显著提升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多Agent协作+智能调度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交付周期明显缩短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制造业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大型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A2A+IoT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数据孤岛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金融风控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风险显著降低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实时决策引擎+知识图谱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准确率明显提升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金融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中型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24个月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A2A+ML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合规要求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智能办公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生产力显著提升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自动化流程+RPA集成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成本明显节约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企业服务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中型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12个月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A2A+低代码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系统集成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医疗诊断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准确率有所提升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专业知识整合+推理引擎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误诊率有所下降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医疗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大型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36个月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A2A+NLP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数据隐私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智能客服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满意度有所提升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多轮对话+情感分析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响应时间明显缩短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电商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大型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A2A+LLM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上下文理解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智能运维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故障发现明显加快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预测性维护+异常检测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MTTR明显降低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运维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中型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24个月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A2A+监控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告警风暴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智能推荐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转化率有所提升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个性化算法+实时特征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用户留存有所提升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互联网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大型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A2A+推荐系统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冷启动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智能教育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学习效率有所提升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自适应学习+知识追踪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成绩有所提升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教育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中型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36个月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A2A+教育AI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学习路径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智能制造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良率有所提升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数字孪生+质量检测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成本有所降低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制造业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大型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30个月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A2A+IoT+CV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设备互联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智慧城市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能耗有所降低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多系统协同+预测优化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效率有所提升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政府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大型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48个月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A2A+城市平台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数据整合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Agent协作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协作效率显著提升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多Agent协同+任务分配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任务完成率明显提高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多Agent系统、智能协作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大型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A2A协作平台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协调一致性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Agent生态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生态价值显著提升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Agent平台+开发者社区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生态规模明显扩大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平台生态、合作伙伴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大型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30个月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开放Agent平台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生态治理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Agent创新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创新效率显著提升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AI Agent+新技术融合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创新周期明显缩短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AI创新、前沿探索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中型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24个月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Agent创新实验室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技术风险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914400" y="713232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900">
                <a:solidFill>
                  <a:srgbClr val="788CA0"/>
                </a:solidFill>
              </a:defRPr>
            </a:pPr>
            <a:r>
              <a:t>本内容为学习示例，不构成专业建议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768096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900">
                <a:solidFill>
                  <a:srgbClr val="788CA0"/>
                </a:solidFill>
              </a:defRPr>
            </a:pPr>
            <a:r>
              <a:t>©2026个人学习笔记，非商用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200" b="1">
                <a:solidFill>
                  <a:srgbClr val="00C8FF"/>
                </a:solidFill>
              </a:defRPr>
            </a:pPr>
            <a:r>
              <a:t>相关实践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200">
                <a:solidFill>
                  <a:srgbClr val="96AABE"/>
                </a:solidFill>
              </a:defRPr>
            </a:pPr>
            <a:r>
              <a:t>以下是基于本学习内容的实际项目实践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1887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 b="1">
                <a:solidFill>
                  <a:srgbClr val="00C8FF"/>
                </a:solidFill>
              </a:defRPr>
            </a:pPr>
            <a:r>
              <a:t>1. 基于RAG的6个领域问答系统</a:t>
            </a:r>
          </a:p>
          <a:p>
            <a:pPr>
              <a:defRPr sz="1200">
                <a:solidFill>
                  <a:srgbClr val="DCE6F0"/>
                </a:solidFill>
              </a:defRPr>
            </a:pPr>
            <a:r>
              <a:t>   - 通用RAG智能问答系统</a:t>
            </a:r>
          </a:p>
          <a:p>
            <a:pPr>
              <a:defRPr sz="1200">
                <a:solidFill>
                  <a:srgbClr val="DCE6F0"/>
                </a:solidFill>
              </a:defRPr>
            </a:pPr>
            <a:r>
              <a:t>   - 法律知识问答系统</a:t>
            </a:r>
          </a:p>
          <a:p>
            <a:pPr>
              <a:defRPr sz="1200">
                <a:solidFill>
                  <a:srgbClr val="DCE6F0"/>
                </a:solidFill>
              </a:defRPr>
            </a:pPr>
            <a:r>
              <a:t>   - 教育学习问答系统</a:t>
            </a:r>
          </a:p>
          <a:p>
            <a:pPr>
              <a:defRPr sz="1200">
                <a:solidFill>
                  <a:srgbClr val="DCE6F0"/>
                </a:solidFill>
              </a:defRPr>
            </a:pPr>
            <a:r>
              <a:t>   - 医疗健康问答系统</a:t>
            </a:r>
          </a:p>
          <a:p>
            <a:pPr>
              <a:defRPr sz="1200">
                <a:solidFill>
                  <a:srgbClr val="DCE6F0"/>
                </a:solidFill>
              </a:defRPr>
            </a:pPr>
            <a:r>
              <a:t>   - 金融投资问答系统</a:t>
            </a:r>
          </a:p>
          <a:p>
            <a:pPr>
              <a:defRPr sz="1200">
                <a:solidFill>
                  <a:srgbClr val="DCE6F0"/>
                </a:solidFill>
              </a:defRPr>
            </a:pPr>
            <a:r>
              <a:t>   - IT技术问答系统</a:t>
            </a:r>
          </a:p>
          <a:p>
            <a:pPr>
              <a:defRPr sz="1200">
                <a:solidFill>
                  <a:srgbClr val="DCE6F0"/>
                </a:solidFill>
              </a:defRPr>
            </a:pPr>
          </a:p>
          <a:p>
            <a:pPr>
              <a:defRPr sz="1200" b="1">
                <a:solidFill>
                  <a:srgbClr val="00C8FF"/>
                </a:solidFill>
              </a:defRPr>
            </a:pPr>
            <a:r>
              <a:t>2. GitHub仓库地址</a:t>
            </a:r>
          </a:p>
          <a:p>
            <a:pPr>
              <a:defRPr sz="1200">
                <a:solidFill>
                  <a:srgbClr val="DCE6F0"/>
                </a:solidFill>
              </a:defRPr>
            </a:pPr>
            <a:r>
              <a:t>   https://github.com/Hxdmou/legal-rag-qa-system</a:t>
            </a:r>
          </a:p>
          <a:p>
            <a:pPr>
              <a:defRPr sz="1200">
                <a:solidFill>
                  <a:srgbClr val="DCE6F0"/>
                </a:solidFill>
              </a:defRPr>
            </a:pPr>
          </a:p>
          <a:p>
            <a:pPr>
              <a:defRPr sz="1200" b="1">
                <a:solidFill>
                  <a:srgbClr val="00C8FF"/>
                </a:solidFill>
              </a:defRPr>
            </a:pPr>
            <a:r>
              <a:t>3. 知乎文章链接</a:t>
            </a:r>
          </a:p>
          <a:p>
            <a:pPr>
              <a:defRPr sz="1200">
                <a:solidFill>
                  <a:srgbClr val="DCE6F0"/>
                </a:solidFill>
              </a:defRPr>
            </a:pPr>
            <a:r>
              <a:t>   搜索：我是如何用RAG做出6个领域的知识问答系统的</a:t>
            </a:r>
          </a:p>
          <a:p>
            <a:pPr>
              <a:defRPr sz="1200">
                <a:solidFill>
                  <a:srgbClr val="DCE6F0"/>
                </a:solidFill>
              </a:defRPr>
            </a:pPr>
          </a:p>
          <a:p>
            <a:pPr>
              <a:defRPr sz="1200" b="1">
                <a:solidFill>
                  <a:srgbClr val="00C8FF"/>
                </a:solidFill>
              </a:defRPr>
            </a:pPr>
            <a:r>
              <a:t>4. 学习笔记</a:t>
            </a:r>
          </a:p>
          <a:p>
            <a:pPr>
              <a:defRPr sz="1200">
                <a:solidFill>
                  <a:srgbClr val="DCE6F0"/>
                </a:solidFill>
              </a:defRPr>
            </a:pPr>
            <a:r>
              <a:t>   docs/learning-notes/ 目录包含详细的技术学习笔记</a:t>
            </a:r>
          </a:p>
          <a:p>
            <a:pPr>
              <a:defRPr sz="1200">
                <a:solidFill>
                  <a:srgbClr val="DCE6F0"/>
                </a:solidFill>
              </a:defRPr>
            </a:pPr>
          </a:p>
          <a:p>
            <a:pPr>
              <a:defRPr sz="1200" b="1">
                <a:solidFill>
                  <a:srgbClr val="00C8FF"/>
                </a:solidFill>
              </a:defRPr>
            </a:pPr>
            <a:r>
              <a:t>5. 联系方式</a:t>
            </a:r>
          </a:p>
          <a:p>
            <a:pPr>
              <a:defRPr sz="1200">
                <a:solidFill>
                  <a:srgbClr val="DCE6F0"/>
                </a:solidFill>
              </a:defRPr>
            </a:pPr>
            <a:r>
              <a:t>   - GitHub: https://github.com/Hxdmou</a:t>
            </a:r>
          </a:p>
          <a:p>
            <a:pPr>
              <a:defRPr sz="1200">
                <a:solidFill>
                  <a:srgbClr val="DCE6F0"/>
                </a:solidFill>
              </a:defRPr>
            </a:pPr>
            <a:r>
              <a:t>   - 商务邮箱: business@rag-qa-system.com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319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 b="1">
                <a:solidFill>
                  <a:srgbClr val="C8DCF0"/>
                </a:solidFill>
              </a:defRPr>
            </a:pPr>
            <a:r>
              <a:t>来源声明：</a:t>
            </a:r>
          </a:p>
          <a:p>
            <a:pPr>
              <a:defRPr sz="1100">
                <a:solidFill>
                  <a:srgbClr val="C8DCF0"/>
                </a:solidFill>
              </a:defRPr>
            </a:pPr>
            <a:r>
              <a:t>  - 部分概念图来源于网络，仅用于学习交流</a:t>
            </a:r>
          </a:p>
          <a:p>
            <a:pPr>
              <a:defRPr sz="1100">
                <a:solidFill>
                  <a:srgbClr val="C8DCF0"/>
                </a:solidFill>
              </a:defRPr>
            </a:pPr>
            <a:r>
              <a:t>  - 如涉及侵权，请联系删除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6634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1">
                <a:solidFill>
                  <a:srgbClr val="FFC864"/>
                </a:solidFill>
              </a:defRPr>
            </a:pPr>
            <a:r>
              <a:t>免责声明：</a:t>
            </a:r>
          </a:p>
          <a:p>
            <a:pPr>
              <a:defRPr sz="1200">
                <a:solidFill>
                  <a:srgbClr val="FFC864"/>
                </a:solidFill>
              </a:defRPr>
            </a:pPr>
            <a:r>
              <a:t>  - 本内容仅供学习参考，不构成医疗、金融、法律等专业建议</a:t>
            </a:r>
          </a:p>
          <a:p>
            <a:pPr>
              <a:defRPr sz="1200">
                <a:solidFill>
                  <a:srgbClr val="FFC864"/>
                </a:solidFill>
              </a:defRPr>
            </a:pPr>
            <a:r>
              <a:t>  - 医疗健康、金融投资等领域的决策，请咨询专业人士</a:t>
            </a:r>
          </a:p>
          <a:p>
            <a:pPr>
              <a:defRPr sz="1200">
                <a:solidFill>
                  <a:srgbClr val="FFC864"/>
                </a:solidFill>
              </a:defRPr>
            </a:pPr>
            <a:r>
              <a:t>  - 所有数据为学习示例，实际效果因场景而异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68096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900">
                <a:solidFill>
                  <a:srgbClr val="788CA0"/>
                </a:solidFill>
              </a:defRPr>
            </a:pPr>
            <a:r>
              <a:t>©2026个人学习笔记，非商用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200" b="1">
                <a:solidFill>
                  <a:srgbClr val="00C8FF"/>
                </a:solidFill>
              </a:defRPr>
            </a:pPr>
            <a:r>
              <a:t>使用说明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DCE6F0"/>
                </a:solidFill>
              </a:defRPr>
            </a:pPr>
            <a:r>
              <a:t>本PPT为个人学习整理，部分概念图来自网络，不构成商业建议。</a:t>
            </a:r>
          </a:p>
          <a:p>
            <a:pPr>
              <a:defRPr sz="1400">
                <a:solidFill>
                  <a:srgbClr val="DCE6F0"/>
                </a:solidFill>
              </a:defRPr>
            </a:pPr>
          </a:p>
          <a:p>
            <a:pPr>
              <a:defRPr sz="1400">
                <a:solidFill>
                  <a:srgbClr val="DCE6F0"/>
                </a:solidFill>
              </a:defRPr>
            </a:pPr>
            <a:r>
              <a:t>完整实践案例请参考GitHub仓库：</a:t>
            </a:r>
          </a:p>
          <a:p>
            <a:pPr>
              <a:defRPr sz="1400">
                <a:solidFill>
                  <a:srgbClr val="DCE6F0"/>
                </a:solidFill>
              </a:defRPr>
            </a:pPr>
            <a:r>
              <a:t>https://github.com/Hxdmou/legal-rag-qa-system</a:t>
            </a:r>
          </a:p>
          <a:p>
            <a:pPr>
              <a:defRPr sz="1400">
                <a:solidFill>
                  <a:srgbClr val="DCE6F0"/>
                </a:solidFill>
              </a:defRPr>
            </a:pPr>
          </a:p>
          <a:p>
            <a:pPr>
              <a:defRPr sz="1400" b="1">
                <a:solidFill>
                  <a:srgbClr val="FFC864"/>
                </a:solidFill>
              </a:defRPr>
            </a:pPr>
            <a:r>
              <a:t>免责声明：</a:t>
            </a:r>
          </a:p>
          <a:p>
            <a:pPr>
              <a:defRPr sz="1400">
                <a:solidFill>
                  <a:srgbClr val="FFC864"/>
                </a:solidFill>
              </a:defRPr>
            </a:pPr>
            <a:r>
              <a:t>- 本内容仅供学习参考，不构成医疗、金融、法律等专业建议</a:t>
            </a:r>
          </a:p>
          <a:p>
            <a:pPr>
              <a:defRPr sz="1400">
                <a:solidFill>
                  <a:srgbClr val="FFC864"/>
                </a:solidFill>
              </a:defRPr>
            </a:pPr>
            <a:r>
              <a:t>- 医疗健康、金融投资等领域的决策，请咨询专业人士</a:t>
            </a:r>
          </a:p>
          <a:p>
            <a:pPr>
              <a:defRPr sz="1400">
                <a:solidFill>
                  <a:srgbClr val="FFC864"/>
                </a:solidFill>
              </a:defRPr>
            </a:pPr>
            <a:r>
              <a:t>- 所有数据为学习示例，实际效果因场景而异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68096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900">
                <a:solidFill>
                  <a:srgbClr val="788CA0"/>
                </a:solidFill>
              </a:defRPr>
            </a:pPr>
            <a:r>
              <a:t>©2026个人学习笔记，非商用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Oval 2"/>
          <p:cNvSpPr/>
          <p:nvPr/>
        </p:nvSpPr>
        <p:spPr>
          <a:xfrm>
            <a:off x="3657600" y="-1828800"/>
            <a:ext cx="12801600" cy="10972800"/>
          </a:xfrm>
          <a:prstGeom prst="ellipse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xagon 3"/>
          <p:cNvSpPr/>
          <p:nvPr/>
        </p:nvSpPr>
        <p:spPr>
          <a:xfrm>
            <a:off x="914400" y="914400"/>
            <a:ext cx="1097280" cy="1097280"/>
          </a:xfrm>
          <a:prstGeom prst="hexagon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xagon 4"/>
          <p:cNvSpPr/>
          <p:nvPr/>
        </p:nvSpPr>
        <p:spPr>
          <a:xfrm>
            <a:off x="1078992" y="1078992"/>
            <a:ext cx="768096" cy="768096"/>
          </a:xfrm>
          <a:prstGeom prst="hexagon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98448" y="1298448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4114800" y="1645920"/>
            <a:ext cx="1097280" cy="1097280"/>
          </a:xfrm>
          <a:prstGeom prst="hexagon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exagon 7"/>
          <p:cNvSpPr/>
          <p:nvPr/>
        </p:nvSpPr>
        <p:spPr>
          <a:xfrm>
            <a:off x="4279392" y="1810512"/>
            <a:ext cx="768096" cy="768096"/>
          </a:xfrm>
          <a:prstGeom prst="hexagon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98848" y="2029968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exagon 9"/>
          <p:cNvSpPr/>
          <p:nvPr/>
        </p:nvSpPr>
        <p:spPr>
          <a:xfrm>
            <a:off x="7315200" y="914400"/>
            <a:ext cx="1097280" cy="1097280"/>
          </a:xfrm>
          <a:prstGeom prst="hexagon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xagon 10"/>
          <p:cNvSpPr/>
          <p:nvPr/>
        </p:nvSpPr>
        <p:spPr>
          <a:xfrm>
            <a:off x="7479792" y="1078992"/>
            <a:ext cx="768096" cy="768096"/>
          </a:xfrm>
          <a:prstGeom prst="hexagon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9248" y="1298448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Hexagon 12"/>
          <p:cNvSpPr/>
          <p:nvPr/>
        </p:nvSpPr>
        <p:spPr>
          <a:xfrm>
            <a:off x="10515600" y="1645920"/>
            <a:ext cx="1097280" cy="1097280"/>
          </a:xfrm>
          <a:prstGeom prst="hexagon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exagon 13"/>
          <p:cNvSpPr/>
          <p:nvPr/>
        </p:nvSpPr>
        <p:spPr>
          <a:xfrm>
            <a:off x="10680192" y="1810512"/>
            <a:ext cx="768096" cy="768096"/>
          </a:xfrm>
          <a:prstGeom prst="hexagon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899648" y="2029968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4572000"/>
            <a:ext cx="548640" cy="548640"/>
          </a:xfrm>
          <a:prstGeom prst="ellipse">
            <a:avLst/>
          </a:prstGeom>
          <a:solidFill>
            <a:srgbClr val="00B4FF"/>
          </a:solidFill>
          <a:ln w="1905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4681728"/>
            <a:ext cx="329184" cy="329184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9224" y="4764024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984480" y="4572000"/>
            <a:ext cx="548640" cy="548640"/>
          </a:xfrm>
          <a:prstGeom prst="ellipse">
            <a:avLst/>
          </a:prstGeom>
          <a:solidFill>
            <a:srgbClr val="00B4FF"/>
          </a:solidFill>
          <a:ln w="1905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3094208" y="4681728"/>
            <a:ext cx="329184" cy="329184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176504" y="4764024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0" y="32004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 algn="ctr">
              <a:defRPr sz="3200">
                <a:solidFill>
                  <a:srgbClr val="00C8FF"/>
                </a:solidFill>
              </a:defRPr>
            </a:pPr>
            <a:r>
              <a:t>谢谢观看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59436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400">
                <a:solidFill>
                  <a:srgbClr val="96AABE"/>
                </a:solidFill>
              </a:defRPr>
            </a:pPr>
            <a:r>
              <a:t>A2A协议与AI智能体学习笔记 |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768096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900">
                <a:solidFill>
                  <a:srgbClr val="788CA0"/>
                </a:solidFill>
              </a:defRPr>
            </a:pPr>
            <a:r>
              <a:t>©2026个人学习笔记，非商用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